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a527992cbc478c" /><Relationship Type="http://schemas.openxmlformats.org/officeDocument/2006/relationships/extended-properties" Target="/docProps/app.xml" Id="R904048dc9d554908" /><Relationship Type="http://schemas.openxmlformats.org/officeDocument/2006/relationships/officeDocument" Target="/ppt/presentation.xml" Id="R50877c0aaf8741f0" /></Relationships>
</file>

<file path=ppt/presentation.xml><?xml version="1.0" encoding="utf-8"?>
<p:presentation xmlns:p="http://schemas.openxmlformats.org/presentationml/2006/main">
  <p:sldMasterIdLst>
    <p:sldMasterId xmlns:r="http://schemas.openxmlformats.org/officeDocument/2006/relationships" id="2147483648" r:id="R45f21d987d4d4fa8"/>
  </p:sldMasterIdLst>
  <p:notesMasterIdLst>
    <p:notesMasterId xmlns:r="http://schemas.openxmlformats.org/officeDocument/2006/relationships" r:id="R336d7ed3a8f24397"/>
  </p:notesMasterIdLst>
  <p:sldIdLst>
    <p:sldId xmlns:r="http://schemas.openxmlformats.org/officeDocument/2006/relationships" id="256" r:id="R8448e487919949bd"/>
    <p:sldId xmlns:r="http://schemas.openxmlformats.org/officeDocument/2006/relationships" id="257" r:id="Rc2c3c9671be24e54"/>
    <p:sldId xmlns:r="http://schemas.openxmlformats.org/officeDocument/2006/relationships" id="258" r:id="Ra820e549f8514b38"/>
    <p:sldId xmlns:r="http://schemas.openxmlformats.org/officeDocument/2006/relationships" id="259" r:id="R2f9f0b0581b04f1b"/>
    <p:sldId xmlns:r="http://schemas.openxmlformats.org/officeDocument/2006/relationships" id="260" r:id="R604117805d774ba2"/>
    <p:sldId xmlns:r="http://schemas.openxmlformats.org/officeDocument/2006/relationships" id="261" r:id="R394e2d7504e94107"/>
    <p:sldId xmlns:r="http://schemas.openxmlformats.org/officeDocument/2006/relationships" id="262" r:id="R6bf1329f08644153"/>
    <p:sldId xmlns:r="http://schemas.openxmlformats.org/officeDocument/2006/relationships" id="263" r:id="Rb8b31521605b4d04"/>
    <p:sldId xmlns:r="http://schemas.openxmlformats.org/officeDocument/2006/relationships" id="264" r:id="Rb9ff319b377f4778"/>
    <p:sldId xmlns:r="http://schemas.openxmlformats.org/officeDocument/2006/relationships" id="265" r:id="R70408fd212004e85"/>
    <p:sldId xmlns:r="http://schemas.openxmlformats.org/officeDocument/2006/relationships" id="266" r:id="Rb55342c8b5fd4a15"/>
    <p:sldId xmlns:r="http://schemas.openxmlformats.org/officeDocument/2006/relationships" id="267" r:id="Rc6aaba4203d340a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0a0a5910c44819" /><Relationship Type="http://schemas.openxmlformats.org/officeDocument/2006/relationships/slideMaster" Target="/ppt/slideMasters/slideMaster1.xml" Id="R45f21d987d4d4fa8" /><Relationship Type="http://schemas.openxmlformats.org/officeDocument/2006/relationships/notesMaster" Target="/ppt/notesMasters/notesMaster1.xml" Id="R336d7ed3a8f24397" /><Relationship Type="http://schemas.openxmlformats.org/officeDocument/2006/relationships/presProps" Target="/ppt/presProps.xml" Id="Ra7835f01ea4d4d24" /><Relationship Type="http://schemas.openxmlformats.org/officeDocument/2006/relationships/tableStyles" Target="/ppt/tableStyles.xml" Id="R041b494b89894cc2" /><Relationship Type="http://schemas.openxmlformats.org/officeDocument/2006/relationships/slide" Target="/ppt/slides/slide1.xml" Id="R8448e487919949bd" /><Relationship Type="http://schemas.openxmlformats.org/officeDocument/2006/relationships/slide" Target="/ppt/slides/slide2.xml" Id="Rc2c3c9671be24e54" /><Relationship Type="http://schemas.openxmlformats.org/officeDocument/2006/relationships/slide" Target="/ppt/slides/slide3.xml" Id="Ra820e549f8514b38" /><Relationship Type="http://schemas.openxmlformats.org/officeDocument/2006/relationships/slide" Target="/ppt/slides/slide4.xml" Id="R2f9f0b0581b04f1b" /><Relationship Type="http://schemas.openxmlformats.org/officeDocument/2006/relationships/slide" Target="/ppt/slides/slide5.xml" Id="R604117805d774ba2" /><Relationship Type="http://schemas.openxmlformats.org/officeDocument/2006/relationships/slide" Target="/ppt/slides/slide6.xml" Id="R394e2d7504e94107" /><Relationship Type="http://schemas.openxmlformats.org/officeDocument/2006/relationships/slide" Target="/ppt/slides/slide7.xml" Id="R6bf1329f08644153" /><Relationship Type="http://schemas.openxmlformats.org/officeDocument/2006/relationships/slide" Target="/ppt/slides/slide8.xml" Id="Rb8b31521605b4d04" /><Relationship Type="http://schemas.openxmlformats.org/officeDocument/2006/relationships/slide" Target="/ppt/slides/slide9.xml" Id="Rb9ff319b377f4778" /><Relationship Type="http://schemas.openxmlformats.org/officeDocument/2006/relationships/slide" Target="/ppt/slides/slide10.xml" Id="R70408fd212004e85" /><Relationship Type="http://schemas.openxmlformats.org/officeDocument/2006/relationships/slide" Target="/ppt/slides/slide11.xml" Id="Rb55342c8b5fd4a15" /><Relationship Type="http://schemas.openxmlformats.org/officeDocument/2006/relationships/slide" Target="/ppt/slides/slide12.xml" Id="Rc6aaba4203d340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6cc7ef5fee44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464f0ef5f546a9" /><Relationship Type="http://schemas.openxmlformats.org/officeDocument/2006/relationships/notesMaster" Target="/ppt/notesMasters/notesMaster1.xml" Id="R77a1a1cd690844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a15a7e6f0e48b0" /><Relationship Type="http://schemas.openxmlformats.org/officeDocument/2006/relationships/notesMaster" Target="/ppt/notesMasters/notesMaster1.xml" Id="R6fa252cf442443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afef22017b4a93" /><Relationship Type="http://schemas.openxmlformats.org/officeDocument/2006/relationships/notesMaster" Target="/ppt/notesMasters/notesMaster1.xml" Id="R40e726f8a3f040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bff72b20564d0b" /><Relationship Type="http://schemas.openxmlformats.org/officeDocument/2006/relationships/notesMaster" Target="/ppt/notesMasters/notesMaster1.xml" Id="R48934278f9c049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492de6850b48e4" /><Relationship Type="http://schemas.openxmlformats.org/officeDocument/2006/relationships/notesMaster" Target="/ppt/notesMasters/notesMaster1.xml" Id="Rada35f5bdaba479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a55e8d28594e30" /><Relationship Type="http://schemas.openxmlformats.org/officeDocument/2006/relationships/notesMaster" Target="/ppt/notesMasters/notesMaster1.xml" Id="R50f54f86057b46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1a8d1c47314b00" /><Relationship Type="http://schemas.openxmlformats.org/officeDocument/2006/relationships/notesMaster" Target="/ppt/notesMasters/notesMaster1.xml" Id="R74e31a1578e147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9f8c35fb9b4f97" /><Relationship Type="http://schemas.openxmlformats.org/officeDocument/2006/relationships/notesMaster" Target="/ppt/notesMasters/notesMaster1.xml" Id="R9f76351c799144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dd1e2aa2e04302" /><Relationship Type="http://schemas.openxmlformats.org/officeDocument/2006/relationships/notesMaster" Target="/ppt/notesMasters/notesMaster1.xml" Id="R7b298b80917447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7c46236aaa43ae" /><Relationship Type="http://schemas.openxmlformats.org/officeDocument/2006/relationships/notesMaster" Target="/ppt/notesMasters/notesMaster1.xml" Id="R0553ab11fd4b40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348e9ea7dd4dc3" /><Relationship Type="http://schemas.openxmlformats.org/officeDocument/2006/relationships/notesMaster" Target="/ppt/notesMasters/notesMaster1.xml" Id="Rc73f28d3f74044a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ece739efb644b0" /><Relationship Type="http://schemas.openxmlformats.org/officeDocument/2006/relationships/notesMaster" Target="/ppt/notesMasters/notesMaster1.xml" Id="Rd735d076194f4e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Buenos días. Mi proyecto se llama Hostal Velamor y consiste en un sistema web para administrar las actividades principales de un hospedaje. Permite controlar huéspedes, habitaciones, reservas, pagos, check-in, check-out y reportes. Durante la exposición voy a mostrar el funcionamiento general, las tecnologías utilizadas y algunas partes importantes del código: MVC, Razor, AJAX, JSON, ADO.NET y SQL Server.</a:t>
            </a:r>
          </a:p>
          <a:p xmlns:a="http://schemas.openxmlformats.org/drawingml/2006/main">
            <a:r>
              <a:t/>
            </a:r>
          </a:p>
          <a:p xmlns:a="http://schemas.openxmlformats.org/drawingml/2006/main">
            <a:r>
              <a:t>[Sources]</a:t>
            </a:r>
          </a:p>
          <a:p xmlns:a="http://schemas.openxmlformats.org/drawingml/2006/main">
            <a:r>
              <a:t>- D:\Proyecto final\ProyectoHostalMVC-master\ProyectoHostalMVC-master\ProyectoHostalMVC\ProyectoHostalMVC.csproj</a:t>
            </a:r>
          </a:p>
          <a:p xmlns:a="http://schemas.openxmlformats.org/drawingml/2006/main">
            <a:r>
              <a:t>- D:\Proyecto final\ProyectoHostalMVC-master\ProyectoHostalMVC-master\ProyectoHostalMVC\wwwroot\images\logo-velamor.png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problema que busqué resolver es que un hospedaje pequeño puede llevar sus reservas, pagos y habitaciones en cuadernos o archivos separados. Eso puede generar duplicidad de información y habitaciones reservadas para las mismas fechas. Mi propuesta reúne todo en una sola aplicación. Así, el recepcionista consulta disponibilidad, registra al huésped y continúa con todo el proceso de estadía.</a:t>
            </a:r>
          </a:p>
          <a:p xmlns:a="http://schemas.openxmlformats.org/drawingml/2006/main">
            <a:r>
              <a:t/>
            </a:r>
          </a:p>
          <a:p xmlns:a="http://schemas.openxmlformats.org/drawingml/2006/main">
            <a:r>
              <a:t>[Sources]</a:t>
            </a:r>
          </a:p>
          <a:p xmlns:a="http://schemas.openxmlformats.org/drawingml/2006/main">
            <a:r>
              <a:t>- https://www.gob.pe/institucion/mincetur/noticias/1223768-viajes-por-fiestas-patrias-generaron-un-impacto-economico-de-us-223-millones</a:t>
            </a:r>
          </a:p>
          <a:p xmlns:a="http://schemas.openxmlformats.org/drawingml/2006/main">
            <a:r>
              <a:t>- D:\Proyecto final\ProyectoHostalMVC-master\ProyectoHostalMVC-master\ProyectoHostalMVC\Database\ACTUALIZACION_HOTEL.sql</a:t>
            </a:r>
          </a:p>
          <a:p xmlns:a="http://schemas.openxmlformats.org/drawingml/2006/main">
            <a:r>
              <a:t>- D:\Proyecto final\ProyectoHostalMVC-master\ProyectoHostalMVC-master\ProyectoHostalMVC\wwwroot\images\recepcion-login.png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Este es el flujo principal. Primero se registra o busca al huésped. Después se eligen las fechas y solamente aparecen las habitaciones disponibles. Al confirmar, la reserva queda registrada. Cuando llega el huésped se realiza el check-in, luego se registran sus pagos y, con el saldo cancelado, se hace el check-out. Finalmente, la habitación pasa por limpieza antes de volver a estar disponible.</a:t>
            </a:r>
          </a:p>
          <a:p xmlns:a="http://schemas.openxmlformats.org/drawingml/2006/main">
            <a:r>
              <a:t/>
            </a:r>
          </a:p>
          <a:p xmlns:a="http://schemas.openxmlformats.org/drawingml/2006/main">
            <a:r>
              <a:t>[Sources]</a:t>
            </a:r>
          </a:p>
          <a:p xmlns:a="http://schemas.openxmlformats.org/drawingml/2006/main">
            <a:r>
              <a:t>- D:\Proyecto final\ProyectoHostalMVC-master\ProyectoHostalMVC-master\ProyectoHostalMVC\Controllers\ReservasController.cs</a:t>
            </a:r>
          </a:p>
          <a:p xmlns:a="http://schemas.openxmlformats.org/drawingml/2006/main">
            <a:r>
              <a:t>- D:\Proyecto final\ProyectoHostalMVC-master\ProyectoHostalMVC-master\ProyectoHostalMVC\Controllers\PagosController.cs</a:t>
            </a:r>
          </a:p>
          <a:p xmlns:a="http://schemas.openxmlformats.org/drawingml/2006/main">
            <a:r>
              <a:t>- D:\Proyecto final\ProyectoHostalMVC-master\ProyectoHostalMVC-master\ProyectoHostalMVC\Database\ACTUALIZACION_HOTEL.sql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aplicación está organizada en módulos sencillos. El dashboard muestra un resumen del estado del hostal. En huéspedes se registran los datos de los clientes. Habitaciones controla número, tipo, precio y estado. Reservas maneja la estadía completa. Pagos registra abonos y saldos, y reportes presenta información para apoyar al administrador. La navegación usa nombres claros para facilitar su aprendizaje.</a:t>
            </a:r>
          </a:p>
          <a:p xmlns:a="http://schemas.openxmlformats.org/drawingml/2006/main">
            <a:r>
              <a:t/>
            </a:r>
          </a:p>
          <a:p xmlns:a="http://schemas.openxmlformats.org/drawingml/2006/main">
            <a:r>
              <a:t>[Sources]</a:t>
            </a:r>
          </a:p>
          <a:p xmlns:a="http://schemas.openxmlformats.org/drawingml/2006/main">
            <a:r>
              <a:t>- C:\Users\jagua\Documents\New project\.tmp_hostal_docs\assets\dashboard.png</a:t>
            </a:r>
          </a:p>
          <a:p xmlns:a="http://schemas.openxmlformats.org/drawingml/2006/main">
            <a:r>
              <a:t>- D:\Proyecto final\ProyectoHostalMVC-master\ProyectoHostalMVC-master\ProyectoHostalMVC\Controllers</a:t>
            </a:r>
          </a:p>
          <a:p xmlns:a="http://schemas.openxmlformats.org/drawingml/2006/main">
            <a:r>
              <a:t>- D:\Proyecto final\ProyectoHostalMVC-master\ProyectoHostalMVC-master\ProyectoHostalMVC\Views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proyecto utiliza el patrón Modelo, Vista y Controlador. Los modelos representan la información, por ejemplo una reserva o una habitación. Las vistas Razor generan las pantallas. Los controladores reciben las solicitudes, validan los datos y ejecutan las operaciones. Para mantener el proyecto sencillo y de acuerdo con el nivel del curso, el acceso a SQL Server se realiza directamente con ADO.NET y procedimientos almacenados.</a:t>
            </a:r>
          </a:p>
          <a:p xmlns:a="http://schemas.openxmlformats.org/drawingml/2006/main">
            <a:r>
              <a:t/>
            </a:r>
          </a:p>
          <a:p xmlns:a="http://schemas.openxmlformats.org/drawingml/2006/main">
            <a:r>
              <a:t>[Sources]</a:t>
            </a:r>
          </a:p>
          <a:p xmlns:a="http://schemas.openxmlformats.org/drawingml/2006/main">
            <a:r>
              <a:t>- D:\Proyecto final\ProyectoHostalMVC-master\ProyectoHostalMVC-master\ProyectoHostalMVC\Program.cs</a:t>
            </a:r>
          </a:p>
          <a:p xmlns:a="http://schemas.openxmlformats.org/drawingml/2006/main">
            <a:r>
              <a:t>- D:\Proyecto final\ProyectoHostalMVC-master\ProyectoHostalMVC-master\ProyectoHostalMVC\Models</a:t>
            </a:r>
          </a:p>
          <a:p xmlns:a="http://schemas.openxmlformats.org/drawingml/2006/main">
            <a:r>
              <a:t>- D:\Proyecto final\ProyectoHostalMVC-master\ProyectoHostalMVC-master\ProyectoHostalMVC\Views</a:t>
            </a:r>
          </a:p>
          <a:p xmlns:a="http://schemas.openxmlformats.org/drawingml/2006/main">
            <a:r>
              <a:t>- D:\Proyecto final\ProyectoHostalMVC-master\ProyectoHostalMVC-master\ProyectoHostalMVC\Controllers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el servidor utilicé .NET 8, ASP.NET Core MVC y C#. Para la interfaz usé Razor, Bootstrap, CSS y JavaScript. AJAX permite consultar datos sin recargar toda la página y JSON es el formato utilizado para responder. La conexión con SQL Server se realiza con ADO.NET y Microsoft.Data.SqlClient. El acceso se protege mediante cookies, claims y roles de usuario.</a:t>
            </a:r>
          </a:p>
          <a:p xmlns:a="http://schemas.openxmlformats.org/drawingml/2006/main">
            <a:r>
              <a:t/>
            </a:r>
          </a:p>
          <a:p xmlns:a="http://schemas.openxmlformats.org/drawingml/2006/main">
            <a:r>
              <a:t>[Sources]</a:t>
            </a:r>
          </a:p>
          <a:p xmlns:a="http://schemas.openxmlformats.org/drawingml/2006/main">
            <a:r>
              <a:t>- D:\Proyecto final\ProyectoHostalMVC-master\ProyectoHostalMVC-master\ProyectoHostalMVC\ProyectoHostalMVC.csproj</a:t>
            </a:r>
          </a:p>
          <a:p xmlns:a="http://schemas.openxmlformats.org/drawingml/2006/main">
            <a:r>
              <a:t>- D:\Proyecto final\ProyectoHostalMVC-master\ProyectoHostalMVC-master\ProyectoHostalMVC\Program.cs</a:t>
            </a:r>
          </a:p>
          <a:p xmlns:a="http://schemas.openxmlformats.org/drawingml/2006/main">
            <a:r>
              <a:t>- D:\Proyecto final\ProyectoHostalMVC-master\ProyectoHostalMVC-master\ProyectoHostalMVC\Views\Shared\_Layout.cshtml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Reserva.cs están las propiedades de una reserva: huésped, habitación, fechas, precio y total. También utilizo anotaciones como Required, Display y DataType para definir validaciones y nombres. En Create.cshtml, Razor usa Tag Helpers como asp-for y asp-validation-for. Así, el formulario queda conectado con el modelo y muestra automáticamente los mensajes de validación correspondientes.</a:t>
            </a:r>
          </a:p>
          <a:p xmlns:a="http://schemas.openxmlformats.org/drawingml/2006/main">
            <a:r>
              <a:t/>
            </a:r>
          </a:p>
          <a:p xmlns:a="http://schemas.openxmlformats.org/drawingml/2006/main">
            <a:r>
              <a:t>[Sources]</a:t>
            </a:r>
          </a:p>
          <a:p xmlns:a="http://schemas.openxmlformats.org/drawingml/2006/main">
            <a:r>
              <a:t>- D:\Proyecto final\ProyectoHostalMVC-master\ProyectoHostalMVC-master\ProyectoHostalMVC\Models\Reserva.cs</a:t>
            </a:r>
          </a:p>
          <a:p xmlns:a="http://schemas.openxmlformats.org/drawingml/2006/main">
            <a:r>
              <a:t>- D:\Proyecto final\ProyectoHostalMVC-master\ProyectoHostalMVC-master\ProyectoHostalMVC\Views\Reservas\Create.cshtml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Cuando el usuario cambia la fecha de entrada o salida, JavaScript ejecuta cargarDisponibles. Esta función usa fetch para llamar a HabitacionesDisponiblesJson. El controlador consulta SQL Server y devuelve un objeto JSON con las habitaciones libres. JavaScript recibe la respuesta y actualiza el selector. También calcula las noches y el total estimado. Todo ocurre sin recargar la página completa.</a:t>
            </a:r>
          </a:p>
          <a:p xmlns:a="http://schemas.openxmlformats.org/drawingml/2006/main">
            <a:r>
              <a:t/>
            </a:r>
          </a:p>
          <a:p xmlns:a="http://schemas.openxmlformats.org/drawingml/2006/main">
            <a:r>
              <a:t>[Sources]</a:t>
            </a:r>
          </a:p>
          <a:p xmlns:a="http://schemas.openxmlformats.org/drawingml/2006/main">
            <a:r>
              <a:t>- D:\Proyecto final\ProyectoHostalMVC-master\ProyectoHostalMVC-master\ProyectoHostalMVC\Views\Reservas\Create.cshtml</a:t>
            </a:r>
          </a:p>
          <a:p xmlns:a="http://schemas.openxmlformats.org/drawingml/2006/main">
            <a:r>
              <a:t>- D:\Proyecto final\ProyectoHostalMVC-master\ProyectoHostalMVC-master\ProyectoHostalMVC\Controllers\ReservasController.cs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 confirmar una reserva, el controlador vuelve a validar las fechas y no confía solamente en el navegador. Obtiene el precio desde la base de datos, calcula los días y envía parámetros a sp_RegistrarReserva. En SQL se inicia una transacción, se comprueba que la habitación esté operativa y que no exista un cruce. Si algo falla se ejecuta rollback; si todo es correcto, commit.</a:t>
            </a:r>
          </a:p>
          <a:p xmlns:a="http://schemas.openxmlformats.org/drawingml/2006/main">
            <a:r>
              <a:t/>
            </a:r>
          </a:p>
          <a:p xmlns:a="http://schemas.openxmlformats.org/drawingml/2006/main">
            <a:r>
              <a:t>[Sources]</a:t>
            </a:r>
          </a:p>
          <a:p xmlns:a="http://schemas.openxmlformats.org/drawingml/2006/main">
            <a:r>
              <a:t>- D:\Proyecto final\ProyectoHostalMVC-master\ProyectoHostalMVC-master\ProyectoHostalMVC\Controllers\ReservasController.cs</a:t>
            </a:r>
          </a:p>
          <a:p xmlns:a="http://schemas.openxmlformats.org/drawingml/2006/main">
            <a:r>
              <a:t>- D:\Proyecto final\ProyectoHostalMVC-master\ProyectoHostalMVC-master\ProyectoHostalMVC\Database\ACTUALIZACION_HOTEL.sql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inicio de sesión crea claims con el nombre, correo y rol. Los controladores usan Authorize y algunas funciones exigen el rol Administrador. El recepcionista atiende huéspedes, reservas y pagos; los reportes y el mantenimiento de habitaciones se limitan al administrador. Además, SQL impide pagos superiores al saldo y bloquea el check-out mientras exista una deuda pendiente.</a:t>
            </a:r>
          </a:p>
          <a:p xmlns:a="http://schemas.openxmlformats.org/drawingml/2006/main">
            <a:r>
              <a:t/>
            </a:r>
          </a:p>
          <a:p xmlns:a="http://schemas.openxmlformats.org/drawingml/2006/main">
            <a:r>
              <a:t>[Sources]</a:t>
            </a:r>
          </a:p>
          <a:p xmlns:a="http://schemas.openxmlformats.org/drawingml/2006/main">
            <a:r>
              <a:t>- C:\Users\jagua\Documents\New project\.tmp_hostal_docs\assets\detalle-reserva.png</a:t>
            </a:r>
          </a:p>
          <a:p xmlns:a="http://schemas.openxmlformats.org/drawingml/2006/main">
            <a:r>
              <a:t>- D:\Proyecto final\ProyectoHostalMVC-master\ProyectoHostalMVC-master\ProyectoHostalMVC\Controllers\AccountController.cs</a:t>
            </a:r>
          </a:p>
          <a:p xmlns:a="http://schemas.openxmlformats.org/drawingml/2006/main">
            <a:r>
              <a:t>- D:\Proyecto final\ProyectoHostalMVC-master\ProyectoHostalMVC-master\ProyectoHostalMVC\Program.cs</a:t>
            </a:r>
          </a:p>
          <a:p xmlns:a="http://schemas.openxmlformats.org/drawingml/2006/main">
            <a:r>
              <a:t>- D:\Proyecto final\ProyectoHostalMVC-master\ProyectoHostalMVC-master\ProyectoHostalMVC\Controllers\ReporteController.cs</a:t>
            </a:r>
          </a:p>
          <a:p xmlns:a="http://schemas.openxmlformats.org/drawingml/2006/main">
            <a:r>
              <a:t>- D:\Proyecto final\ProyectoHostalMVC-master\ProyectoHostalMVC-master\ProyectoHostalMVC\Database\ACTUALIZACION_HOTEL.sql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la demostración voy a iniciar sesión, registrar un huésped y crear una reserva. Después mostraré cómo cambian las habitaciones disponibles al modificar las fechas. Desde el detalle realizaré el check-in, registraré un pago y completaré el check-out. Finalmente ingresaré como administrador para mostrar reportes. También se documentaron pruebas de fechas, reservas cruzadas, pagos superiores al saldo y restricciones por rol.</a:t>
            </a:r>
          </a:p>
          <a:p xmlns:a="http://schemas.openxmlformats.org/drawingml/2006/main">
            <a:r>
              <a:t/>
            </a:r>
          </a:p>
          <a:p xmlns:a="http://schemas.openxmlformats.org/drawingml/2006/main">
            <a:r>
              <a:t>[Sources]</a:t>
            </a:r>
          </a:p>
          <a:p xmlns:a="http://schemas.openxmlformats.org/drawingml/2006/main">
            <a:r>
              <a:t>- C:\Users\jagua\Documents\New project\.tmp_hostal_docs\assets\nueva-reserva.png</a:t>
            </a:r>
          </a:p>
          <a:p xmlns:a="http://schemas.openxmlformats.org/drawingml/2006/main">
            <a:r>
              <a:t>- D:\Proyecto final\ProyectoHostalMVC-master\ProyectoHostalMVC-master\Documentacion\Informe_Proyecto_Hostal_Velamor.docx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Como conclusión, Hostal Velamor permite gestionar un proceso real desde la reserva hasta la salida del huésped. El proyecto demuestra ASP.NET Core MVC, vistas Razor, validaciones, AJAX, JSON, ADO.NET, procedimientos almacenados, transacciones y roles. La solución se mantuvo simple para poder explicarla y mantenerla. Como mejoras futuras considero usar hash de contraseñas, separar el acceso a datos y preparar la publicación con respaldos.</a:t>
            </a:r>
          </a:p>
          <a:p xmlns:a="http://schemas.openxmlformats.org/drawingml/2006/main">
            <a:r>
              <a:t/>
            </a:r>
          </a:p>
          <a:p xmlns:a="http://schemas.openxmlformats.org/drawingml/2006/main">
            <a:r>
              <a:t>[Sources]</a:t>
            </a:r>
          </a:p>
          <a:p xmlns:a="http://schemas.openxmlformats.org/drawingml/2006/main">
            <a:r>
              <a:t>- D:\Proyecto final\ProyectoHostalMVC-master\ProyectoHostalMVC-master\Documentacion\Informe_Proyecto_Hostal_Velamor.docx</a:t>
            </a:r>
          </a:p>
          <a:p xmlns:a="http://schemas.openxmlformats.org/drawingml/2006/main">
            <a:r>
              <a:t>- D:\Proyecto final\ProyectoHostalMVC-master\ProyectoHostalMVC-master\ProyectoHostalMVC\ProyectoHostalMVC.csproj</a:t>
            </a:r>
          </a:p>
          <a:p xmlns:a="http://schemas.openxmlformats.org/drawingml/2006/main">
            <a:r>
              <a:t>- D:\Proyecto final\ProyectoHostalMVC-master\ProyectoHostalMVC-master\ProyectoHostalMVC\Database\ACTUALIZACION_HOTEL.sql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3b2b2a76c543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e8ccedf2cd470a" /><Relationship Type="http://schemas.openxmlformats.org/officeDocument/2006/relationships/slideLayout" Target="/ppt/slideLayouts/slideLayout1.xml" Id="Rc47132298d9e40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7132298d9e40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ed3b8b5dfe4fde" /><Relationship Type="http://schemas.openxmlformats.org/officeDocument/2006/relationships/image" Target="/ppt/media/image.png" Id="R6843037446ee4534" /><Relationship Type="http://schemas.openxmlformats.org/officeDocument/2006/relationships/notesSlide" Target="/ppt/notesSlides/notesSlide1.xml" Id="Rb4088bffc8ea4b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2911d4dbe8c41b2" /><Relationship Type="http://schemas.openxmlformats.org/officeDocument/2006/relationships/image" Target="/ppt/media/image2.png" Id="R3c3210240477446a" /><Relationship Type="http://schemas.openxmlformats.org/officeDocument/2006/relationships/notesSlide" Target="/ppt/notesSlides/notesSlide2.xml" Id="R1999b6bb707b461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06b6f2f31104133" /><Relationship Type="http://schemas.openxmlformats.org/officeDocument/2006/relationships/notesSlide" Target="/ppt/notesSlides/notesSlide3.xml" Id="R039b61b74b094c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daf6f313a7941bd" /><Relationship Type="http://schemas.openxmlformats.org/officeDocument/2006/relationships/image" Target="/ppt/media/image.jpeg" Id="Rcd6047d28cf4477c" /><Relationship Type="http://schemas.openxmlformats.org/officeDocument/2006/relationships/notesSlide" Target="/ppt/notesSlides/notesSlide4.xml" Id="Rfec9aa21a8b843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0d649906d8340c9" /><Relationship Type="http://schemas.openxmlformats.org/officeDocument/2006/relationships/notesSlide" Target="/ppt/notesSlides/notesSlide5.xml" Id="Rac2969d651be45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03bfb84a94f4d4d" /><Relationship Type="http://schemas.openxmlformats.org/officeDocument/2006/relationships/notesSlide" Target="/ppt/notesSlides/notesSlide6.xml" Id="R35ec7d2a95ca48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1fb3454044491d" /><Relationship Type="http://schemas.openxmlformats.org/officeDocument/2006/relationships/notesSlide" Target="/ppt/notesSlides/notesSlide7.xml" Id="R6cda0d1abdf544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e7917d17d74290" /><Relationship Type="http://schemas.openxmlformats.org/officeDocument/2006/relationships/notesSlide" Target="/ppt/notesSlides/notesSlide8.xml" Id="R987a57d16b0741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740cbcce1034e66" /><Relationship Type="http://schemas.openxmlformats.org/officeDocument/2006/relationships/notesSlide" Target="/ppt/notesSlides/notesSlide9.xml" Id="Re4fedd36b7c445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5393ce19044e7e" /><Relationship Type="http://schemas.openxmlformats.org/officeDocument/2006/relationships/image" Target="/ppt/media/image2.jpeg" Id="R86cc860db4a3413a" /><Relationship Type="http://schemas.openxmlformats.org/officeDocument/2006/relationships/notesSlide" Target="/ppt/notesSlides/notesSlide10.xml" Id="Redadd73bee1a45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015fa0f170745df" /><Relationship Type="http://schemas.openxmlformats.org/officeDocument/2006/relationships/image" Target="/ppt/media/image3.jpeg" Id="R268225a34b93411b" /><Relationship Type="http://schemas.openxmlformats.org/officeDocument/2006/relationships/notesSlide" Target="/ppt/notesSlides/notesSlide11.xml" Id="R1d7c4798ddf44b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ff3ac457caa499d" /><Relationship Type="http://schemas.openxmlformats.org/officeDocument/2006/relationships/notesSlide" Target="/ppt/notesSlides/notesSlide12.xml" Id="R8b36900e9e3e4e93" /></Relationships>
</file>

<file path=ppt/slides/slide1.xml><?xml version="1.0" encoding="utf-8"?>
<p:sld xmlns:p="http://schemas.openxmlformats.org/presentationml/2006/main">
  <p:cSld>
    <p:bg>
      <p:bgPr>
        <a:solidFill xmlns:a="http://schemas.openxmlformats.org/drawingml/2006/main">
          <a:srgbClr val="123B3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69E780-6B42-4AB1-98C8-D748D26FCDE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C99A5B"/>
          </a:solidFill>
          <a:ln xmlns:a="http://schemas.openxmlformats.org/drawingml/2006/main" w="0">
            <a:solidFill>
              <a:srgbClr val="C99A5B"/>
            </a:solidFill>
            <a:prstDash val="solid"/>
          </a:ln>
        </p:spPr>
      </p:sp>
      <p:sp>
        <p:nvSpPr>
          <p:cNvPr id="2" name="">
            <a:extLst xmlns:a="http://schemas.openxmlformats.org/drawingml/2006/main">
              <a:ext uri="{FF2B5EF4-FFF2-40B4-BE49-F238E27FC236}">
                <a16:creationId xmlns:a16="http://schemas.microsoft.com/office/drawing/2014/main" id="{D45D912F-0464-40BA-B316-04B00EA06174}"/>
              </a:ext>
            </a:extLst>
          </p:cNvPr>
          <p:cNvSpPr>
            <a:spLocks xmlns:a="http://schemas.openxmlformats.org/drawingml/2006/main" noGrp="1"/>
          </p:cNvSpPr>
          <p:nvPr/>
        </p:nvSpPr>
        <p:spPr>
          <a:xfrm xmlns:a="http://schemas.openxmlformats.org/drawingml/2006/main">
            <a:off x="742950" y="6858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E9D8BC"/>
                </a:solidFill>
                <a:latin typeface="Aptos"/>
                <a:ea typeface="Aptos"/>
                <a:cs typeface="Aptos"/>
              </a:defRPr>
            </a:pPr>
            <a:r>
              <a:rPr sz="1050" b="1">
                <a:solidFill>
                  <a:srgbClr val="E9D8BC"/>
                </a:solidFill>
                <a:latin typeface="Aptos"/>
                <a:ea typeface="Aptos"/>
                <a:cs typeface="Aptos"/>
              </a:rPr>
              <a:t>PROYECTO FINAL · 2026-II</a:t>
            </a:r>
          </a:p>
        </p:txBody>
      </p:sp>
      <p:sp>
        <p:nvSpPr>
          <p:cNvPr id="3" name="">
            <a:extLst xmlns:a="http://schemas.openxmlformats.org/drawingml/2006/main">
              <a:ext uri="{FF2B5EF4-FFF2-40B4-BE49-F238E27FC236}">
                <a16:creationId xmlns:a16="http://schemas.microsoft.com/office/drawing/2014/main" id="{4D162937-1B57-41C1-8182-CC5C2DC60BF1}"/>
              </a:ext>
            </a:extLst>
          </p:cNvPr>
          <p:cNvSpPr>
            <a:spLocks xmlns:a="http://schemas.openxmlformats.org/drawingml/2006/main" noGrp="1"/>
          </p:cNvSpPr>
          <p:nvPr/>
        </p:nvSpPr>
        <p:spPr>
          <a:xfrm xmlns:a="http://schemas.openxmlformats.org/drawingml/2006/main">
            <a:off x="742950" y="1381125"/>
            <a:ext cx="619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4350" b="1">
                <a:solidFill>
                  <a:srgbClr val="FFFFFF"/>
                </a:solidFill>
                <a:latin typeface="Aptos"/>
                <a:ea typeface="Aptos"/>
                <a:cs typeface="Aptos"/>
              </a:defRPr>
            </a:pPr>
            <a:r>
              <a:rPr sz="4350" b="1">
                <a:solidFill>
                  <a:srgbClr val="FFFFFF"/>
                </a:solidFill>
                <a:latin typeface="Aptos"/>
                <a:ea typeface="Aptos"/>
                <a:cs typeface="Aptos"/>
              </a:rPr>
              <a:t>Hostal Velamor</a:t>
            </a:r>
          </a:p>
        </p:txBody>
      </p:sp>
      <p:sp>
        <p:nvSpPr>
          <p:cNvPr id="4" name="">
            <a:extLst xmlns:a="http://schemas.openxmlformats.org/drawingml/2006/main">
              <a:ext uri="{FF2B5EF4-FFF2-40B4-BE49-F238E27FC236}">
                <a16:creationId xmlns:a16="http://schemas.microsoft.com/office/drawing/2014/main" id="{E42B5C64-B7F3-4430-A3EC-B0E001B6F923}"/>
              </a:ext>
            </a:extLst>
          </p:cNvPr>
          <p:cNvSpPr>
            <a:spLocks xmlns:a="http://schemas.openxmlformats.org/drawingml/2006/main" noGrp="1"/>
          </p:cNvSpPr>
          <p:nvPr/>
        </p:nvSpPr>
        <p:spPr>
          <a:xfrm xmlns:a="http://schemas.openxmlformats.org/drawingml/2006/main">
            <a:off x="762000" y="2219325"/>
            <a:ext cx="561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a:solidFill>
                  <a:srgbClr val="DDECE8"/>
                </a:solidFill>
                <a:latin typeface="Aptos"/>
                <a:ea typeface="Aptos"/>
                <a:cs typeface="Aptos"/>
              </a:defRPr>
            </a:pPr>
            <a:r>
              <a:rPr sz="2100">
                <a:solidFill>
                  <a:srgbClr val="DDECE8"/>
                </a:solidFill>
                <a:latin typeface="Aptos"/>
                <a:ea typeface="Aptos"/>
                <a:cs typeface="Aptos"/>
              </a:rPr>
              <a:t>Sistema web de gestión hotelera</a:t>
            </a:r>
          </a:p>
        </p:txBody>
      </p:sp>
      <p:sp>
        <p:nvSpPr>
          <p:cNvPr id="5" name="">
            <a:extLst xmlns:a="http://schemas.openxmlformats.org/drawingml/2006/main">
              <a:ext uri="{FF2B5EF4-FFF2-40B4-BE49-F238E27FC236}">
                <a16:creationId xmlns:a16="http://schemas.microsoft.com/office/drawing/2014/main" id="{0A802422-B918-4B03-BD01-4AF6BBC8DB26}"/>
              </a:ext>
            </a:extLst>
          </p:cNvPr>
          <p:cNvSpPr>
            <a:spLocks xmlns:a="http://schemas.openxmlformats.org/drawingml/2006/main" noGrp="1"/>
          </p:cNvSpPr>
          <p:nvPr/>
        </p:nvSpPr>
        <p:spPr>
          <a:xfrm xmlns:a="http://schemas.openxmlformats.org/drawingml/2006/main">
            <a:off x="762000" y="3333750"/>
            <a:ext cx="571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a:solidFill>
                  <a:srgbClr val="FFFFFF"/>
                </a:solidFill>
                <a:latin typeface="Aptos"/>
                <a:ea typeface="Aptos"/>
                <a:cs typeface="Aptos"/>
              </a:defRPr>
            </a:pPr>
            <a:r>
              <a:rPr sz="1575">
                <a:solidFill>
                  <a:srgbClr val="FFFFFF"/>
                </a:solidFill>
                <a:latin typeface="Aptos"/>
                <a:ea typeface="Aptos"/>
                <a:cs typeface="Aptos"/>
              </a:rPr>
              <a:t>ASP.NET Core MVC · Razor · AJAX/JSON</a:t>
            </a:r>
          </a:p>
          <a:p xmlns:a="http://schemas.openxmlformats.org/drawingml/2006/main">
            <a:pPr algn="l">
              <a:defRPr sz="1575">
                <a:solidFill>
                  <a:srgbClr val="FFFFFF"/>
                </a:solidFill>
                <a:latin typeface="Aptos"/>
                <a:ea typeface="Aptos"/>
                <a:cs typeface="Aptos"/>
              </a:defRPr>
            </a:pPr>
            <a:r>
              <a:rPr sz="1575">
                <a:solidFill>
                  <a:srgbClr val="FFFFFF"/>
                </a:solidFill>
                <a:latin typeface="Aptos"/>
                <a:ea typeface="Aptos"/>
                <a:cs typeface="Aptos"/>
              </a:rPr>
              <a:t>ADO.NET · SQL Server · Roles</a:t>
            </a:r>
          </a:p>
        </p:txBody>
      </p:sp>
      <p:sp>
        <p:nvSpPr>
          <p:cNvPr id="6" name="">
            <a:extLst xmlns:a="http://schemas.openxmlformats.org/drawingml/2006/main">
              <a:ext uri="{FF2B5EF4-FFF2-40B4-BE49-F238E27FC236}">
                <a16:creationId xmlns:a16="http://schemas.microsoft.com/office/drawing/2014/main" id="{8AEFD627-CAD0-4393-BCFD-93C920F21CD9}"/>
              </a:ext>
            </a:extLst>
          </p:cNvPr>
          <p:cNvSpPr>
            <a:spLocks xmlns:a="http://schemas.openxmlformats.org/drawingml/2006/main" noGrp="1"/>
          </p:cNvSpPr>
          <p:nvPr/>
        </p:nvSpPr>
        <p:spPr>
          <a:xfrm xmlns:a="http://schemas.openxmlformats.org/drawingml/2006/main">
            <a:off x="762000" y="5143500"/>
            <a:ext cx="5715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E9D8BC"/>
                </a:solidFill>
                <a:latin typeface="Aptos"/>
                <a:ea typeface="Aptos"/>
                <a:cs typeface="Aptos"/>
              </a:defRPr>
            </a:pPr>
            <a:r>
              <a:rPr sz="1350">
                <a:solidFill>
                  <a:srgbClr val="E9D8BC"/>
                </a:solidFill>
                <a:latin typeface="Aptos"/>
                <a:ea typeface="Aptos"/>
                <a:cs typeface="Aptos"/>
              </a:rPr>
              <a:t>Jorge Luis Robles Pintado</a:t>
            </a:r>
          </a:p>
          <a:p xmlns:a="http://schemas.openxmlformats.org/drawingml/2006/main">
            <a:pPr algn="l">
              <a:defRPr sz="1350">
                <a:solidFill>
                  <a:srgbClr val="E9D8BC"/>
                </a:solidFill>
                <a:latin typeface="Aptos"/>
                <a:ea typeface="Aptos"/>
                <a:cs typeface="Aptos"/>
              </a:defRPr>
            </a:pPr>
            <a:r>
              <a:rPr sz="1350">
                <a:solidFill>
                  <a:srgbClr val="E9D8BC"/>
                </a:solidFill>
                <a:latin typeface="Aptos"/>
                <a:ea typeface="Aptos"/>
                <a:cs typeface="Aptos"/>
              </a:rPr>
              <a:t>Desarrollo de Servicios Web I · T5WJ</a:t>
            </a:r>
          </a:p>
        </p:txBody>
      </p:sp>
      <p:sp>
        <p:nvSpPr>
          <p:cNvPr id="7" name="">
            <a:extLst xmlns:a="http://schemas.openxmlformats.org/drawingml/2006/main">
              <a:ext uri="{FF2B5EF4-FFF2-40B4-BE49-F238E27FC236}">
                <a16:creationId xmlns:a16="http://schemas.microsoft.com/office/drawing/2014/main" id="{0BF7E0A4-38DF-4D83-81BC-F373099307B2}"/>
              </a:ext>
            </a:extLst>
          </p:cNvPr>
          <p:cNvSpPr>
            <a:spLocks xmlns:a="http://schemas.openxmlformats.org/drawingml/2006/main" noGrp="1"/>
          </p:cNvSpPr>
          <p:nvPr/>
        </p:nvSpPr>
        <p:spPr>
          <a:xfrm xmlns:a="http://schemas.openxmlformats.org/drawingml/2006/main">
            <a:off x="7429500" y="1257300"/>
            <a:ext cx="3524250" cy="3524250"/>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0">
            <a:solidFill>
              <a:srgbClr val="FFFFFF"/>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843037446ee4534"/>
          <a:stretch xmlns:a="http://schemas.openxmlformats.org/drawingml/2006/main"/>
        </p:blipFill>
        <p:spPr>
          <a:xfrm xmlns:a="http://schemas.openxmlformats.org/drawingml/2006/main">
            <a:off x="7953375" y="1781175"/>
            <a:ext cx="2476500" cy="2476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1342D51-278C-4683-BA55-93C4302CFE0D}"/>
              </a:ext>
            </a:extLst>
          </p:cNvPr>
          <p:cNvSpPr>
            <a:spLocks xmlns:a="http://schemas.openxmlformats.org/drawingml/2006/main" noGrp="1"/>
          </p:cNvSpPr>
          <p:nvPr/>
        </p:nvSpPr>
        <p:spPr>
          <a:xfrm xmlns:a="http://schemas.openxmlformats.org/drawingml/2006/main">
            <a:off x="7524750" y="5048250"/>
            <a:ext cx="333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E9D8BC"/>
                </a:solidFill>
                <a:latin typeface="Aptos"/>
                <a:ea typeface="Aptos"/>
                <a:cs typeface="Aptos"/>
              </a:defRPr>
            </a:pPr>
            <a:r>
              <a:rPr sz="1350" b="1">
                <a:solidFill>
                  <a:srgbClr val="E9D8BC"/>
                </a:solidFill>
                <a:latin typeface="Aptos"/>
                <a:ea typeface="Aptos"/>
                <a:cs typeface="Aptos"/>
              </a:rPr>
              <a:t>Gestión clara para una mejor estadía</a:t>
            </a:r>
          </a:p>
        </p:txBody>
      </p:sp>
    </p:spTree>
    <p:extLst>
      <p:ext uri="{BB962C8B-B14F-4D97-AF65-F5344CB8AC3E}">
        <p14:creationId xmlns:p14="http://schemas.microsoft.com/office/powerpoint/2010/main" val="606757320"/>
      </p:ext>
    </p:extLst>
  </p:cSld>
</p:sld>
</file>

<file path=ppt/slides/slide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3FC887C-80FB-4EC8-B5C2-85448201F254}"/>
              </a:ext>
            </a:extLst>
          </p:cNvPr>
          <p:cNvSpPr>
            <a:spLocks xmlns:a="http://schemas.openxmlformats.org/drawingml/2006/main" noGrp="1"/>
          </p:cNvSpPr>
          <p:nvPr/>
        </p:nvSpPr>
        <p:spPr>
          <a:xfrm xmlns:a="http://schemas.openxmlformats.org/drawingml/2006/main">
            <a:off x="685800" y="6477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625" b="1">
                <a:solidFill>
                  <a:srgbClr val="123B3A"/>
                </a:solidFill>
                <a:latin typeface="Aptos"/>
                <a:ea typeface="Aptos"/>
                <a:cs typeface="Aptos"/>
              </a:defRPr>
            </a:pPr>
            <a:r>
              <a:rPr sz="2625" b="1">
                <a:solidFill>
                  <a:srgbClr val="123B3A"/>
                </a:solidFill>
                <a:latin typeface="Aptos"/>
                <a:ea typeface="Aptos"/>
                <a:cs typeface="Aptos"/>
              </a:rPr>
              <a:t>El sistema reemplaza controles separados por un solo flujo</a:t>
            </a:r>
          </a:p>
        </p:txBody>
      </p:sp>
      <p:sp>
        <p:nvSpPr>
          <p:cNvPr id="2" name="">
            <a:extLst xmlns:a="http://schemas.openxmlformats.org/drawingml/2006/main">
              <a:ext uri="{FF2B5EF4-FFF2-40B4-BE49-F238E27FC236}">
                <a16:creationId xmlns:a16="http://schemas.microsoft.com/office/drawing/2014/main" id="{B55159BF-9CE6-464A-94C1-24ABC1F3D5A6}"/>
              </a:ext>
            </a:extLst>
          </p:cNvPr>
          <p:cNvSpPr>
            <a:spLocks xmlns:a="http://schemas.openxmlformats.org/drawingml/2006/main" noGrp="1"/>
          </p:cNvSpPr>
          <p:nvPr/>
        </p:nvSpPr>
        <p:spPr>
          <a:xfrm xmlns:a="http://schemas.openxmlformats.org/drawingml/2006/main">
            <a:off x="11106150" y="34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5A6866"/>
                </a:solidFill>
                <a:latin typeface="Aptos"/>
                <a:ea typeface="Aptos"/>
                <a:cs typeface="Aptos"/>
              </a:defRPr>
            </a:pPr>
            <a:r>
              <a:rPr sz="900" b="1">
                <a:solidFill>
                  <a:srgbClr val="5A6866"/>
                </a:solidFill>
                <a:latin typeface="Aptos"/>
                <a:ea typeface="Aptos"/>
                <a:cs typeface="Aptos"/>
              </a:rPr>
              <a:t>02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c3210240477446a"/>
          <a:srcRect xmlns:a="http://schemas.openxmlformats.org/drawingml/2006/main" l="0" t="12047" r="0" b="12047"/>
          <a:stretch xmlns:a="http://schemas.openxmlformats.org/drawingml/2006/main">
            <a:fillRect l="0" t="0" r="0" b="0"/>
          </a:stretch>
        </p:blipFill>
        <p:spPr>
          <a:xfrm xmlns:a="http://schemas.openxmlformats.org/drawingml/2006/main">
            <a:off x="7067550" y="1762125"/>
            <a:ext cx="4438650" cy="4210050"/>
          </a:xfrm>
          <a:prstGeom xmlns:a="http://schemas.openxmlformats.org/drawingml/2006/main" prst="roundRect">
            <a:avLst>
              <a:gd name="adj" fmla="val 2715"/>
            </a:avLst>
          </a:prstGeom>
        </p:spPr>
      </p:pic>
      <p:sp>
        <p:nvSpPr>
          <p:cNvPr id="4" name="">
            <a:extLst xmlns:a="http://schemas.openxmlformats.org/drawingml/2006/main">
              <a:ext uri="{FF2B5EF4-FFF2-40B4-BE49-F238E27FC236}">
                <a16:creationId xmlns:a16="http://schemas.microsoft.com/office/drawing/2014/main" id="{E61E31BD-FF11-4B6C-997D-CE42655FA931}"/>
              </a:ext>
            </a:extLst>
          </p:cNvPr>
          <p:cNvSpPr>
            <a:spLocks xmlns:a="http://schemas.openxmlformats.org/drawingml/2006/main" noGrp="1"/>
          </p:cNvSpPr>
          <p:nvPr/>
        </p:nvSpPr>
        <p:spPr>
          <a:xfrm xmlns:a="http://schemas.openxmlformats.org/drawingml/2006/main">
            <a:off x="685800" y="186690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C99A5B"/>
                </a:solidFill>
                <a:latin typeface="Aptos"/>
                <a:ea typeface="Aptos"/>
                <a:cs typeface="Aptos"/>
              </a:defRPr>
            </a:pPr>
            <a:r>
              <a:rPr sz="1650" b="1">
                <a:solidFill>
                  <a:srgbClr val="C99A5B"/>
                </a:solidFill>
                <a:latin typeface="Aptos"/>
                <a:ea typeface="Aptos"/>
                <a:cs typeface="Aptos"/>
              </a:rPr>
              <a:t>Problema observado</a:t>
            </a:r>
          </a:p>
        </p:txBody>
      </p:sp>
      <p:sp>
        <p:nvSpPr>
          <p:cNvPr id="5" name="">
            <a:extLst xmlns:a="http://schemas.openxmlformats.org/drawingml/2006/main">
              <a:ext uri="{FF2B5EF4-FFF2-40B4-BE49-F238E27FC236}">
                <a16:creationId xmlns:a16="http://schemas.microsoft.com/office/drawing/2014/main" id="{570CD87F-FD80-4775-BEAA-3C44A68D5719}"/>
              </a:ext>
            </a:extLst>
          </p:cNvPr>
          <p:cNvSpPr>
            <a:spLocks xmlns:a="http://schemas.openxmlformats.org/drawingml/2006/main" noGrp="1"/>
          </p:cNvSpPr>
          <p:nvPr/>
        </p:nvSpPr>
        <p:spPr>
          <a:xfrm xmlns:a="http://schemas.openxmlformats.org/drawingml/2006/main">
            <a:off x="685800" y="2352675"/>
            <a:ext cx="5524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23B3A"/>
                </a:solidFill>
                <a:latin typeface="Aptos"/>
                <a:ea typeface="Aptos"/>
                <a:cs typeface="Aptos"/>
              </a:defRPr>
            </a:pPr>
            <a:r>
              <a:rPr sz="1800" b="1">
                <a:solidFill>
                  <a:srgbClr val="123B3A"/>
                </a:solidFill>
                <a:latin typeface="Aptos"/>
                <a:ea typeface="Aptos"/>
                <a:cs typeface="Aptos"/>
              </a:rPr>
              <a:t>Un hospedaje pequeño puede registrar reservas, pagos y estados de habitación en cuadernos o archivos distintos.</a:t>
            </a:r>
          </a:p>
        </p:txBody>
      </p:sp>
      <p:sp>
        <p:nvSpPr>
          <p:cNvPr id="6" name="">
            <a:extLst xmlns:a="http://schemas.openxmlformats.org/drawingml/2006/main">
              <a:ext uri="{FF2B5EF4-FFF2-40B4-BE49-F238E27FC236}">
                <a16:creationId xmlns:a16="http://schemas.microsoft.com/office/drawing/2014/main" id="{88908AA8-A67F-4946-9926-643448D67FBA}"/>
              </a:ext>
            </a:extLst>
          </p:cNvPr>
          <p:cNvSpPr>
            <a:spLocks xmlns:a="http://schemas.openxmlformats.org/drawingml/2006/main" noGrp="1"/>
          </p:cNvSpPr>
          <p:nvPr/>
        </p:nvSpPr>
        <p:spPr>
          <a:xfrm xmlns:a="http://schemas.openxmlformats.org/drawingml/2006/main">
            <a:off x="685800" y="3390900"/>
            <a:ext cx="5381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a:solidFill>
                  <a:srgbClr val="5A6866"/>
                </a:solidFill>
                <a:latin typeface="Aptos"/>
                <a:ea typeface="Aptos"/>
                <a:cs typeface="Aptos"/>
              </a:defRPr>
            </a:pPr>
            <a:r>
              <a:rPr sz="1425">
                <a:solidFill>
                  <a:srgbClr val="5A6866"/>
                </a:solidFill>
                <a:latin typeface="Aptos"/>
                <a:ea typeface="Aptos"/>
                <a:cs typeface="Aptos"/>
              </a:rPr>
              <a:t>Eso aumenta el riesgo de reservas cruzadas, saldos olvidados y datos duplicados.</a:t>
            </a:r>
          </a:p>
        </p:txBody>
      </p:sp>
      <p:sp>
        <p:nvSpPr>
          <p:cNvPr id="7" name="">
            <a:extLst xmlns:a="http://schemas.openxmlformats.org/drawingml/2006/main">
              <a:ext uri="{FF2B5EF4-FFF2-40B4-BE49-F238E27FC236}">
                <a16:creationId xmlns:a16="http://schemas.microsoft.com/office/drawing/2014/main" id="{60C3BB01-6C88-4ACE-BC4B-A35AA6E02B62}"/>
              </a:ext>
            </a:extLst>
          </p:cNvPr>
          <p:cNvSpPr>
            <a:spLocks xmlns:a="http://schemas.openxmlformats.org/drawingml/2006/main" noGrp="1"/>
          </p:cNvSpPr>
          <p:nvPr/>
        </p:nvSpPr>
        <p:spPr>
          <a:xfrm xmlns:a="http://schemas.openxmlformats.org/drawingml/2006/main">
            <a:off x="685800" y="4438650"/>
            <a:ext cx="5676900" cy="1200150"/>
          </a:xfrm>
          <a:prstGeom xmlns:a="http://schemas.openxmlformats.org/drawingml/2006/main" prst="roundRect">
            <a:avLst>
              <a:gd name="adj" fmla="val 9524"/>
            </a:avLst>
          </a:prstGeom>
          <a:solidFill xmlns:a="http://schemas.openxmlformats.org/drawingml/2006/main">
            <a:srgbClr val="DDECE8"/>
          </a:solidFill>
          <a:ln xmlns:a="http://schemas.openxmlformats.org/drawingml/2006/main" w="0">
            <a:solidFill>
              <a:srgbClr val="DDECE8"/>
            </a:solidFill>
            <a:prstDash val="solid"/>
          </a:ln>
        </p:spPr>
      </p:sp>
      <p:sp>
        <p:nvSpPr>
          <p:cNvPr id="8" name="">
            <a:extLst xmlns:a="http://schemas.openxmlformats.org/drawingml/2006/main">
              <a:ext uri="{FF2B5EF4-FFF2-40B4-BE49-F238E27FC236}">
                <a16:creationId xmlns:a16="http://schemas.microsoft.com/office/drawing/2014/main" id="{6E332101-6CD0-4784-B6E2-A6998C2BAFFA}"/>
              </a:ext>
            </a:extLst>
          </p:cNvPr>
          <p:cNvSpPr>
            <a:spLocks xmlns:a="http://schemas.openxmlformats.org/drawingml/2006/main" noGrp="1"/>
          </p:cNvSpPr>
          <p:nvPr/>
        </p:nvSpPr>
        <p:spPr>
          <a:xfrm xmlns:a="http://schemas.openxmlformats.org/drawingml/2006/main">
            <a:off x="895350" y="46291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F6B65"/>
                </a:solidFill>
                <a:latin typeface="Aptos"/>
                <a:ea typeface="Aptos"/>
                <a:cs typeface="Aptos"/>
              </a:defRPr>
            </a:pPr>
            <a:r>
              <a:rPr sz="975" b="1">
                <a:solidFill>
                  <a:srgbClr val="1F6B65"/>
                </a:solidFill>
                <a:latin typeface="Aptos"/>
                <a:ea typeface="Aptos"/>
                <a:cs typeface="Aptos"/>
              </a:rPr>
              <a:t>PROPUESTA</a:t>
            </a:r>
          </a:p>
        </p:txBody>
      </p:sp>
      <p:sp>
        <p:nvSpPr>
          <p:cNvPr id="9" name="">
            <a:extLst xmlns:a="http://schemas.openxmlformats.org/drawingml/2006/main">
              <a:ext uri="{FF2B5EF4-FFF2-40B4-BE49-F238E27FC236}">
                <a16:creationId xmlns:a16="http://schemas.microsoft.com/office/drawing/2014/main" id="{87DF0EE8-62D3-4517-87D7-1917E63729F1}"/>
              </a:ext>
            </a:extLst>
          </p:cNvPr>
          <p:cNvSpPr>
            <a:spLocks xmlns:a="http://schemas.openxmlformats.org/drawingml/2006/main" noGrp="1"/>
          </p:cNvSpPr>
          <p:nvPr/>
        </p:nvSpPr>
        <p:spPr>
          <a:xfrm xmlns:a="http://schemas.openxmlformats.org/drawingml/2006/main">
            <a:off x="895350" y="4953000"/>
            <a:ext cx="5219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23B3A"/>
                </a:solidFill>
                <a:latin typeface="Aptos"/>
                <a:ea typeface="Aptos"/>
                <a:cs typeface="Aptos"/>
              </a:defRPr>
            </a:pPr>
            <a:r>
              <a:rPr sz="1575" b="1">
                <a:solidFill>
                  <a:srgbClr val="123B3A"/>
                </a:solidFill>
                <a:latin typeface="Aptos"/>
                <a:ea typeface="Aptos"/>
                <a:cs typeface="Aptos"/>
              </a:rPr>
              <a:t>Centralizar la operación diaria y mantener cada cambio conectado con la base de datos.</a:t>
            </a:r>
          </a:p>
        </p:txBody>
      </p:sp>
      <p:sp>
        <p:nvSpPr>
          <p:cNvPr id="10" name="">
            <a:extLst xmlns:a="http://schemas.openxmlformats.org/drawingml/2006/main">
              <a:ext uri="{FF2B5EF4-FFF2-40B4-BE49-F238E27FC236}">
                <a16:creationId xmlns:a16="http://schemas.microsoft.com/office/drawing/2014/main" id="{FCB447F9-A938-495F-8E03-6AD3973E2392}"/>
              </a:ext>
            </a:extLst>
          </p:cNvPr>
          <p:cNvSpPr>
            <a:spLocks xmlns:a="http://schemas.openxmlformats.org/drawingml/2006/main" noGrp="1"/>
          </p:cNvSpPr>
          <p:nvPr/>
        </p:nvSpPr>
        <p:spPr>
          <a:xfrm xmlns:a="http://schemas.openxmlformats.org/drawingml/2006/main">
            <a:off x="7448550" y="5172075"/>
            <a:ext cx="3676650" cy="628650"/>
          </a:xfrm>
          <a:prstGeom xmlns:a="http://schemas.openxmlformats.org/drawingml/2006/main" prst="roundRect">
            <a:avLst>
              <a:gd name="adj" fmla="val 18182"/>
            </a:avLst>
          </a:prstGeom>
          <a:solidFill xmlns:a="http://schemas.openxmlformats.org/drawingml/2006/main">
            <a:srgbClr val="123B3A"/>
          </a:solidFill>
          <a:ln xmlns:a="http://schemas.openxmlformats.org/drawingml/2006/main" w="0">
            <a:solidFill>
              <a:srgbClr val="123B3A"/>
            </a:solidFill>
            <a:prstDash val="solid"/>
          </a:ln>
        </p:spPr>
      </p:sp>
      <p:sp>
        <p:nvSpPr>
          <p:cNvPr id="11" name="">
            <a:extLst xmlns:a="http://schemas.openxmlformats.org/drawingml/2006/main">
              <a:ext uri="{FF2B5EF4-FFF2-40B4-BE49-F238E27FC236}">
                <a16:creationId xmlns:a16="http://schemas.microsoft.com/office/drawing/2014/main" id="{4415C1DE-A3E7-46D3-889D-160500778B1E}"/>
              </a:ext>
            </a:extLst>
          </p:cNvPr>
          <p:cNvSpPr>
            <a:spLocks xmlns:a="http://schemas.openxmlformats.org/drawingml/2006/main" noGrp="1"/>
          </p:cNvSpPr>
          <p:nvPr/>
        </p:nvSpPr>
        <p:spPr>
          <a:xfrm xmlns:a="http://schemas.openxmlformats.org/drawingml/2006/main">
            <a:off x="7620000" y="5267325"/>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71% de ocupación promedio en hospedajes durante Fiestas Patrias 2025</a:t>
            </a:r>
          </a:p>
        </p:txBody>
      </p:sp>
    </p:spTree>
    <p:extLst>
      <p:ext uri="{BB962C8B-B14F-4D97-AF65-F5344CB8AC3E}">
        <p14:creationId xmlns:p14="http://schemas.microsoft.com/office/powerpoint/2010/main" val="1260609884"/>
      </p:ext>
    </p:extLst>
  </p:cSld>
</p:sld>
</file>

<file path=ppt/slides/slide3.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D55A6C5-509E-4E26-AAAC-88C3E55E4918}"/>
              </a:ext>
            </a:extLst>
          </p:cNvPr>
          <p:cNvSpPr>
            <a:spLocks xmlns:a="http://schemas.openxmlformats.org/drawingml/2006/main" noGrp="1"/>
          </p:cNvSpPr>
          <p:nvPr/>
        </p:nvSpPr>
        <p:spPr>
          <a:xfrm xmlns:a="http://schemas.openxmlformats.org/drawingml/2006/main">
            <a:off x="685800" y="6477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a:solidFill>
                  <a:srgbClr val="123B3A"/>
                </a:solidFill>
                <a:latin typeface="Aptos"/>
                <a:ea typeface="Aptos"/>
                <a:cs typeface="Aptos"/>
              </a:defRPr>
            </a:pPr>
            <a:r>
              <a:rPr sz="2700" b="1">
                <a:solidFill>
                  <a:srgbClr val="123B3A"/>
                </a:solidFill>
                <a:latin typeface="Aptos"/>
                <a:ea typeface="Aptos"/>
                <a:cs typeface="Aptos"/>
              </a:rPr>
              <a:t>Toda la estadía sigue una secuencia controlada</a:t>
            </a:r>
          </a:p>
        </p:txBody>
      </p:sp>
      <p:sp>
        <p:nvSpPr>
          <p:cNvPr id="2" name="">
            <a:extLst xmlns:a="http://schemas.openxmlformats.org/drawingml/2006/main">
              <a:ext uri="{FF2B5EF4-FFF2-40B4-BE49-F238E27FC236}">
                <a16:creationId xmlns:a16="http://schemas.microsoft.com/office/drawing/2014/main" id="{0DECA693-9502-4410-A2D9-46885FEAA5B6}"/>
              </a:ext>
            </a:extLst>
          </p:cNvPr>
          <p:cNvSpPr>
            <a:spLocks xmlns:a="http://schemas.openxmlformats.org/drawingml/2006/main" noGrp="1"/>
          </p:cNvSpPr>
          <p:nvPr/>
        </p:nvSpPr>
        <p:spPr>
          <a:xfrm xmlns:a="http://schemas.openxmlformats.org/drawingml/2006/main">
            <a:off x="11106150" y="34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5A6866"/>
                </a:solidFill>
                <a:latin typeface="Aptos"/>
                <a:ea typeface="Aptos"/>
                <a:cs typeface="Aptos"/>
              </a:defRPr>
            </a:pPr>
            <a:r>
              <a:rPr sz="900" b="1">
                <a:solidFill>
                  <a:srgbClr val="5A6866"/>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0A35F72C-3051-450E-AFA3-6DD133A5D910}"/>
              </a:ext>
            </a:extLst>
          </p:cNvPr>
          <p:cNvSpPr>
            <a:spLocks xmlns:a="http://schemas.openxmlformats.org/drawingml/2006/main" noGrp="1"/>
          </p:cNvSpPr>
          <p:nvPr/>
        </p:nvSpPr>
        <p:spPr>
          <a:xfrm xmlns:a="http://schemas.openxmlformats.org/drawingml/2006/main">
            <a:off x="2933700" y="2619375"/>
            <a:ext cx="590550" cy="0"/>
          </a:xfrm>
          <a:prstGeom xmlns:a="http://schemas.openxmlformats.org/drawingml/2006/main" prst="line">
            <a:avLst/>
          </a:prstGeom>
          <a:noFill xmlns:a="http://schemas.openxmlformats.org/drawingml/2006/main"/>
          <a:ln xmlns:a="http://schemas.openxmlformats.org/drawingml/2006/main" w="28575">
            <a:solidFill>
              <a:srgbClr val="C99A5B"/>
            </a:solidFill>
            <a:prstDash val="solid"/>
          </a:ln>
        </p:spPr>
      </p:sp>
      <p:sp>
        <p:nvSpPr>
          <p:cNvPr id="4" name="">
            <a:extLst xmlns:a="http://schemas.openxmlformats.org/drawingml/2006/main">
              <a:ext uri="{FF2B5EF4-FFF2-40B4-BE49-F238E27FC236}">
                <a16:creationId xmlns:a16="http://schemas.microsoft.com/office/drawing/2014/main" id="{D1A5C7B8-39C0-4AA7-84FA-12448DE4D5F6}"/>
              </a:ext>
            </a:extLst>
          </p:cNvPr>
          <p:cNvSpPr>
            <a:spLocks xmlns:a="http://schemas.openxmlformats.org/drawingml/2006/main" noGrp="1"/>
          </p:cNvSpPr>
          <p:nvPr/>
        </p:nvSpPr>
        <p:spPr>
          <a:xfrm xmlns:a="http://schemas.openxmlformats.org/drawingml/2006/main">
            <a:off x="5619750" y="2619375"/>
            <a:ext cx="590550" cy="0"/>
          </a:xfrm>
          <a:prstGeom xmlns:a="http://schemas.openxmlformats.org/drawingml/2006/main" prst="line">
            <a:avLst/>
          </a:prstGeom>
          <a:noFill xmlns:a="http://schemas.openxmlformats.org/drawingml/2006/main"/>
          <a:ln xmlns:a="http://schemas.openxmlformats.org/drawingml/2006/main" w="28575">
            <a:solidFill>
              <a:srgbClr val="C99A5B"/>
            </a:solidFill>
            <a:prstDash val="solid"/>
          </a:ln>
        </p:spPr>
      </p:sp>
      <p:sp>
        <p:nvSpPr>
          <p:cNvPr id="5" name="">
            <a:extLst xmlns:a="http://schemas.openxmlformats.org/drawingml/2006/main">
              <a:ext uri="{FF2B5EF4-FFF2-40B4-BE49-F238E27FC236}">
                <a16:creationId xmlns:a16="http://schemas.microsoft.com/office/drawing/2014/main" id="{AB0BFDAA-15B5-41A9-A320-A68C86BE999F}"/>
              </a:ext>
            </a:extLst>
          </p:cNvPr>
          <p:cNvSpPr>
            <a:spLocks xmlns:a="http://schemas.openxmlformats.org/drawingml/2006/main" noGrp="1"/>
          </p:cNvSpPr>
          <p:nvPr/>
        </p:nvSpPr>
        <p:spPr>
          <a:xfrm xmlns:a="http://schemas.openxmlformats.org/drawingml/2006/main">
            <a:off x="8305800" y="2619375"/>
            <a:ext cx="590550" cy="0"/>
          </a:xfrm>
          <a:prstGeom xmlns:a="http://schemas.openxmlformats.org/drawingml/2006/main" prst="line">
            <a:avLst/>
          </a:prstGeom>
          <a:noFill xmlns:a="http://schemas.openxmlformats.org/drawingml/2006/main"/>
          <a:ln xmlns:a="http://schemas.openxmlformats.org/drawingml/2006/main" w="28575">
            <a:solidFill>
              <a:srgbClr val="C99A5B"/>
            </a:solidFill>
            <a:prstDash val="solid"/>
          </a:ln>
        </p:spPr>
      </p:sp>
      <p:sp>
        <p:nvSpPr>
          <p:cNvPr id="6" name="">
            <a:extLst xmlns:a="http://schemas.openxmlformats.org/drawingml/2006/main">
              <a:ext uri="{FF2B5EF4-FFF2-40B4-BE49-F238E27FC236}">
                <a16:creationId xmlns:a16="http://schemas.microsoft.com/office/drawing/2014/main" id="{94623A1A-B543-41D4-AC5F-904383068040}"/>
              </a:ext>
            </a:extLst>
          </p:cNvPr>
          <p:cNvSpPr>
            <a:spLocks xmlns:a="http://schemas.openxmlformats.org/drawingml/2006/main" noGrp="1"/>
          </p:cNvSpPr>
          <p:nvPr/>
        </p:nvSpPr>
        <p:spPr>
          <a:xfrm xmlns:a="http://schemas.openxmlformats.org/drawingml/2006/main">
            <a:off x="9944100" y="3143250"/>
            <a:ext cx="0" cy="1200150"/>
          </a:xfrm>
          <a:prstGeom xmlns:a="http://schemas.openxmlformats.org/drawingml/2006/main" prst="line">
            <a:avLst/>
          </a:prstGeom>
          <a:noFill xmlns:a="http://schemas.openxmlformats.org/drawingml/2006/main"/>
          <a:ln xmlns:a="http://schemas.openxmlformats.org/drawingml/2006/main" w="28575">
            <a:solidFill>
              <a:srgbClr val="C99A5B"/>
            </a:solidFill>
            <a:prstDash val="solid"/>
          </a:ln>
        </p:spPr>
      </p:sp>
      <p:sp>
        <p:nvSpPr>
          <p:cNvPr id="7" name="">
            <a:extLst xmlns:a="http://schemas.openxmlformats.org/drawingml/2006/main">
              <a:ext uri="{FF2B5EF4-FFF2-40B4-BE49-F238E27FC236}">
                <a16:creationId xmlns:a16="http://schemas.microsoft.com/office/drawing/2014/main" id="{07F7918F-B866-401F-8432-42D67742B317}"/>
              </a:ext>
            </a:extLst>
          </p:cNvPr>
          <p:cNvSpPr>
            <a:spLocks xmlns:a="http://schemas.openxmlformats.org/drawingml/2006/main" noGrp="1"/>
          </p:cNvSpPr>
          <p:nvPr/>
        </p:nvSpPr>
        <p:spPr>
          <a:xfrm xmlns:a="http://schemas.openxmlformats.org/drawingml/2006/main">
            <a:off x="8305800" y="4867275"/>
            <a:ext cx="590550" cy="0"/>
          </a:xfrm>
          <a:prstGeom xmlns:a="http://schemas.openxmlformats.org/drawingml/2006/main" prst="line">
            <a:avLst/>
          </a:prstGeom>
          <a:noFill xmlns:a="http://schemas.openxmlformats.org/drawingml/2006/main"/>
          <a:ln xmlns:a="http://schemas.openxmlformats.org/drawingml/2006/main" w="28575">
            <a:solidFill>
              <a:srgbClr val="C99A5B"/>
            </a:solidFill>
            <a:prstDash val="solid"/>
          </a:ln>
        </p:spPr>
      </p:sp>
      <p:sp>
        <p:nvSpPr>
          <p:cNvPr id="8" name="">
            <a:extLst xmlns:a="http://schemas.openxmlformats.org/drawingml/2006/main">
              <a:ext uri="{FF2B5EF4-FFF2-40B4-BE49-F238E27FC236}">
                <a16:creationId xmlns:a16="http://schemas.microsoft.com/office/drawing/2014/main" id="{5BD3542C-A5C7-45A9-AF36-4B8F07CCB6EE}"/>
              </a:ext>
            </a:extLst>
          </p:cNvPr>
          <p:cNvSpPr>
            <a:spLocks xmlns:a="http://schemas.openxmlformats.org/drawingml/2006/main" noGrp="1"/>
          </p:cNvSpPr>
          <p:nvPr/>
        </p:nvSpPr>
        <p:spPr>
          <a:xfrm xmlns:a="http://schemas.openxmlformats.org/drawingml/2006/main">
            <a:off x="5619750" y="4867275"/>
            <a:ext cx="590550" cy="0"/>
          </a:xfrm>
          <a:prstGeom xmlns:a="http://schemas.openxmlformats.org/drawingml/2006/main" prst="line">
            <a:avLst/>
          </a:prstGeom>
          <a:noFill xmlns:a="http://schemas.openxmlformats.org/drawingml/2006/main"/>
          <a:ln xmlns:a="http://schemas.openxmlformats.org/drawingml/2006/main" w="28575">
            <a:solidFill>
              <a:srgbClr val="C99A5B"/>
            </a:solidFill>
            <a:prstDash val="solid"/>
          </a:ln>
        </p:spPr>
      </p:sp>
      <p:sp>
        <p:nvSpPr>
          <p:cNvPr id="9" name="">
            <a:extLst xmlns:a="http://schemas.openxmlformats.org/drawingml/2006/main">
              <a:ext uri="{FF2B5EF4-FFF2-40B4-BE49-F238E27FC236}">
                <a16:creationId xmlns:a16="http://schemas.microsoft.com/office/drawing/2014/main" id="{53AACF34-220F-4E73-A148-E7615F4FFC97}"/>
              </a:ext>
            </a:extLst>
          </p:cNvPr>
          <p:cNvSpPr>
            <a:spLocks xmlns:a="http://schemas.openxmlformats.org/drawingml/2006/main" noGrp="1"/>
          </p:cNvSpPr>
          <p:nvPr/>
        </p:nvSpPr>
        <p:spPr>
          <a:xfrm xmlns:a="http://schemas.openxmlformats.org/drawingml/2006/main">
            <a:off x="2933700" y="4867275"/>
            <a:ext cx="590550" cy="0"/>
          </a:xfrm>
          <a:prstGeom xmlns:a="http://schemas.openxmlformats.org/drawingml/2006/main" prst="line">
            <a:avLst/>
          </a:prstGeom>
          <a:noFill xmlns:a="http://schemas.openxmlformats.org/drawingml/2006/main"/>
          <a:ln xmlns:a="http://schemas.openxmlformats.org/drawingml/2006/main" w="28575">
            <a:solidFill>
              <a:srgbClr val="C99A5B"/>
            </a:solidFill>
            <a:prstDash val="solid"/>
          </a:ln>
        </p:spPr>
      </p:sp>
      <p:sp>
        <p:nvSpPr>
          <p:cNvPr id="10" name="">
            <a:extLst xmlns:a="http://schemas.openxmlformats.org/drawingml/2006/main">
              <a:ext uri="{FF2B5EF4-FFF2-40B4-BE49-F238E27FC236}">
                <a16:creationId xmlns:a16="http://schemas.microsoft.com/office/drawing/2014/main" id="{0D4D1E62-634A-4B67-8B58-65B92F944758}"/>
              </a:ext>
            </a:extLst>
          </p:cNvPr>
          <p:cNvSpPr>
            <a:spLocks xmlns:a="http://schemas.openxmlformats.org/drawingml/2006/main" noGrp="1"/>
          </p:cNvSpPr>
          <p:nvPr/>
        </p:nvSpPr>
        <p:spPr>
          <a:xfrm xmlns:a="http://schemas.openxmlformats.org/drawingml/2006/main">
            <a:off x="838200" y="2095500"/>
            <a:ext cx="2095500"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CBD7D3"/>
            </a:solidFill>
            <a:prstDash val="solid"/>
          </a:ln>
        </p:spPr>
      </p:sp>
      <p:sp>
        <p:nvSpPr>
          <p:cNvPr id="11" name="">
            <a:extLst xmlns:a="http://schemas.openxmlformats.org/drawingml/2006/main">
              <a:ext uri="{FF2B5EF4-FFF2-40B4-BE49-F238E27FC236}">
                <a16:creationId xmlns:a16="http://schemas.microsoft.com/office/drawing/2014/main" id="{CE14F025-DE09-4022-97D3-D711F728BC92}"/>
              </a:ext>
            </a:extLst>
          </p:cNvPr>
          <p:cNvSpPr>
            <a:spLocks xmlns:a="http://schemas.openxmlformats.org/drawingml/2006/main" noGrp="1"/>
          </p:cNvSpPr>
          <p:nvPr/>
        </p:nvSpPr>
        <p:spPr>
          <a:xfrm xmlns:a="http://schemas.openxmlformats.org/drawingml/2006/main">
            <a:off x="1009650" y="22479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C99A5B"/>
                </a:solidFill>
                <a:latin typeface="Aptos"/>
                <a:ea typeface="Aptos"/>
                <a:cs typeface="Aptos"/>
              </a:defRPr>
            </a:pPr>
            <a:r>
              <a:rPr sz="1875" b="1">
                <a:solidFill>
                  <a:srgbClr val="C99A5B"/>
                </a:solidFill>
                <a:latin typeface="Aptos"/>
                <a:ea typeface="Aptos"/>
                <a:cs typeface="Aptos"/>
              </a:rPr>
              <a:t>01</a:t>
            </a:r>
          </a:p>
        </p:txBody>
      </p:sp>
      <p:sp>
        <p:nvSpPr>
          <p:cNvPr id="12" name="">
            <a:extLst xmlns:a="http://schemas.openxmlformats.org/drawingml/2006/main">
              <a:ext uri="{FF2B5EF4-FFF2-40B4-BE49-F238E27FC236}">
                <a16:creationId xmlns:a16="http://schemas.microsoft.com/office/drawing/2014/main" id="{1093699A-5331-4F98-A4E5-7DE3D422896D}"/>
              </a:ext>
            </a:extLst>
          </p:cNvPr>
          <p:cNvSpPr>
            <a:spLocks xmlns:a="http://schemas.openxmlformats.org/drawingml/2006/main" noGrp="1"/>
          </p:cNvSpPr>
          <p:nvPr/>
        </p:nvSpPr>
        <p:spPr>
          <a:xfrm xmlns:a="http://schemas.openxmlformats.org/drawingml/2006/main">
            <a:off x="1447800" y="2266950"/>
            <a:ext cx="1314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23B3A"/>
                </a:solidFill>
                <a:latin typeface="Aptos"/>
                <a:ea typeface="Aptos"/>
                <a:cs typeface="Aptos"/>
              </a:defRPr>
            </a:pPr>
            <a:r>
              <a:rPr sz="1350" b="1">
                <a:solidFill>
                  <a:srgbClr val="123B3A"/>
                </a:solidFill>
                <a:latin typeface="Aptos"/>
                <a:ea typeface="Aptos"/>
                <a:cs typeface="Aptos"/>
              </a:rPr>
              <a:t>Registrar o buscar</a:t>
            </a:r>
          </a:p>
          <a:p xmlns:a="http://schemas.openxmlformats.org/drawingml/2006/main">
            <a:pPr algn="l">
              <a:defRPr sz="1350" b="1">
                <a:solidFill>
                  <a:srgbClr val="123B3A"/>
                </a:solidFill>
                <a:latin typeface="Aptos"/>
                <a:ea typeface="Aptos"/>
                <a:cs typeface="Aptos"/>
              </a:defRPr>
            </a:pPr>
            <a:r>
              <a:rPr sz="1350" b="1">
                <a:solidFill>
                  <a:srgbClr val="123B3A"/>
                </a:solidFill>
                <a:latin typeface="Aptos"/>
                <a:ea typeface="Aptos"/>
                <a:cs typeface="Aptos"/>
              </a:rPr>
              <a:t>al huésped</a:t>
            </a:r>
          </a:p>
        </p:txBody>
      </p:sp>
      <p:sp>
        <p:nvSpPr>
          <p:cNvPr id="13" name="">
            <a:extLst xmlns:a="http://schemas.openxmlformats.org/drawingml/2006/main">
              <a:ext uri="{FF2B5EF4-FFF2-40B4-BE49-F238E27FC236}">
                <a16:creationId xmlns:a16="http://schemas.microsoft.com/office/drawing/2014/main" id="{66B13607-E6CC-4D6C-A49A-7A61FE215349}"/>
              </a:ext>
            </a:extLst>
          </p:cNvPr>
          <p:cNvSpPr>
            <a:spLocks xmlns:a="http://schemas.openxmlformats.org/drawingml/2006/main" noGrp="1"/>
          </p:cNvSpPr>
          <p:nvPr/>
        </p:nvSpPr>
        <p:spPr>
          <a:xfrm xmlns:a="http://schemas.openxmlformats.org/drawingml/2006/main">
            <a:off x="3524250" y="2095500"/>
            <a:ext cx="2095500"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CBD7D3"/>
            </a:solidFill>
            <a:prstDash val="solid"/>
          </a:ln>
        </p:spPr>
      </p:sp>
      <p:sp>
        <p:nvSpPr>
          <p:cNvPr id="14" name="">
            <a:extLst xmlns:a="http://schemas.openxmlformats.org/drawingml/2006/main">
              <a:ext uri="{FF2B5EF4-FFF2-40B4-BE49-F238E27FC236}">
                <a16:creationId xmlns:a16="http://schemas.microsoft.com/office/drawing/2014/main" id="{B5DFB95F-8A05-4E14-9772-AB8E61A86484}"/>
              </a:ext>
            </a:extLst>
          </p:cNvPr>
          <p:cNvSpPr>
            <a:spLocks xmlns:a="http://schemas.openxmlformats.org/drawingml/2006/main" noGrp="1"/>
          </p:cNvSpPr>
          <p:nvPr/>
        </p:nvSpPr>
        <p:spPr>
          <a:xfrm xmlns:a="http://schemas.openxmlformats.org/drawingml/2006/main">
            <a:off x="3695700" y="22479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C99A5B"/>
                </a:solidFill>
                <a:latin typeface="Aptos"/>
                <a:ea typeface="Aptos"/>
                <a:cs typeface="Aptos"/>
              </a:defRPr>
            </a:pPr>
            <a:r>
              <a:rPr sz="1875" b="1">
                <a:solidFill>
                  <a:srgbClr val="C99A5B"/>
                </a:solidFill>
                <a:latin typeface="Aptos"/>
                <a:ea typeface="Aptos"/>
                <a:cs typeface="Aptos"/>
              </a:rPr>
              <a:t>02</a:t>
            </a:r>
          </a:p>
        </p:txBody>
      </p:sp>
      <p:sp>
        <p:nvSpPr>
          <p:cNvPr id="15" name="">
            <a:extLst xmlns:a="http://schemas.openxmlformats.org/drawingml/2006/main">
              <a:ext uri="{FF2B5EF4-FFF2-40B4-BE49-F238E27FC236}">
                <a16:creationId xmlns:a16="http://schemas.microsoft.com/office/drawing/2014/main" id="{59BA62CE-770C-443D-8A31-3E46D527842E}"/>
              </a:ext>
            </a:extLst>
          </p:cNvPr>
          <p:cNvSpPr>
            <a:spLocks xmlns:a="http://schemas.openxmlformats.org/drawingml/2006/main" noGrp="1"/>
          </p:cNvSpPr>
          <p:nvPr/>
        </p:nvSpPr>
        <p:spPr>
          <a:xfrm xmlns:a="http://schemas.openxmlformats.org/drawingml/2006/main">
            <a:off x="4133850" y="2266950"/>
            <a:ext cx="1314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23B3A"/>
                </a:solidFill>
                <a:latin typeface="Aptos"/>
                <a:ea typeface="Aptos"/>
                <a:cs typeface="Aptos"/>
              </a:defRPr>
            </a:pPr>
            <a:r>
              <a:rPr sz="1350" b="1">
                <a:solidFill>
                  <a:srgbClr val="123B3A"/>
                </a:solidFill>
                <a:latin typeface="Aptos"/>
                <a:ea typeface="Aptos"/>
                <a:cs typeface="Aptos"/>
              </a:rPr>
              <a:t>Elegir fechas</a:t>
            </a:r>
          </a:p>
          <a:p xmlns:a="http://schemas.openxmlformats.org/drawingml/2006/main">
            <a:pPr algn="l">
              <a:defRPr sz="1350" b="1">
                <a:solidFill>
                  <a:srgbClr val="123B3A"/>
                </a:solidFill>
                <a:latin typeface="Aptos"/>
                <a:ea typeface="Aptos"/>
                <a:cs typeface="Aptos"/>
              </a:defRPr>
            </a:pPr>
            <a:r>
              <a:rPr sz="1350" b="1">
                <a:solidFill>
                  <a:srgbClr val="123B3A"/>
                </a:solidFill>
                <a:latin typeface="Aptos"/>
                <a:ea typeface="Aptos"/>
                <a:cs typeface="Aptos"/>
              </a:rPr>
              <a:t>de estadía</a:t>
            </a:r>
          </a:p>
        </p:txBody>
      </p:sp>
      <p:sp>
        <p:nvSpPr>
          <p:cNvPr id="16" name="">
            <a:extLst xmlns:a="http://schemas.openxmlformats.org/drawingml/2006/main">
              <a:ext uri="{FF2B5EF4-FFF2-40B4-BE49-F238E27FC236}">
                <a16:creationId xmlns:a16="http://schemas.microsoft.com/office/drawing/2014/main" id="{5E646625-EEFC-4857-BF44-8CEAB7EB3008}"/>
              </a:ext>
            </a:extLst>
          </p:cNvPr>
          <p:cNvSpPr>
            <a:spLocks xmlns:a="http://schemas.openxmlformats.org/drawingml/2006/main" noGrp="1"/>
          </p:cNvSpPr>
          <p:nvPr/>
        </p:nvSpPr>
        <p:spPr>
          <a:xfrm xmlns:a="http://schemas.openxmlformats.org/drawingml/2006/main">
            <a:off x="6210300" y="2095500"/>
            <a:ext cx="2095500"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CBD7D3"/>
            </a:solidFill>
            <a:prstDash val="solid"/>
          </a:ln>
        </p:spPr>
      </p:sp>
      <p:sp>
        <p:nvSpPr>
          <p:cNvPr id="17" name="">
            <a:extLst xmlns:a="http://schemas.openxmlformats.org/drawingml/2006/main">
              <a:ext uri="{FF2B5EF4-FFF2-40B4-BE49-F238E27FC236}">
                <a16:creationId xmlns:a16="http://schemas.microsoft.com/office/drawing/2014/main" id="{65E25CA8-47E1-4CC3-8873-3BCBFF49572D}"/>
              </a:ext>
            </a:extLst>
          </p:cNvPr>
          <p:cNvSpPr>
            <a:spLocks xmlns:a="http://schemas.openxmlformats.org/drawingml/2006/main" noGrp="1"/>
          </p:cNvSpPr>
          <p:nvPr/>
        </p:nvSpPr>
        <p:spPr>
          <a:xfrm xmlns:a="http://schemas.openxmlformats.org/drawingml/2006/main">
            <a:off x="6381750" y="22479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C99A5B"/>
                </a:solidFill>
                <a:latin typeface="Aptos"/>
                <a:ea typeface="Aptos"/>
                <a:cs typeface="Aptos"/>
              </a:defRPr>
            </a:pPr>
            <a:r>
              <a:rPr sz="1875" b="1">
                <a:solidFill>
                  <a:srgbClr val="C99A5B"/>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0D5F2E38-8D53-4E27-BF26-49F689F72E34}"/>
              </a:ext>
            </a:extLst>
          </p:cNvPr>
          <p:cNvSpPr>
            <a:spLocks xmlns:a="http://schemas.openxmlformats.org/drawingml/2006/main" noGrp="1"/>
          </p:cNvSpPr>
          <p:nvPr/>
        </p:nvSpPr>
        <p:spPr>
          <a:xfrm xmlns:a="http://schemas.openxmlformats.org/drawingml/2006/main">
            <a:off x="6819900" y="2266950"/>
            <a:ext cx="1314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23B3A"/>
                </a:solidFill>
                <a:latin typeface="Aptos"/>
                <a:ea typeface="Aptos"/>
                <a:cs typeface="Aptos"/>
              </a:defRPr>
            </a:pPr>
            <a:r>
              <a:rPr sz="1350" b="1">
                <a:solidFill>
                  <a:srgbClr val="123B3A"/>
                </a:solidFill>
                <a:latin typeface="Aptos"/>
                <a:ea typeface="Aptos"/>
                <a:cs typeface="Aptos"/>
              </a:rPr>
              <a:t>Consultar habitación</a:t>
            </a:r>
          </a:p>
          <a:p xmlns:a="http://schemas.openxmlformats.org/drawingml/2006/main">
            <a:pPr algn="l">
              <a:defRPr sz="1350" b="1">
                <a:solidFill>
                  <a:srgbClr val="123B3A"/>
                </a:solidFill>
                <a:latin typeface="Aptos"/>
                <a:ea typeface="Aptos"/>
                <a:cs typeface="Aptos"/>
              </a:defRPr>
            </a:pPr>
            <a:r>
              <a:rPr sz="1350" b="1">
                <a:solidFill>
                  <a:srgbClr val="123B3A"/>
                </a:solidFill>
                <a:latin typeface="Aptos"/>
                <a:ea typeface="Aptos"/>
                <a:cs typeface="Aptos"/>
              </a:rPr>
              <a:t>disponible</a:t>
            </a:r>
          </a:p>
        </p:txBody>
      </p:sp>
      <p:sp>
        <p:nvSpPr>
          <p:cNvPr id="19" name="">
            <a:extLst xmlns:a="http://schemas.openxmlformats.org/drawingml/2006/main">
              <a:ext uri="{FF2B5EF4-FFF2-40B4-BE49-F238E27FC236}">
                <a16:creationId xmlns:a16="http://schemas.microsoft.com/office/drawing/2014/main" id="{4349F27F-6405-43AA-9369-6244B534A270}"/>
              </a:ext>
            </a:extLst>
          </p:cNvPr>
          <p:cNvSpPr>
            <a:spLocks xmlns:a="http://schemas.openxmlformats.org/drawingml/2006/main" noGrp="1"/>
          </p:cNvSpPr>
          <p:nvPr/>
        </p:nvSpPr>
        <p:spPr>
          <a:xfrm xmlns:a="http://schemas.openxmlformats.org/drawingml/2006/main">
            <a:off x="8896350" y="2095500"/>
            <a:ext cx="2095500"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CBD7D3"/>
            </a:solidFill>
            <a:prstDash val="solid"/>
          </a:ln>
        </p:spPr>
      </p:sp>
      <p:sp>
        <p:nvSpPr>
          <p:cNvPr id="20" name="">
            <a:extLst xmlns:a="http://schemas.openxmlformats.org/drawingml/2006/main">
              <a:ext uri="{FF2B5EF4-FFF2-40B4-BE49-F238E27FC236}">
                <a16:creationId xmlns:a16="http://schemas.microsoft.com/office/drawing/2014/main" id="{5FC0AC65-FBF0-49EC-A20E-5E11265AD8BC}"/>
              </a:ext>
            </a:extLst>
          </p:cNvPr>
          <p:cNvSpPr>
            <a:spLocks xmlns:a="http://schemas.openxmlformats.org/drawingml/2006/main" noGrp="1"/>
          </p:cNvSpPr>
          <p:nvPr/>
        </p:nvSpPr>
        <p:spPr>
          <a:xfrm xmlns:a="http://schemas.openxmlformats.org/drawingml/2006/main">
            <a:off x="9067800" y="22479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C99A5B"/>
                </a:solidFill>
                <a:latin typeface="Aptos"/>
                <a:ea typeface="Aptos"/>
                <a:cs typeface="Aptos"/>
              </a:defRPr>
            </a:pPr>
            <a:r>
              <a:rPr sz="1875" b="1">
                <a:solidFill>
                  <a:srgbClr val="C99A5B"/>
                </a:solidFill>
                <a:latin typeface="Aptos"/>
                <a:ea typeface="Aptos"/>
                <a:cs typeface="Aptos"/>
              </a:rPr>
              <a:t>04</a:t>
            </a:r>
          </a:p>
        </p:txBody>
      </p:sp>
      <p:sp>
        <p:nvSpPr>
          <p:cNvPr id="21" name="">
            <a:extLst xmlns:a="http://schemas.openxmlformats.org/drawingml/2006/main">
              <a:ext uri="{FF2B5EF4-FFF2-40B4-BE49-F238E27FC236}">
                <a16:creationId xmlns:a16="http://schemas.microsoft.com/office/drawing/2014/main" id="{1C411F45-A098-43E8-89A7-B9FBC3B94DB4}"/>
              </a:ext>
            </a:extLst>
          </p:cNvPr>
          <p:cNvSpPr>
            <a:spLocks xmlns:a="http://schemas.openxmlformats.org/drawingml/2006/main" noGrp="1"/>
          </p:cNvSpPr>
          <p:nvPr/>
        </p:nvSpPr>
        <p:spPr>
          <a:xfrm xmlns:a="http://schemas.openxmlformats.org/drawingml/2006/main">
            <a:off x="9505950" y="2266950"/>
            <a:ext cx="1314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23B3A"/>
                </a:solidFill>
                <a:latin typeface="Aptos"/>
                <a:ea typeface="Aptos"/>
                <a:cs typeface="Aptos"/>
              </a:defRPr>
            </a:pPr>
            <a:r>
              <a:rPr sz="1350" b="1">
                <a:solidFill>
                  <a:srgbClr val="123B3A"/>
                </a:solidFill>
                <a:latin typeface="Aptos"/>
                <a:ea typeface="Aptos"/>
                <a:cs typeface="Aptos"/>
              </a:rPr>
              <a:t>Confirmar</a:t>
            </a:r>
          </a:p>
          <a:p xmlns:a="http://schemas.openxmlformats.org/drawingml/2006/main">
            <a:pPr algn="l">
              <a:defRPr sz="1350" b="1">
                <a:solidFill>
                  <a:srgbClr val="123B3A"/>
                </a:solidFill>
                <a:latin typeface="Aptos"/>
                <a:ea typeface="Aptos"/>
                <a:cs typeface="Aptos"/>
              </a:defRPr>
            </a:pPr>
            <a:r>
              <a:rPr sz="1350" b="1">
                <a:solidFill>
                  <a:srgbClr val="123B3A"/>
                </a:solidFill>
                <a:latin typeface="Aptos"/>
                <a:ea typeface="Aptos"/>
                <a:cs typeface="Aptos"/>
              </a:rPr>
              <a:t>la reserva</a:t>
            </a:r>
          </a:p>
        </p:txBody>
      </p:sp>
      <p:sp>
        <p:nvSpPr>
          <p:cNvPr id="22" name="">
            <a:extLst xmlns:a="http://schemas.openxmlformats.org/drawingml/2006/main">
              <a:ext uri="{FF2B5EF4-FFF2-40B4-BE49-F238E27FC236}">
                <a16:creationId xmlns:a16="http://schemas.microsoft.com/office/drawing/2014/main" id="{F92A152F-D980-4C70-8C57-51B831BC1ADB}"/>
              </a:ext>
            </a:extLst>
          </p:cNvPr>
          <p:cNvSpPr>
            <a:spLocks xmlns:a="http://schemas.openxmlformats.org/drawingml/2006/main" noGrp="1"/>
          </p:cNvSpPr>
          <p:nvPr/>
        </p:nvSpPr>
        <p:spPr>
          <a:xfrm xmlns:a="http://schemas.openxmlformats.org/drawingml/2006/main">
            <a:off x="838200" y="4343400"/>
            <a:ext cx="2095500"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CBD7D3"/>
            </a:solidFill>
            <a:prstDash val="solid"/>
          </a:ln>
        </p:spPr>
      </p:sp>
      <p:sp>
        <p:nvSpPr>
          <p:cNvPr id="23" name="">
            <a:extLst xmlns:a="http://schemas.openxmlformats.org/drawingml/2006/main">
              <a:ext uri="{FF2B5EF4-FFF2-40B4-BE49-F238E27FC236}">
                <a16:creationId xmlns:a16="http://schemas.microsoft.com/office/drawing/2014/main" id="{9CAB0CF9-D00E-4F97-9484-F882A46C678D}"/>
              </a:ext>
            </a:extLst>
          </p:cNvPr>
          <p:cNvSpPr>
            <a:spLocks xmlns:a="http://schemas.openxmlformats.org/drawingml/2006/main" noGrp="1"/>
          </p:cNvSpPr>
          <p:nvPr/>
        </p:nvSpPr>
        <p:spPr>
          <a:xfrm xmlns:a="http://schemas.openxmlformats.org/drawingml/2006/main">
            <a:off x="1009650" y="44958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C99A5B"/>
                </a:solidFill>
                <a:latin typeface="Aptos"/>
                <a:ea typeface="Aptos"/>
                <a:cs typeface="Aptos"/>
              </a:defRPr>
            </a:pPr>
            <a:r>
              <a:rPr sz="1875" b="1">
                <a:solidFill>
                  <a:srgbClr val="C99A5B"/>
                </a:solidFill>
                <a:latin typeface="Aptos"/>
                <a:ea typeface="Aptos"/>
                <a:cs typeface="Aptos"/>
              </a:rPr>
              <a:t>08</a:t>
            </a:r>
          </a:p>
        </p:txBody>
      </p:sp>
      <p:sp>
        <p:nvSpPr>
          <p:cNvPr id="24" name="">
            <a:extLst xmlns:a="http://schemas.openxmlformats.org/drawingml/2006/main">
              <a:ext uri="{FF2B5EF4-FFF2-40B4-BE49-F238E27FC236}">
                <a16:creationId xmlns:a16="http://schemas.microsoft.com/office/drawing/2014/main" id="{4600DD22-7D9C-4EAB-96E2-D186094C8A6D}"/>
              </a:ext>
            </a:extLst>
          </p:cNvPr>
          <p:cNvSpPr>
            <a:spLocks xmlns:a="http://schemas.openxmlformats.org/drawingml/2006/main" noGrp="1"/>
          </p:cNvSpPr>
          <p:nvPr/>
        </p:nvSpPr>
        <p:spPr>
          <a:xfrm xmlns:a="http://schemas.openxmlformats.org/drawingml/2006/main">
            <a:off x="1447800" y="4514850"/>
            <a:ext cx="1314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23B3A"/>
                </a:solidFill>
                <a:latin typeface="Aptos"/>
                <a:ea typeface="Aptos"/>
                <a:cs typeface="Aptos"/>
              </a:defRPr>
            </a:pPr>
            <a:r>
              <a:rPr sz="1350" b="1">
                <a:solidFill>
                  <a:srgbClr val="123B3A"/>
                </a:solidFill>
                <a:latin typeface="Aptos"/>
                <a:ea typeface="Aptos"/>
                <a:cs typeface="Aptos"/>
              </a:rPr>
              <a:t>Finalizar limpieza</a:t>
            </a:r>
          </a:p>
          <a:p xmlns:a="http://schemas.openxmlformats.org/drawingml/2006/main">
            <a:pPr algn="l">
              <a:defRPr sz="1350" b="1">
                <a:solidFill>
                  <a:srgbClr val="123B3A"/>
                </a:solidFill>
                <a:latin typeface="Aptos"/>
                <a:ea typeface="Aptos"/>
                <a:cs typeface="Aptos"/>
              </a:defRPr>
            </a:pPr>
            <a:r>
              <a:rPr sz="1350" b="1">
                <a:solidFill>
                  <a:srgbClr val="123B3A"/>
                </a:solidFill>
                <a:latin typeface="Aptos"/>
                <a:ea typeface="Aptos"/>
                <a:cs typeface="Aptos"/>
              </a:rPr>
              <a:t>y liberar</a:t>
            </a:r>
          </a:p>
        </p:txBody>
      </p:sp>
      <p:sp>
        <p:nvSpPr>
          <p:cNvPr id="25" name="">
            <a:extLst xmlns:a="http://schemas.openxmlformats.org/drawingml/2006/main">
              <a:ext uri="{FF2B5EF4-FFF2-40B4-BE49-F238E27FC236}">
                <a16:creationId xmlns:a16="http://schemas.microsoft.com/office/drawing/2014/main" id="{66C6186F-4FD9-4920-8F38-B0DBD23AB597}"/>
              </a:ext>
            </a:extLst>
          </p:cNvPr>
          <p:cNvSpPr>
            <a:spLocks xmlns:a="http://schemas.openxmlformats.org/drawingml/2006/main" noGrp="1"/>
          </p:cNvSpPr>
          <p:nvPr/>
        </p:nvSpPr>
        <p:spPr>
          <a:xfrm xmlns:a="http://schemas.openxmlformats.org/drawingml/2006/main">
            <a:off x="3524250" y="4343400"/>
            <a:ext cx="2095500"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CBD7D3"/>
            </a:solidFill>
            <a:prstDash val="solid"/>
          </a:ln>
        </p:spPr>
      </p:sp>
      <p:sp>
        <p:nvSpPr>
          <p:cNvPr id="26" name="">
            <a:extLst xmlns:a="http://schemas.openxmlformats.org/drawingml/2006/main">
              <a:ext uri="{FF2B5EF4-FFF2-40B4-BE49-F238E27FC236}">
                <a16:creationId xmlns:a16="http://schemas.microsoft.com/office/drawing/2014/main" id="{07E97171-CE45-4F0E-90C5-0FE4778120E3}"/>
              </a:ext>
            </a:extLst>
          </p:cNvPr>
          <p:cNvSpPr>
            <a:spLocks xmlns:a="http://schemas.openxmlformats.org/drawingml/2006/main" noGrp="1"/>
          </p:cNvSpPr>
          <p:nvPr/>
        </p:nvSpPr>
        <p:spPr>
          <a:xfrm xmlns:a="http://schemas.openxmlformats.org/drawingml/2006/main">
            <a:off x="3695700" y="44958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C99A5B"/>
                </a:solidFill>
                <a:latin typeface="Aptos"/>
                <a:ea typeface="Aptos"/>
                <a:cs typeface="Aptos"/>
              </a:defRPr>
            </a:pPr>
            <a:r>
              <a:rPr sz="1875" b="1">
                <a:solidFill>
                  <a:srgbClr val="C99A5B"/>
                </a:solidFill>
                <a:latin typeface="Aptos"/>
                <a:ea typeface="Aptos"/>
                <a:cs typeface="Aptos"/>
              </a:rPr>
              <a:t>07</a:t>
            </a:r>
          </a:p>
        </p:txBody>
      </p:sp>
      <p:sp>
        <p:nvSpPr>
          <p:cNvPr id="27" name="">
            <a:extLst xmlns:a="http://schemas.openxmlformats.org/drawingml/2006/main">
              <a:ext uri="{FF2B5EF4-FFF2-40B4-BE49-F238E27FC236}">
                <a16:creationId xmlns:a16="http://schemas.microsoft.com/office/drawing/2014/main" id="{3E85003A-366A-4E5D-B790-D4310F91960A}"/>
              </a:ext>
            </a:extLst>
          </p:cNvPr>
          <p:cNvSpPr>
            <a:spLocks xmlns:a="http://schemas.openxmlformats.org/drawingml/2006/main" noGrp="1"/>
          </p:cNvSpPr>
          <p:nvPr/>
        </p:nvSpPr>
        <p:spPr>
          <a:xfrm xmlns:a="http://schemas.openxmlformats.org/drawingml/2006/main">
            <a:off x="4133850" y="4514850"/>
            <a:ext cx="1314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23B3A"/>
                </a:solidFill>
                <a:latin typeface="Aptos"/>
                <a:ea typeface="Aptos"/>
                <a:cs typeface="Aptos"/>
              </a:defRPr>
            </a:pPr>
            <a:r>
              <a:rPr sz="1350" b="1">
                <a:solidFill>
                  <a:srgbClr val="123B3A"/>
                </a:solidFill>
                <a:latin typeface="Aptos"/>
                <a:ea typeface="Aptos"/>
                <a:cs typeface="Aptos"/>
              </a:rPr>
              <a:t>Check-out y estado</a:t>
            </a:r>
          </a:p>
          <a:p xmlns:a="http://schemas.openxmlformats.org/drawingml/2006/main">
            <a:pPr algn="l">
              <a:defRPr sz="1350" b="1">
                <a:solidFill>
                  <a:srgbClr val="123B3A"/>
                </a:solidFill>
                <a:latin typeface="Aptos"/>
                <a:ea typeface="Aptos"/>
                <a:cs typeface="Aptos"/>
              </a:defRPr>
            </a:pPr>
            <a:r>
              <a:rPr sz="1350" b="1">
                <a:solidFill>
                  <a:srgbClr val="123B3A"/>
                </a:solidFill>
                <a:latin typeface="Aptos"/>
                <a:ea typeface="Aptos"/>
                <a:cs typeface="Aptos"/>
              </a:rPr>
              <a:t>en limpieza</a:t>
            </a:r>
          </a:p>
        </p:txBody>
      </p:sp>
      <p:sp>
        <p:nvSpPr>
          <p:cNvPr id="28" name="">
            <a:extLst xmlns:a="http://schemas.openxmlformats.org/drawingml/2006/main">
              <a:ext uri="{FF2B5EF4-FFF2-40B4-BE49-F238E27FC236}">
                <a16:creationId xmlns:a16="http://schemas.microsoft.com/office/drawing/2014/main" id="{5750C411-A0AB-40BD-A3D4-1CF36E648791}"/>
              </a:ext>
            </a:extLst>
          </p:cNvPr>
          <p:cNvSpPr>
            <a:spLocks xmlns:a="http://schemas.openxmlformats.org/drawingml/2006/main" noGrp="1"/>
          </p:cNvSpPr>
          <p:nvPr/>
        </p:nvSpPr>
        <p:spPr>
          <a:xfrm xmlns:a="http://schemas.openxmlformats.org/drawingml/2006/main">
            <a:off x="6210300" y="4343400"/>
            <a:ext cx="2095500"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CBD7D3"/>
            </a:solidFill>
            <a:prstDash val="solid"/>
          </a:ln>
        </p:spPr>
      </p:sp>
      <p:sp>
        <p:nvSpPr>
          <p:cNvPr id="29" name="">
            <a:extLst xmlns:a="http://schemas.openxmlformats.org/drawingml/2006/main">
              <a:ext uri="{FF2B5EF4-FFF2-40B4-BE49-F238E27FC236}">
                <a16:creationId xmlns:a16="http://schemas.microsoft.com/office/drawing/2014/main" id="{F96840F2-3B08-49FF-A558-C715EAFC3B58}"/>
              </a:ext>
            </a:extLst>
          </p:cNvPr>
          <p:cNvSpPr>
            <a:spLocks xmlns:a="http://schemas.openxmlformats.org/drawingml/2006/main" noGrp="1"/>
          </p:cNvSpPr>
          <p:nvPr/>
        </p:nvSpPr>
        <p:spPr>
          <a:xfrm xmlns:a="http://schemas.openxmlformats.org/drawingml/2006/main">
            <a:off x="6381750" y="44958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C99A5B"/>
                </a:solidFill>
                <a:latin typeface="Aptos"/>
                <a:ea typeface="Aptos"/>
                <a:cs typeface="Aptos"/>
              </a:defRPr>
            </a:pPr>
            <a:r>
              <a:rPr sz="1875" b="1">
                <a:solidFill>
                  <a:srgbClr val="C99A5B"/>
                </a:solidFill>
                <a:latin typeface="Aptos"/>
                <a:ea typeface="Aptos"/>
                <a:cs typeface="Aptos"/>
              </a:rPr>
              <a:t>06</a:t>
            </a:r>
          </a:p>
        </p:txBody>
      </p:sp>
      <p:sp>
        <p:nvSpPr>
          <p:cNvPr id="30" name="">
            <a:extLst xmlns:a="http://schemas.openxmlformats.org/drawingml/2006/main">
              <a:ext uri="{FF2B5EF4-FFF2-40B4-BE49-F238E27FC236}">
                <a16:creationId xmlns:a16="http://schemas.microsoft.com/office/drawing/2014/main" id="{9D169E17-4D6D-493B-8AEA-6F6BB1D825C5}"/>
              </a:ext>
            </a:extLst>
          </p:cNvPr>
          <p:cNvSpPr>
            <a:spLocks xmlns:a="http://schemas.openxmlformats.org/drawingml/2006/main" noGrp="1"/>
          </p:cNvSpPr>
          <p:nvPr/>
        </p:nvSpPr>
        <p:spPr>
          <a:xfrm xmlns:a="http://schemas.openxmlformats.org/drawingml/2006/main">
            <a:off x="6819900" y="4514850"/>
            <a:ext cx="1314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23B3A"/>
                </a:solidFill>
                <a:latin typeface="Aptos"/>
                <a:ea typeface="Aptos"/>
                <a:cs typeface="Aptos"/>
              </a:defRPr>
            </a:pPr>
            <a:r>
              <a:rPr sz="1350" b="1">
                <a:solidFill>
                  <a:srgbClr val="123B3A"/>
                </a:solidFill>
                <a:latin typeface="Aptos"/>
                <a:ea typeface="Aptos"/>
                <a:cs typeface="Aptos"/>
              </a:rPr>
              <a:t>Registrar pagos</a:t>
            </a:r>
          </a:p>
          <a:p xmlns:a="http://schemas.openxmlformats.org/drawingml/2006/main">
            <a:pPr algn="l">
              <a:defRPr sz="1350" b="1">
                <a:solidFill>
                  <a:srgbClr val="123B3A"/>
                </a:solidFill>
                <a:latin typeface="Aptos"/>
                <a:ea typeface="Aptos"/>
                <a:cs typeface="Aptos"/>
              </a:defRPr>
            </a:pPr>
            <a:r>
              <a:rPr sz="1350" b="1">
                <a:solidFill>
                  <a:srgbClr val="123B3A"/>
                </a:solidFill>
                <a:latin typeface="Aptos"/>
                <a:ea typeface="Aptos"/>
                <a:cs typeface="Aptos"/>
              </a:rPr>
              <a:t>y controlar saldo</a:t>
            </a:r>
          </a:p>
        </p:txBody>
      </p:sp>
      <p:sp>
        <p:nvSpPr>
          <p:cNvPr id="31" name="">
            <a:extLst xmlns:a="http://schemas.openxmlformats.org/drawingml/2006/main">
              <a:ext uri="{FF2B5EF4-FFF2-40B4-BE49-F238E27FC236}">
                <a16:creationId xmlns:a16="http://schemas.microsoft.com/office/drawing/2014/main" id="{A8C97564-561D-4331-A69C-F0BA3993AA63}"/>
              </a:ext>
            </a:extLst>
          </p:cNvPr>
          <p:cNvSpPr>
            <a:spLocks xmlns:a="http://schemas.openxmlformats.org/drawingml/2006/main" noGrp="1"/>
          </p:cNvSpPr>
          <p:nvPr/>
        </p:nvSpPr>
        <p:spPr>
          <a:xfrm xmlns:a="http://schemas.openxmlformats.org/drawingml/2006/main">
            <a:off x="8896350" y="4343400"/>
            <a:ext cx="2095500" cy="1047750"/>
          </a:xfrm>
          <a:prstGeom xmlns:a="http://schemas.openxmlformats.org/drawingml/2006/main" prst="roundRect">
            <a:avLst>
              <a:gd name="adj" fmla="val 10909"/>
            </a:avLst>
          </a:prstGeom>
          <a:solidFill xmlns:a="http://schemas.openxmlformats.org/drawingml/2006/main">
            <a:srgbClr val="FFFFFF"/>
          </a:solidFill>
          <a:ln xmlns:a="http://schemas.openxmlformats.org/drawingml/2006/main" w="9525">
            <a:solidFill>
              <a:srgbClr val="CBD7D3"/>
            </a:solidFill>
            <a:prstDash val="solid"/>
          </a:ln>
        </p:spPr>
      </p:sp>
      <p:sp>
        <p:nvSpPr>
          <p:cNvPr id="32" name="">
            <a:extLst xmlns:a="http://schemas.openxmlformats.org/drawingml/2006/main">
              <a:ext uri="{FF2B5EF4-FFF2-40B4-BE49-F238E27FC236}">
                <a16:creationId xmlns:a16="http://schemas.microsoft.com/office/drawing/2014/main" id="{81FCDBBF-8C6F-48F7-8691-07F194A48837}"/>
              </a:ext>
            </a:extLst>
          </p:cNvPr>
          <p:cNvSpPr>
            <a:spLocks xmlns:a="http://schemas.openxmlformats.org/drawingml/2006/main" noGrp="1"/>
          </p:cNvSpPr>
          <p:nvPr/>
        </p:nvSpPr>
        <p:spPr>
          <a:xfrm xmlns:a="http://schemas.openxmlformats.org/drawingml/2006/main">
            <a:off x="9067800" y="4495800"/>
            <a:ext cx="400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C99A5B"/>
                </a:solidFill>
                <a:latin typeface="Aptos"/>
                <a:ea typeface="Aptos"/>
                <a:cs typeface="Aptos"/>
              </a:defRPr>
            </a:pPr>
            <a:r>
              <a:rPr sz="1875" b="1">
                <a:solidFill>
                  <a:srgbClr val="C99A5B"/>
                </a:solidFill>
                <a:latin typeface="Aptos"/>
                <a:ea typeface="Aptos"/>
                <a:cs typeface="Aptos"/>
              </a:rPr>
              <a:t>05</a:t>
            </a:r>
          </a:p>
        </p:txBody>
      </p:sp>
      <p:sp>
        <p:nvSpPr>
          <p:cNvPr id="33" name="">
            <a:extLst xmlns:a="http://schemas.openxmlformats.org/drawingml/2006/main">
              <a:ext uri="{FF2B5EF4-FFF2-40B4-BE49-F238E27FC236}">
                <a16:creationId xmlns:a16="http://schemas.microsoft.com/office/drawing/2014/main" id="{EC080972-1EAF-436A-9E4D-0E062B585E20}"/>
              </a:ext>
            </a:extLst>
          </p:cNvPr>
          <p:cNvSpPr>
            <a:spLocks xmlns:a="http://schemas.openxmlformats.org/drawingml/2006/main" noGrp="1"/>
          </p:cNvSpPr>
          <p:nvPr/>
        </p:nvSpPr>
        <p:spPr>
          <a:xfrm xmlns:a="http://schemas.openxmlformats.org/drawingml/2006/main">
            <a:off x="9505950" y="4514850"/>
            <a:ext cx="1314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123B3A"/>
                </a:solidFill>
                <a:latin typeface="Aptos"/>
                <a:ea typeface="Aptos"/>
                <a:cs typeface="Aptos"/>
              </a:defRPr>
            </a:pPr>
            <a:r>
              <a:rPr sz="1350" b="1">
                <a:solidFill>
                  <a:srgbClr val="123B3A"/>
                </a:solidFill>
                <a:latin typeface="Aptos"/>
                <a:ea typeface="Aptos"/>
                <a:cs typeface="Aptos"/>
              </a:rPr>
              <a:t>Check-in y habitación</a:t>
            </a:r>
          </a:p>
          <a:p xmlns:a="http://schemas.openxmlformats.org/drawingml/2006/main">
            <a:pPr algn="l">
              <a:defRPr sz="1350" b="1">
                <a:solidFill>
                  <a:srgbClr val="123B3A"/>
                </a:solidFill>
                <a:latin typeface="Aptos"/>
                <a:ea typeface="Aptos"/>
                <a:cs typeface="Aptos"/>
              </a:defRPr>
            </a:pPr>
            <a:r>
              <a:rPr sz="1350" b="1">
                <a:solidFill>
                  <a:srgbClr val="123B3A"/>
                </a:solidFill>
                <a:latin typeface="Aptos"/>
                <a:ea typeface="Aptos"/>
                <a:cs typeface="Aptos"/>
              </a:rPr>
              <a:t>ocupada</a:t>
            </a:r>
          </a:p>
        </p:txBody>
      </p:sp>
    </p:spTree>
    <p:extLst>
      <p:ext uri="{BB962C8B-B14F-4D97-AF65-F5344CB8AC3E}">
        <p14:creationId xmlns:p14="http://schemas.microsoft.com/office/powerpoint/2010/main" val="1413030517"/>
      </p:ext>
    </p:extLst>
  </p:cSld>
</p:sld>
</file>

<file path=ppt/slides/slide4.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86EF198-DD25-4238-A756-6C28DEABD2F6}"/>
              </a:ext>
            </a:extLst>
          </p:cNvPr>
          <p:cNvSpPr>
            <a:spLocks xmlns:a="http://schemas.openxmlformats.org/drawingml/2006/main" noGrp="1"/>
          </p:cNvSpPr>
          <p:nvPr/>
        </p:nvSpPr>
        <p:spPr>
          <a:xfrm xmlns:a="http://schemas.openxmlformats.org/drawingml/2006/main">
            <a:off x="685800" y="6477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a:solidFill>
                  <a:srgbClr val="123B3A"/>
                </a:solidFill>
                <a:latin typeface="Aptos"/>
                <a:ea typeface="Aptos"/>
                <a:cs typeface="Aptos"/>
              </a:defRPr>
            </a:pPr>
            <a:r>
              <a:rPr sz="2700" b="1">
                <a:solidFill>
                  <a:srgbClr val="123B3A"/>
                </a:solidFill>
                <a:latin typeface="Aptos"/>
                <a:ea typeface="Aptos"/>
                <a:cs typeface="Aptos"/>
              </a:rPr>
              <a:t>Seis módulos cubren el trabajo diario del hostal</a:t>
            </a:r>
          </a:p>
        </p:txBody>
      </p:sp>
      <p:sp>
        <p:nvSpPr>
          <p:cNvPr id="2" name="">
            <a:extLst xmlns:a="http://schemas.openxmlformats.org/drawingml/2006/main">
              <a:ext uri="{FF2B5EF4-FFF2-40B4-BE49-F238E27FC236}">
                <a16:creationId xmlns:a16="http://schemas.microsoft.com/office/drawing/2014/main" id="{A15B3CA8-A84A-4FB7-B1CA-D9FE9CFEB42B}"/>
              </a:ext>
            </a:extLst>
          </p:cNvPr>
          <p:cNvSpPr>
            <a:spLocks xmlns:a="http://schemas.openxmlformats.org/drawingml/2006/main" noGrp="1"/>
          </p:cNvSpPr>
          <p:nvPr/>
        </p:nvSpPr>
        <p:spPr>
          <a:xfrm xmlns:a="http://schemas.openxmlformats.org/drawingml/2006/main">
            <a:off x="11106150" y="34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5A6866"/>
                </a:solidFill>
                <a:latin typeface="Aptos"/>
                <a:ea typeface="Aptos"/>
                <a:cs typeface="Aptos"/>
              </a:defRPr>
            </a:pPr>
            <a:r>
              <a:rPr sz="900" b="1">
                <a:solidFill>
                  <a:srgbClr val="5A6866"/>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D64195ED-357D-4ECA-AC32-D8B49305CBA9}"/>
              </a:ext>
            </a:extLst>
          </p:cNvPr>
          <p:cNvSpPr>
            <a:spLocks xmlns:a="http://schemas.openxmlformats.org/drawingml/2006/main" noGrp="1"/>
          </p:cNvSpPr>
          <p:nvPr/>
        </p:nvSpPr>
        <p:spPr>
          <a:xfrm xmlns:a="http://schemas.openxmlformats.org/drawingml/2006/main">
            <a:off x="685800" y="1809750"/>
            <a:ext cx="6667500" cy="4152900"/>
          </a:xfrm>
          <a:prstGeom xmlns:a="http://schemas.openxmlformats.org/drawingml/2006/main" prst="roundRect">
            <a:avLst>
              <a:gd name="adj" fmla="val 2752"/>
            </a:avLst>
          </a:prstGeom>
          <a:solidFill xmlns:a="http://schemas.openxmlformats.org/drawingml/2006/main">
            <a:srgbClr val="FFFFFF"/>
          </a:solidFill>
          <a:ln xmlns:a="http://schemas.openxmlformats.org/drawingml/2006/main" w="9525">
            <a:solidFill>
              <a:srgbClr val="CBD7D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d6047d28cf4477c"/>
          <a:stretch xmlns:a="http://schemas.openxmlformats.org/drawingml/2006/main"/>
        </p:blipFill>
        <p:spPr>
          <a:xfrm xmlns:a="http://schemas.openxmlformats.org/drawingml/2006/main">
            <a:off x="1517413" y="1924050"/>
            <a:ext cx="5004274" cy="3924300"/>
          </a:xfrm>
          <a:prstGeom xmlns:a="http://schemas.openxmlformats.org/drawingml/2006/main" prst="roundRect">
            <a:avLst>
              <a:gd name="adj" fmla="val 1942"/>
            </a:avLst>
          </a:prstGeom>
        </p:spPr>
      </p:pic>
      <p:sp>
        <p:nvSpPr>
          <p:cNvPr id="5" name="">
            <a:extLst xmlns:a="http://schemas.openxmlformats.org/drawingml/2006/main">
              <a:ext uri="{FF2B5EF4-FFF2-40B4-BE49-F238E27FC236}">
                <a16:creationId xmlns:a16="http://schemas.microsoft.com/office/drawing/2014/main" id="{E04F45AE-978C-4595-9E4A-E9769551E561}"/>
              </a:ext>
            </a:extLst>
          </p:cNvPr>
          <p:cNvSpPr>
            <a:spLocks xmlns:a="http://schemas.openxmlformats.org/drawingml/2006/main" noGrp="1"/>
          </p:cNvSpPr>
          <p:nvPr/>
        </p:nvSpPr>
        <p:spPr>
          <a:xfrm xmlns:a="http://schemas.openxmlformats.org/drawingml/2006/main">
            <a:off x="7810500" y="1885950"/>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C99A5B"/>
                </a:solidFill>
                <a:latin typeface="Aptos"/>
                <a:ea typeface="Aptos"/>
                <a:cs typeface="Aptos"/>
              </a:defRPr>
            </a:pPr>
            <a:r>
              <a:rPr sz="1275" b="1">
                <a:solidFill>
                  <a:srgbClr val="C99A5B"/>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85979130-706D-46DE-AB0F-C671B7830032}"/>
              </a:ext>
            </a:extLst>
          </p:cNvPr>
          <p:cNvSpPr>
            <a:spLocks xmlns:a="http://schemas.openxmlformats.org/drawingml/2006/main" noGrp="1"/>
          </p:cNvSpPr>
          <p:nvPr/>
        </p:nvSpPr>
        <p:spPr>
          <a:xfrm xmlns:a="http://schemas.openxmlformats.org/drawingml/2006/main">
            <a:off x="8286750" y="18478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23B3A"/>
                </a:solidFill>
                <a:latin typeface="Aptos"/>
                <a:ea typeface="Aptos"/>
                <a:cs typeface="Aptos"/>
              </a:defRPr>
            </a:pPr>
            <a:r>
              <a:rPr sz="1500" b="1">
                <a:solidFill>
                  <a:srgbClr val="123B3A"/>
                </a:solidFill>
                <a:latin typeface="Aptos"/>
                <a:ea typeface="Aptos"/>
                <a:cs typeface="Aptos"/>
              </a:rPr>
              <a:t>Dashboard</a:t>
            </a:r>
          </a:p>
        </p:txBody>
      </p:sp>
      <p:sp>
        <p:nvSpPr>
          <p:cNvPr id="7" name="">
            <a:extLst xmlns:a="http://schemas.openxmlformats.org/drawingml/2006/main">
              <a:ext uri="{FF2B5EF4-FFF2-40B4-BE49-F238E27FC236}">
                <a16:creationId xmlns:a16="http://schemas.microsoft.com/office/drawing/2014/main" id="{4C9B5BB1-50A3-47CD-B818-F8C6CB0157B2}"/>
              </a:ext>
            </a:extLst>
          </p:cNvPr>
          <p:cNvSpPr>
            <a:spLocks xmlns:a="http://schemas.openxmlformats.org/drawingml/2006/main" noGrp="1"/>
          </p:cNvSpPr>
          <p:nvPr/>
        </p:nvSpPr>
        <p:spPr>
          <a:xfrm xmlns:a="http://schemas.openxmlformats.org/drawingml/2006/main">
            <a:off x="8286750" y="21336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5A6866"/>
                </a:solidFill>
                <a:latin typeface="Aptos"/>
                <a:ea typeface="Aptos"/>
                <a:cs typeface="Aptos"/>
              </a:defRPr>
            </a:pPr>
            <a:r>
              <a:rPr sz="1200">
                <a:solidFill>
                  <a:srgbClr val="5A6866"/>
                </a:solidFill>
                <a:latin typeface="Aptos"/>
                <a:ea typeface="Aptos"/>
                <a:cs typeface="Aptos"/>
              </a:rPr>
              <a:t>Resumen del día</a:t>
            </a:r>
          </a:p>
        </p:txBody>
      </p:sp>
      <p:sp>
        <p:nvSpPr>
          <p:cNvPr id="8" name="">
            <a:extLst xmlns:a="http://schemas.openxmlformats.org/drawingml/2006/main">
              <a:ext uri="{FF2B5EF4-FFF2-40B4-BE49-F238E27FC236}">
                <a16:creationId xmlns:a16="http://schemas.microsoft.com/office/drawing/2014/main" id="{66A27535-770A-472F-BAE9-78E3AC7F0CB0}"/>
              </a:ext>
            </a:extLst>
          </p:cNvPr>
          <p:cNvSpPr>
            <a:spLocks xmlns:a="http://schemas.openxmlformats.org/drawingml/2006/main" noGrp="1"/>
          </p:cNvSpPr>
          <p:nvPr/>
        </p:nvSpPr>
        <p:spPr>
          <a:xfrm xmlns:a="http://schemas.openxmlformats.org/drawingml/2006/main">
            <a:off x="7810500" y="2447925"/>
            <a:ext cx="3333750" cy="0"/>
          </a:xfrm>
          <a:prstGeom xmlns:a="http://schemas.openxmlformats.org/drawingml/2006/main" prst="line">
            <a:avLst/>
          </a:prstGeom>
          <a:noFill xmlns:a="http://schemas.openxmlformats.org/drawingml/2006/main"/>
          <a:ln xmlns:a="http://schemas.openxmlformats.org/drawingml/2006/main" w="9525">
            <a:solidFill>
              <a:srgbClr val="CBD7D3"/>
            </a:solidFill>
            <a:prstDash val="solid"/>
          </a:ln>
        </p:spPr>
      </p:sp>
      <p:sp>
        <p:nvSpPr>
          <p:cNvPr id="9" name="">
            <a:extLst xmlns:a="http://schemas.openxmlformats.org/drawingml/2006/main">
              <a:ext uri="{FF2B5EF4-FFF2-40B4-BE49-F238E27FC236}">
                <a16:creationId xmlns:a16="http://schemas.microsoft.com/office/drawing/2014/main" id="{BF7C515F-2C93-4757-AA15-E37A1E53C973}"/>
              </a:ext>
            </a:extLst>
          </p:cNvPr>
          <p:cNvSpPr>
            <a:spLocks xmlns:a="http://schemas.openxmlformats.org/drawingml/2006/main" noGrp="1"/>
          </p:cNvSpPr>
          <p:nvPr/>
        </p:nvSpPr>
        <p:spPr>
          <a:xfrm xmlns:a="http://schemas.openxmlformats.org/drawingml/2006/main">
            <a:off x="7810500" y="2581275"/>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C99A5B"/>
                </a:solidFill>
                <a:latin typeface="Aptos"/>
                <a:ea typeface="Aptos"/>
                <a:cs typeface="Aptos"/>
              </a:defRPr>
            </a:pPr>
            <a:r>
              <a:rPr sz="1275" b="1">
                <a:solidFill>
                  <a:srgbClr val="C99A5B"/>
                </a:solidFill>
                <a:latin typeface="Aptos"/>
                <a:ea typeface="Aptos"/>
                <a:cs typeface="Aptos"/>
              </a:rPr>
              <a:t>02</a:t>
            </a:r>
          </a:p>
        </p:txBody>
      </p:sp>
      <p:sp>
        <p:nvSpPr>
          <p:cNvPr id="10" name="">
            <a:extLst xmlns:a="http://schemas.openxmlformats.org/drawingml/2006/main">
              <a:ext uri="{FF2B5EF4-FFF2-40B4-BE49-F238E27FC236}">
                <a16:creationId xmlns:a16="http://schemas.microsoft.com/office/drawing/2014/main" id="{202E687C-61A2-4350-B6D5-4BABC7CA7C04}"/>
              </a:ext>
            </a:extLst>
          </p:cNvPr>
          <p:cNvSpPr>
            <a:spLocks xmlns:a="http://schemas.openxmlformats.org/drawingml/2006/main" noGrp="1"/>
          </p:cNvSpPr>
          <p:nvPr/>
        </p:nvSpPr>
        <p:spPr>
          <a:xfrm xmlns:a="http://schemas.openxmlformats.org/drawingml/2006/main">
            <a:off x="8286750" y="25431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23B3A"/>
                </a:solidFill>
                <a:latin typeface="Aptos"/>
                <a:ea typeface="Aptos"/>
                <a:cs typeface="Aptos"/>
              </a:defRPr>
            </a:pPr>
            <a:r>
              <a:rPr sz="1500" b="1">
                <a:solidFill>
                  <a:srgbClr val="123B3A"/>
                </a:solidFill>
                <a:latin typeface="Aptos"/>
                <a:ea typeface="Aptos"/>
                <a:cs typeface="Aptos"/>
              </a:rPr>
              <a:t>Huéspedes</a:t>
            </a:r>
          </a:p>
        </p:txBody>
      </p:sp>
      <p:sp>
        <p:nvSpPr>
          <p:cNvPr id="11" name="">
            <a:extLst xmlns:a="http://schemas.openxmlformats.org/drawingml/2006/main">
              <a:ext uri="{FF2B5EF4-FFF2-40B4-BE49-F238E27FC236}">
                <a16:creationId xmlns:a16="http://schemas.microsoft.com/office/drawing/2014/main" id="{4D58CF11-C119-4B78-95DA-C0823789900D}"/>
              </a:ext>
            </a:extLst>
          </p:cNvPr>
          <p:cNvSpPr>
            <a:spLocks xmlns:a="http://schemas.openxmlformats.org/drawingml/2006/main" noGrp="1"/>
          </p:cNvSpPr>
          <p:nvPr/>
        </p:nvSpPr>
        <p:spPr>
          <a:xfrm xmlns:a="http://schemas.openxmlformats.org/drawingml/2006/main">
            <a:off x="8286750" y="282892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5A6866"/>
                </a:solidFill>
                <a:latin typeface="Aptos"/>
                <a:ea typeface="Aptos"/>
                <a:cs typeface="Aptos"/>
              </a:defRPr>
            </a:pPr>
            <a:r>
              <a:rPr sz="1200">
                <a:solidFill>
                  <a:srgbClr val="5A6866"/>
                </a:solidFill>
                <a:latin typeface="Aptos"/>
                <a:ea typeface="Aptos"/>
                <a:cs typeface="Aptos"/>
              </a:rPr>
              <a:t>Datos y búsqueda</a:t>
            </a:r>
          </a:p>
        </p:txBody>
      </p:sp>
      <p:sp>
        <p:nvSpPr>
          <p:cNvPr id="12" name="">
            <a:extLst xmlns:a="http://schemas.openxmlformats.org/drawingml/2006/main">
              <a:ext uri="{FF2B5EF4-FFF2-40B4-BE49-F238E27FC236}">
                <a16:creationId xmlns:a16="http://schemas.microsoft.com/office/drawing/2014/main" id="{18E81868-669F-4ED6-872D-E3F119EAC99F}"/>
              </a:ext>
            </a:extLst>
          </p:cNvPr>
          <p:cNvSpPr>
            <a:spLocks xmlns:a="http://schemas.openxmlformats.org/drawingml/2006/main" noGrp="1"/>
          </p:cNvSpPr>
          <p:nvPr/>
        </p:nvSpPr>
        <p:spPr>
          <a:xfrm xmlns:a="http://schemas.openxmlformats.org/drawingml/2006/main">
            <a:off x="7810500" y="3143250"/>
            <a:ext cx="3333750" cy="0"/>
          </a:xfrm>
          <a:prstGeom xmlns:a="http://schemas.openxmlformats.org/drawingml/2006/main" prst="line">
            <a:avLst/>
          </a:prstGeom>
          <a:noFill xmlns:a="http://schemas.openxmlformats.org/drawingml/2006/main"/>
          <a:ln xmlns:a="http://schemas.openxmlformats.org/drawingml/2006/main" w="9525">
            <a:solidFill>
              <a:srgbClr val="CBD7D3"/>
            </a:solidFill>
            <a:prstDash val="solid"/>
          </a:ln>
        </p:spPr>
      </p:sp>
      <p:sp>
        <p:nvSpPr>
          <p:cNvPr id="13" name="">
            <a:extLst xmlns:a="http://schemas.openxmlformats.org/drawingml/2006/main">
              <a:ext uri="{FF2B5EF4-FFF2-40B4-BE49-F238E27FC236}">
                <a16:creationId xmlns:a16="http://schemas.microsoft.com/office/drawing/2014/main" id="{0686E10A-40C0-462C-B43B-BC3E99B50578}"/>
              </a:ext>
            </a:extLst>
          </p:cNvPr>
          <p:cNvSpPr>
            <a:spLocks xmlns:a="http://schemas.openxmlformats.org/drawingml/2006/main" noGrp="1"/>
          </p:cNvSpPr>
          <p:nvPr/>
        </p:nvSpPr>
        <p:spPr>
          <a:xfrm xmlns:a="http://schemas.openxmlformats.org/drawingml/2006/main">
            <a:off x="7810500" y="3276600"/>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C99A5B"/>
                </a:solidFill>
                <a:latin typeface="Aptos"/>
                <a:ea typeface="Aptos"/>
                <a:cs typeface="Aptos"/>
              </a:defRPr>
            </a:pPr>
            <a:r>
              <a:rPr sz="1275" b="1">
                <a:solidFill>
                  <a:srgbClr val="C99A5B"/>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CD722D4A-5066-483F-AB3D-CDBA830E89CE}"/>
              </a:ext>
            </a:extLst>
          </p:cNvPr>
          <p:cNvSpPr>
            <a:spLocks xmlns:a="http://schemas.openxmlformats.org/drawingml/2006/main" noGrp="1"/>
          </p:cNvSpPr>
          <p:nvPr/>
        </p:nvSpPr>
        <p:spPr>
          <a:xfrm xmlns:a="http://schemas.openxmlformats.org/drawingml/2006/main">
            <a:off x="8286750" y="32385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23B3A"/>
                </a:solidFill>
                <a:latin typeface="Aptos"/>
                <a:ea typeface="Aptos"/>
                <a:cs typeface="Aptos"/>
              </a:defRPr>
            </a:pPr>
            <a:r>
              <a:rPr sz="1500" b="1">
                <a:solidFill>
                  <a:srgbClr val="123B3A"/>
                </a:solidFill>
                <a:latin typeface="Aptos"/>
                <a:ea typeface="Aptos"/>
                <a:cs typeface="Aptos"/>
              </a:rPr>
              <a:t>Habitaciones</a:t>
            </a:r>
          </a:p>
        </p:txBody>
      </p:sp>
      <p:sp>
        <p:nvSpPr>
          <p:cNvPr id="15" name="">
            <a:extLst xmlns:a="http://schemas.openxmlformats.org/drawingml/2006/main">
              <a:ext uri="{FF2B5EF4-FFF2-40B4-BE49-F238E27FC236}">
                <a16:creationId xmlns:a16="http://schemas.microsoft.com/office/drawing/2014/main" id="{B0F417BE-FE0C-4611-9889-2A7AF5D984C0}"/>
              </a:ext>
            </a:extLst>
          </p:cNvPr>
          <p:cNvSpPr>
            <a:spLocks xmlns:a="http://schemas.openxmlformats.org/drawingml/2006/main" noGrp="1"/>
          </p:cNvSpPr>
          <p:nvPr/>
        </p:nvSpPr>
        <p:spPr>
          <a:xfrm xmlns:a="http://schemas.openxmlformats.org/drawingml/2006/main">
            <a:off x="8286750" y="35242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5A6866"/>
                </a:solidFill>
                <a:latin typeface="Aptos"/>
                <a:ea typeface="Aptos"/>
                <a:cs typeface="Aptos"/>
              </a:defRPr>
            </a:pPr>
            <a:r>
              <a:rPr sz="1200">
                <a:solidFill>
                  <a:srgbClr val="5A6866"/>
                </a:solidFill>
                <a:latin typeface="Aptos"/>
                <a:ea typeface="Aptos"/>
                <a:cs typeface="Aptos"/>
              </a:rPr>
              <a:t>Tarifa y estado</a:t>
            </a:r>
          </a:p>
        </p:txBody>
      </p:sp>
      <p:sp>
        <p:nvSpPr>
          <p:cNvPr id="16" name="">
            <a:extLst xmlns:a="http://schemas.openxmlformats.org/drawingml/2006/main">
              <a:ext uri="{FF2B5EF4-FFF2-40B4-BE49-F238E27FC236}">
                <a16:creationId xmlns:a16="http://schemas.microsoft.com/office/drawing/2014/main" id="{546EBCC1-34E8-4B98-B8F6-EEA3FBE49934}"/>
              </a:ext>
            </a:extLst>
          </p:cNvPr>
          <p:cNvSpPr>
            <a:spLocks xmlns:a="http://schemas.openxmlformats.org/drawingml/2006/main" noGrp="1"/>
          </p:cNvSpPr>
          <p:nvPr/>
        </p:nvSpPr>
        <p:spPr>
          <a:xfrm xmlns:a="http://schemas.openxmlformats.org/drawingml/2006/main">
            <a:off x="7810500" y="3838575"/>
            <a:ext cx="3333750" cy="0"/>
          </a:xfrm>
          <a:prstGeom xmlns:a="http://schemas.openxmlformats.org/drawingml/2006/main" prst="line">
            <a:avLst/>
          </a:prstGeom>
          <a:noFill xmlns:a="http://schemas.openxmlformats.org/drawingml/2006/main"/>
          <a:ln xmlns:a="http://schemas.openxmlformats.org/drawingml/2006/main" w="9525">
            <a:solidFill>
              <a:srgbClr val="CBD7D3"/>
            </a:solidFill>
            <a:prstDash val="solid"/>
          </a:ln>
        </p:spPr>
      </p:sp>
      <p:sp>
        <p:nvSpPr>
          <p:cNvPr id="17" name="">
            <a:extLst xmlns:a="http://schemas.openxmlformats.org/drawingml/2006/main">
              <a:ext uri="{FF2B5EF4-FFF2-40B4-BE49-F238E27FC236}">
                <a16:creationId xmlns:a16="http://schemas.microsoft.com/office/drawing/2014/main" id="{FC4E71CA-7A31-4C20-8B9D-A3CFB513B090}"/>
              </a:ext>
            </a:extLst>
          </p:cNvPr>
          <p:cNvSpPr>
            <a:spLocks xmlns:a="http://schemas.openxmlformats.org/drawingml/2006/main" noGrp="1"/>
          </p:cNvSpPr>
          <p:nvPr/>
        </p:nvSpPr>
        <p:spPr>
          <a:xfrm xmlns:a="http://schemas.openxmlformats.org/drawingml/2006/main">
            <a:off x="7810500" y="3971925"/>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C99A5B"/>
                </a:solidFill>
                <a:latin typeface="Aptos"/>
                <a:ea typeface="Aptos"/>
                <a:cs typeface="Aptos"/>
              </a:defRPr>
            </a:pPr>
            <a:r>
              <a:rPr sz="1275" b="1">
                <a:solidFill>
                  <a:srgbClr val="C99A5B"/>
                </a:solidFill>
                <a:latin typeface="Aptos"/>
                <a:ea typeface="Aptos"/>
                <a:cs typeface="Aptos"/>
              </a:rPr>
              <a:t>04</a:t>
            </a:r>
          </a:p>
        </p:txBody>
      </p:sp>
      <p:sp>
        <p:nvSpPr>
          <p:cNvPr id="18" name="">
            <a:extLst xmlns:a="http://schemas.openxmlformats.org/drawingml/2006/main">
              <a:ext uri="{FF2B5EF4-FFF2-40B4-BE49-F238E27FC236}">
                <a16:creationId xmlns:a16="http://schemas.microsoft.com/office/drawing/2014/main" id="{C67235CF-B115-4CAD-A5F3-055E5D68BAB3}"/>
              </a:ext>
            </a:extLst>
          </p:cNvPr>
          <p:cNvSpPr>
            <a:spLocks xmlns:a="http://schemas.openxmlformats.org/drawingml/2006/main" noGrp="1"/>
          </p:cNvSpPr>
          <p:nvPr/>
        </p:nvSpPr>
        <p:spPr>
          <a:xfrm xmlns:a="http://schemas.openxmlformats.org/drawingml/2006/main">
            <a:off x="8286750" y="393382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23B3A"/>
                </a:solidFill>
                <a:latin typeface="Aptos"/>
                <a:ea typeface="Aptos"/>
                <a:cs typeface="Aptos"/>
              </a:defRPr>
            </a:pPr>
            <a:r>
              <a:rPr sz="1500" b="1">
                <a:solidFill>
                  <a:srgbClr val="123B3A"/>
                </a:solidFill>
                <a:latin typeface="Aptos"/>
                <a:ea typeface="Aptos"/>
                <a:cs typeface="Aptos"/>
              </a:rPr>
              <a:t>Reservas</a:t>
            </a:r>
          </a:p>
        </p:txBody>
      </p:sp>
      <p:sp>
        <p:nvSpPr>
          <p:cNvPr id="19" name="">
            <a:extLst xmlns:a="http://schemas.openxmlformats.org/drawingml/2006/main">
              <a:ext uri="{FF2B5EF4-FFF2-40B4-BE49-F238E27FC236}">
                <a16:creationId xmlns:a16="http://schemas.microsoft.com/office/drawing/2014/main" id="{5112BCE9-D272-4138-B6A4-0C310124C499}"/>
              </a:ext>
            </a:extLst>
          </p:cNvPr>
          <p:cNvSpPr>
            <a:spLocks xmlns:a="http://schemas.openxmlformats.org/drawingml/2006/main" noGrp="1"/>
          </p:cNvSpPr>
          <p:nvPr/>
        </p:nvSpPr>
        <p:spPr>
          <a:xfrm xmlns:a="http://schemas.openxmlformats.org/drawingml/2006/main">
            <a:off x="8286750" y="421957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5A6866"/>
                </a:solidFill>
                <a:latin typeface="Aptos"/>
                <a:ea typeface="Aptos"/>
                <a:cs typeface="Aptos"/>
              </a:defRPr>
            </a:pPr>
            <a:r>
              <a:rPr sz="1200">
                <a:solidFill>
                  <a:srgbClr val="5A6866"/>
                </a:solidFill>
                <a:latin typeface="Aptos"/>
                <a:ea typeface="Aptos"/>
                <a:cs typeface="Aptos"/>
              </a:rPr>
              <a:t>Estadía completa</a:t>
            </a:r>
          </a:p>
        </p:txBody>
      </p:sp>
      <p:sp>
        <p:nvSpPr>
          <p:cNvPr id="20" name="">
            <a:extLst xmlns:a="http://schemas.openxmlformats.org/drawingml/2006/main">
              <a:ext uri="{FF2B5EF4-FFF2-40B4-BE49-F238E27FC236}">
                <a16:creationId xmlns:a16="http://schemas.microsoft.com/office/drawing/2014/main" id="{56CC990E-A666-428F-BEF8-FBF5270476C1}"/>
              </a:ext>
            </a:extLst>
          </p:cNvPr>
          <p:cNvSpPr>
            <a:spLocks xmlns:a="http://schemas.openxmlformats.org/drawingml/2006/main" noGrp="1"/>
          </p:cNvSpPr>
          <p:nvPr/>
        </p:nvSpPr>
        <p:spPr>
          <a:xfrm xmlns:a="http://schemas.openxmlformats.org/drawingml/2006/main">
            <a:off x="7810500" y="4533900"/>
            <a:ext cx="3333750" cy="0"/>
          </a:xfrm>
          <a:prstGeom xmlns:a="http://schemas.openxmlformats.org/drawingml/2006/main" prst="line">
            <a:avLst/>
          </a:prstGeom>
          <a:noFill xmlns:a="http://schemas.openxmlformats.org/drawingml/2006/main"/>
          <a:ln xmlns:a="http://schemas.openxmlformats.org/drawingml/2006/main" w="9525">
            <a:solidFill>
              <a:srgbClr val="CBD7D3"/>
            </a:solidFill>
            <a:prstDash val="solid"/>
          </a:ln>
        </p:spPr>
      </p:sp>
      <p:sp>
        <p:nvSpPr>
          <p:cNvPr id="21" name="">
            <a:extLst xmlns:a="http://schemas.openxmlformats.org/drawingml/2006/main">
              <a:ext uri="{FF2B5EF4-FFF2-40B4-BE49-F238E27FC236}">
                <a16:creationId xmlns:a16="http://schemas.microsoft.com/office/drawing/2014/main" id="{D7ABD7D6-5FF0-42E2-8244-BD930493A7C7}"/>
              </a:ext>
            </a:extLst>
          </p:cNvPr>
          <p:cNvSpPr>
            <a:spLocks xmlns:a="http://schemas.openxmlformats.org/drawingml/2006/main" noGrp="1"/>
          </p:cNvSpPr>
          <p:nvPr/>
        </p:nvSpPr>
        <p:spPr>
          <a:xfrm xmlns:a="http://schemas.openxmlformats.org/drawingml/2006/main">
            <a:off x="7810500" y="4667250"/>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C99A5B"/>
                </a:solidFill>
                <a:latin typeface="Aptos"/>
                <a:ea typeface="Aptos"/>
                <a:cs typeface="Aptos"/>
              </a:defRPr>
            </a:pPr>
            <a:r>
              <a:rPr sz="1275" b="1">
                <a:solidFill>
                  <a:srgbClr val="C99A5B"/>
                </a:solidFill>
                <a:latin typeface="Aptos"/>
                <a:ea typeface="Aptos"/>
                <a:cs typeface="Aptos"/>
              </a:rPr>
              <a:t>05</a:t>
            </a:r>
          </a:p>
        </p:txBody>
      </p:sp>
      <p:sp>
        <p:nvSpPr>
          <p:cNvPr id="22" name="">
            <a:extLst xmlns:a="http://schemas.openxmlformats.org/drawingml/2006/main">
              <a:ext uri="{FF2B5EF4-FFF2-40B4-BE49-F238E27FC236}">
                <a16:creationId xmlns:a16="http://schemas.microsoft.com/office/drawing/2014/main" id="{CEC9BF0F-28E5-442D-965C-938222A37BFC}"/>
              </a:ext>
            </a:extLst>
          </p:cNvPr>
          <p:cNvSpPr>
            <a:spLocks xmlns:a="http://schemas.openxmlformats.org/drawingml/2006/main" noGrp="1"/>
          </p:cNvSpPr>
          <p:nvPr/>
        </p:nvSpPr>
        <p:spPr>
          <a:xfrm xmlns:a="http://schemas.openxmlformats.org/drawingml/2006/main">
            <a:off x="8286750" y="46291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23B3A"/>
                </a:solidFill>
                <a:latin typeface="Aptos"/>
                <a:ea typeface="Aptos"/>
                <a:cs typeface="Aptos"/>
              </a:defRPr>
            </a:pPr>
            <a:r>
              <a:rPr sz="1500" b="1">
                <a:solidFill>
                  <a:srgbClr val="123B3A"/>
                </a:solidFill>
                <a:latin typeface="Aptos"/>
                <a:ea typeface="Aptos"/>
                <a:cs typeface="Aptos"/>
              </a:rPr>
              <a:t>Pagos</a:t>
            </a:r>
          </a:p>
        </p:txBody>
      </p:sp>
      <p:sp>
        <p:nvSpPr>
          <p:cNvPr id="23" name="">
            <a:extLst xmlns:a="http://schemas.openxmlformats.org/drawingml/2006/main">
              <a:ext uri="{FF2B5EF4-FFF2-40B4-BE49-F238E27FC236}">
                <a16:creationId xmlns:a16="http://schemas.microsoft.com/office/drawing/2014/main" id="{6570B942-B586-45D4-955F-2CB361E98826}"/>
              </a:ext>
            </a:extLst>
          </p:cNvPr>
          <p:cNvSpPr>
            <a:spLocks xmlns:a="http://schemas.openxmlformats.org/drawingml/2006/main" noGrp="1"/>
          </p:cNvSpPr>
          <p:nvPr/>
        </p:nvSpPr>
        <p:spPr>
          <a:xfrm xmlns:a="http://schemas.openxmlformats.org/drawingml/2006/main">
            <a:off x="8286750" y="49149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5A6866"/>
                </a:solidFill>
                <a:latin typeface="Aptos"/>
                <a:ea typeface="Aptos"/>
                <a:cs typeface="Aptos"/>
              </a:defRPr>
            </a:pPr>
            <a:r>
              <a:rPr sz="1200">
                <a:solidFill>
                  <a:srgbClr val="5A6866"/>
                </a:solidFill>
                <a:latin typeface="Aptos"/>
                <a:ea typeface="Aptos"/>
                <a:cs typeface="Aptos"/>
              </a:rPr>
              <a:t>Abonos y saldo</a:t>
            </a:r>
          </a:p>
        </p:txBody>
      </p:sp>
      <p:sp>
        <p:nvSpPr>
          <p:cNvPr id="24" name="">
            <a:extLst xmlns:a="http://schemas.openxmlformats.org/drawingml/2006/main">
              <a:ext uri="{FF2B5EF4-FFF2-40B4-BE49-F238E27FC236}">
                <a16:creationId xmlns:a16="http://schemas.microsoft.com/office/drawing/2014/main" id="{3EC43ADC-E4E5-4402-A235-D333C6C02284}"/>
              </a:ext>
            </a:extLst>
          </p:cNvPr>
          <p:cNvSpPr>
            <a:spLocks xmlns:a="http://schemas.openxmlformats.org/drawingml/2006/main" noGrp="1"/>
          </p:cNvSpPr>
          <p:nvPr/>
        </p:nvSpPr>
        <p:spPr>
          <a:xfrm xmlns:a="http://schemas.openxmlformats.org/drawingml/2006/main">
            <a:off x="7810500" y="5229225"/>
            <a:ext cx="3333750" cy="0"/>
          </a:xfrm>
          <a:prstGeom xmlns:a="http://schemas.openxmlformats.org/drawingml/2006/main" prst="line">
            <a:avLst/>
          </a:prstGeom>
          <a:noFill xmlns:a="http://schemas.openxmlformats.org/drawingml/2006/main"/>
          <a:ln xmlns:a="http://schemas.openxmlformats.org/drawingml/2006/main" w="9525">
            <a:solidFill>
              <a:srgbClr val="CBD7D3"/>
            </a:solidFill>
            <a:prstDash val="solid"/>
          </a:ln>
        </p:spPr>
      </p:sp>
      <p:sp>
        <p:nvSpPr>
          <p:cNvPr id="25" name="">
            <a:extLst xmlns:a="http://schemas.openxmlformats.org/drawingml/2006/main">
              <a:ext uri="{FF2B5EF4-FFF2-40B4-BE49-F238E27FC236}">
                <a16:creationId xmlns:a16="http://schemas.microsoft.com/office/drawing/2014/main" id="{54406AFC-0232-4EEA-AFC8-ACDFAABDCD33}"/>
              </a:ext>
            </a:extLst>
          </p:cNvPr>
          <p:cNvSpPr>
            <a:spLocks xmlns:a="http://schemas.openxmlformats.org/drawingml/2006/main" noGrp="1"/>
          </p:cNvSpPr>
          <p:nvPr/>
        </p:nvSpPr>
        <p:spPr>
          <a:xfrm xmlns:a="http://schemas.openxmlformats.org/drawingml/2006/main">
            <a:off x="7810500" y="5362575"/>
            <a:ext cx="361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C99A5B"/>
                </a:solidFill>
                <a:latin typeface="Aptos"/>
                <a:ea typeface="Aptos"/>
                <a:cs typeface="Aptos"/>
              </a:defRPr>
            </a:pPr>
            <a:r>
              <a:rPr sz="1275" b="1">
                <a:solidFill>
                  <a:srgbClr val="C99A5B"/>
                </a:solidFill>
                <a:latin typeface="Aptos"/>
                <a:ea typeface="Aptos"/>
                <a:cs typeface="Aptos"/>
              </a:rPr>
              <a:t>06</a:t>
            </a:r>
          </a:p>
        </p:txBody>
      </p:sp>
      <p:sp>
        <p:nvSpPr>
          <p:cNvPr id="26" name="">
            <a:extLst xmlns:a="http://schemas.openxmlformats.org/drawingml/2006/main">
              <a:ext uri="{FF2B5EF4-FFF2-40B4-BE49-F238E27FC236}">
                <a16:creationId xmlns:a16="http://schemas.microsoft.com/office/drawing/2014/main" id="{44FBC39D-BDD8-4121-AEC0-50D54F0DFC34}"/>
              </a:ext>
            </a:extLst>
          </p:cNvPr>
          <p:cNvSpPr>
            <a:spLocks xmlns:a="http://schemas.openxmlformats.org/drawingml/2006/main" noGrp="1"/>
          </p:cNvSpPr>
          <p:nvPr/>
        </p:nvSpPr>
        <p:spPr>
          <a:xfrm xmlns:a="http://schemas.openxmlformats.org/drawingml/2006/main">
            <a:off x="8286750" y="53244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23B3A"/>
                </a:solidFill>
                <a:latin typeface="Aptos"/>
                <a:ea typeface="Aptos"/>
                <a:cs typeface="Aptos"/>
              </a:defRPr>
            </a:pPr>
            <a:r>
              <a:rPr sz="1500" b="1">
                <a:solidFill>
                  <a:srgbClr val="123B3A"/>
                </a:solidFill>
                <a:latin typeface="Aptos"/>
                <a:ea typeface="Aptos"/>
                <a:cs typeface="Aptos"/>
              </a:rPr>
              <a:t>Reportes</a:t>
            </a:r>
          </a:p>
        </p:txBody>
      </p:sp>
      <p:sp>
        <p:nvSpPr>
          <p:cNvPr id="27" name="">
            <a:extLst xmlns:a="http://schemas.openxmlformats.org/drawingml/2006/main">
              <a:ext uri="{FF2B5EF4-FFF2-40B4-BE49-F238E27FC236}">
                <a16:creationId xmlns:a16="http://schemas.microsoft.com/office/drawing/2014/main" id="{51B0593C-9B1B-4F54-B49A-EB582A635213}"/>
              </a:ext>
            </a:extLst>
          </p:cNvPr>
          <p:cNvSpPr>
            <a:spLocks xmlns:a="http://schemas.openxmlformats.org/drawingml/2006/main" noGrp="1"/>
          </p:cNvSpPr>
          <p:nvPr/>
        </p:nvSpPr>
        <p:spPr>
          <a:xfrm xmlns:a="http://schemas.openxmlformats.org/drawingml/2006/main">
            <a:off x="8286750" y="561022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5A6866"/>
                </a:solidFill>
                <a:latin typeface="Aptos"/>
                <a:ea typeface="Aptos"/>
                <a:cs typeface="Aptos"/>
              </a:defRPr>
            </a:pPr>
            <a:r>
              <a:rPr sz="1200">
                <a:solidFill>
                  <a:srgbClr val="5A6866"/>
                </a:solidFill>
                <a:latin typeface="Aptos"/>
                <a:ea typeface="Aptos"/>
                <a:cs typeface="Aptos"/>
              </a:rPr>
              <a:t>Control administrativo</a:t>
            </a:r>
          </a:p>
        </p:txBody>
      </p:sp>
    </p:spTree>
    <p:extLst>
      <p:ext uri="{BB962C8B-B14F-4D97-AF65-F5344CB8AC3E}">
        <p14:creationId xmlns:p14="http://schemas.microsoft.com/office/powerpoint/2010/main" val="375694098"/>
      </p:ext>
    </p:extLst>
  </p:cSld>
</p:sld>
</file>

<file path=ppt/slides/slide5.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1AC0BE2-C5BD-4E93-88B3-15089CFB6723}"/>
              </a:ext>
            </a:extLst>
          </p:cNvPr>
          <p:cNvSpPr>
            <a:spLocks xmlns:a="http://schemas.openxmlformats.org/drawingml/2006/main" noGrp="1"/>
          </p:cNvSpPr>
          <p:nvPr/>
        </p:nvSpPr>
        <p:spPr>
          <a:xfrm xmlns:a="http://schemas.openxmlformats.org/drawingml/2006/main">
            <a:off x="685800" y="6477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a:solidFill>
                  <a:srgbClr val="123B3A"/>
                </a:solidFill>
                <a:latin typeface="Aptos"/>
                <a:ea typeface="Aptos"/>
                <a:cs typeface="Aptos"/>
              </a:defRPr>
            </a:pPr>
            <a:r>
              <a:rPr sz="2700" b="1">
                <a:solidFill>
                  <a:srgbClr val="123B3A"/>
                </a:solidFill>
                <a:latin typeface="Aptos"/>
                <a:ea typeface="Aptos"/>
                <a:cs typeface="Aptos"/>
              </a:rPr>
              <a:t>MVC separa la pantalla, la lógica y los datos</a:t>
            </a:r>
          </a:p>
        </p:txBody>
      </p:sp>
      <p:sp>
        <p:nvSpPr>
          <p:cNvPr id="2" name="">
            <a:extLst xmlns:a="http://schemas.openxmlformats.org/drawingml/2006/main">
              <a:ext uri="{FF2B5EF4-FFF2-40B4-BE49-F238E27FC236}">
                <a16:creationId xmlns:a16="http://schemas.microsoft.com/office/drawing/2014/main" id="{3F6572F4-8F3F-4C94-BBDC-C4E62B74667C}"/>
              </a:ext>
            </a:extLst>
          </p:cNvPr>
          <p:cNvSpPr>
            <a:spLocks xmlns:a="http://schemas.openxmlformats.org/drawingml/2006/main" noGrp="1"/>
          </p:cNvSpPr>
          <p:nvPr/>
        </p:nvSpPr>
        <p:spPr>
          <a:xfrm xmlns:a="http://schemas.openxmlformats.org/drawingml/2006/main">
            <a:off x="11106150" y="34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5A6866"/>
                </a:solidFill>
                <a:latin typeface="Aptos"/>
                <a:ea typeface="Aptos"/>
                <a:cs typeface="Aptos"/>
              </a:defRPr>
            </a:pPr>
            <a:r>
              <a:rPr sz="900" b="1">
                <a:solidFill>
                  <a:srgbClr val="5A6866"/>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33444576-E485-48EC-BE00-7FC60C1C25AA}"/>
              </a:ext>
            </a:extLst>
          </p:cNvPr>
          <p:cNvSpPr>
            <a:spLocks xmlns:a="http://schemas.openxmlformats.org/drawingml/2006/main" noGrp="1"/>
          </p:cNvSpPr>
          <p:nvPr/>
        </p:nvSpPr>
        <p:spPr>
          <a:xfrm xmlns:a="http://schemas.openxmlformats.org/drawingml/2006/main">
            <a:off x="2876550" y="2886075"/>
            <a:ext cx="476250" cy="0"/>
          </a:xfrm>
          <a:prstGeom xmlns:a="http://schemas.openxmlformats.org/drawingml/2006/main" prst="line">
            <a:avLst/>
          </a:prstGeom>
          <a:noFill xmlns:a="http://schemas.openxmlformats.org/drawingml/2006/main"/>
          <a:ln xmlns:a="http://schemas.openxmlformats.org/drawingml/2006/main" w="38100">
            <a:solidFill>
              <a:srgbClr val="C99A5B"/>
            </a:solidFill>
            <a:prstDash val="solid"/>
          </a:ln>
        </p:spPr>
      </p:sp>
      <p:sp>
        <p:nvSpPr>
          <p:cNvPr id="4" name="">
            <a:extLst xmlns:a="http://schemas.openxmlformats.org/drawingml/2006/main">
              <a:ext uri="{FF2B5EF4-FFF2-40B4-BE49-F238E27FC236}">
                <a16:creationId xmlns:a16="http://schemas.microsoft.com/office/drawing/2014/main" id="{44590E02-6CE9-4F17-A603-8DAAF46A988E}"/>
              </a:ext>
            </a:extLst>
          </p:cNvPr>
          <p:cNvSpPr>
            <a:spLocks xmlns:a="http://schemas.openxmlformats.org/drawingml/2006/main" noGrp="1"/>
          </p:cNvSpPr>
          <p:nvPr/>
        </p:nvSpPr>
        <p:spPr>
          <a:xfrm xmlns:a="http://schemas.openxmlformats.org/drawingml/2006/main">
            <a:off x="5543550" y="2886075"/>
            <a:ext cx="476250" cy="0"/>
          </a:xfrm>
          <a:prstGeom xmlns:a="http://schemas.openxmlformats.org/drawingml/2006/main" prst="line">
            <a:avLst/>
          </a:prstGeom>
          <a:noFill xmlns:a="http://schemas.openxmlformats.org/drawingml/2006/main"/>
          <a:ln xmlns:a="http://schemas.openxmlformats.org/drawingml/2006/main" w="38100">
            <a:solidFill>
              <a:srgbClr val="C99A5B"/>
            </a:solidFill>
            <a:prstDash val="solid"/>
          </a:ln>
        </p:spPr>
      </p:sp>
      <p:sp>
        <p:nvSpPr>
          <p:cNvPr id="5" name="">
            <a:extLst xmlns:a="http://schemas.openxmlformats.org/drawingml/2006/main">
              <a:ext uri="{FF2B5EF4-FFF2-40B4-BE49-F238E27FC236}">
                <a16:creationId xmlns:a16="http://schemas.microsoft.com/office/drawing/2014/main" id="{B1056C39-47C5-41BA-9EBC-C86F31D5A552}"/>
              </a:ext>
            </a:extLst>
          </p:cNvPr>
          <p:cNvSpPr>
            <a:spLocks xmlns:a="http://schemas.openxmlformats.org/drawingml/2006/main" noGrp="1"/>
          </p:cNvSpPr>
          <p:nvPr/>
        </p:nvSpPr>
        <p:spPr>
          <a:xfrm xmlns:a="http://schemas.openxmlformats.org/drawingml/2006/main">
            <a:off x="8210550" y="2886075"/>
            <a:ext cx="476250" cy="0"/>
          </a:xfrm>
          <a:prstGeom xmlns:a="http://schemas.openxmlformats.org/drawingml/2006/main" prst="line">
            <a:avLst/>
          </a:prstGeom>
          <a:noFill xmlns:a="http://schemas.openxmlformats.org/drawingml/2006/main"/>
          <a:ln xmlns:a="http://schemas.openxmlformats.org/drawingml/2006/main" w="38100">
            <a:solidFill>
              <a:srgbClr val="C99A5B"/>
            </a:solidFill>
            <a:prstDash val="solid"/>
          </a:ln>
        </p:spPr>
      </p:sp>
      <p:sp>
        <p:nvSpPr>
          <p:cNvPr id="6" name="">
            <a:extLst xmlns:a="http://schemas.openxmlformats.org/drawingml/2006/main">
              <a:ext uri="{FF2B5EF4-FFF2-40B4-BE49-F238E27FC236}">
                <a16:creationId xmlns:a16="http://schemas.microsoft.com/office/drawing/2014/main" id="{F4C35736-ADFF-4BE7-8DCA-9601405D6436}"/>
              </a:ext>
            </a:extLst>
          </p:cNvPr>
          <p:cNvSpPr>
            <a:spLocks xmlns:a="http://schemas.openxmlformats.org/drawingml/2006/main" noGrp="1"/>
          </p:cNvSpPr>
          <p:nvPr/>
        </p:nvSpPr>
        <p:spPr>
          <a:xfrm xmlns:a="http://schemas.openxmlformats.org/drawingml/2006/main">
            <a:off x="7115175" y="3486150"/>
            <a:ext cx="0" cy="857250"/>
          </a:xfrm>
          <a:prstGeom xmlns:a="http://schemas.openxmlformats.org/drawingml/2006/main" prst="line">
            <a:avLst/>
          </a:prstGeom>
          <a:noFill xmlns:a="http://schemas.openxmlformats.org/drawingml/2006/main"/>
          <a:ln xmlns:a="http://schemas.openxmlformats.org/drawingml/2006/main" w="28575">
            <a:solidFill>
              <a:srgbClr val="1F6B65"/>
            </a:solidFill>
            <a:prstDash val="solid"/>
          </a:ln>
        </p:spPr>
      </p:sp>
      <p:sp>
        <p:nvSpPr>
          <p:cNvPr id="7" name="">
            <a:extLst xmlns:a="http://schemas.openxmlformats.org/drawingml/2006/main">
              <a:ext uri="{FF2B5EF4-FFF2-40B4-BE49-F238E27FC236}">
                <a16:creationId xmlns:a16="http://schemas.microsoft.com/office/drawing/2014/main" id="{76606105-0334-48A8-84B1-6E02B9F6F763}"/>
              </a:ext>
            </a:extLst>
          </p:cNvPr>
          <p:cNvSpPr>
            <a:spLocks xmlns:a="http://schemas.openxmlformats.org/drawingml/2006/main" noGrp="1"/>
          </p:cNvSpPr>
          <p:nvPr/>
        </p:nvSpPr>
        <p:spPr>
          <a:xfrm xmlns:a="http://schemas.openxmlformats.org/drawingml/2006/main">
            <a:off x="685800" y="2324100"/>
            <a:ext cx="2190750" cy="1162050"/>
          </a:xfrm>
          <a:prstGeom xmlns:a="http://schemas.openxmlformats.org/drawingml/2006/main" prst="roundRect">
            <a:avLst>
              <a:gd name="adj" fmla="val 9836"/>
            </a:avLst>
          </a:prstGeom>
          <a:solidFill xmlns:a="http://schemas.openxmlformats.org/drawingml/2006/main">
            <a:srgbClr val="FFFFFF"/>
          </a:solidFill>
          <a:ln xmlns:a="http://schemas.openxmlformats.org/drawingml/2006/main" w="9525">
            <a:solidFill>
              <a:srgbClr val="CBD7D3"/>
            </a:solidFill>
            <a:prstDash val="solid"/>
          </a:ln>
        </p:spPr>
      </p:sp>
      <p:sp>
        <p:nvSpPr>
          <p:cNvPr id="8" name="">
            <a:extLst xmlns:a="http://schemas.openxmlformats.org/drawingml/2006/main">
              <a:ext uri="{FF2B5EF4-FFF2-40B4-BE49-F238E27FC236}">
                <a16:creationId xmlns:a16="http://schemas.microsoft.com/office/drawing/2014/main" id="{9FC52A7C-DB56-46DB-BDD6-E13716817091}"/>
              </a:ext>
            </a:extLst>
          </p:cNvPr>
          <p:cNvSpPr>
            <a:spLocks xmlns:a="http://schemas.openxmlformats.org/drawingml/2006/main" noGrp="1"/>
          </p:cNvSpPr>
          <p:nvPr/>
        </p:nvSpPr>
        <p:spPr>
          <a:xfrm xmlns:a="http://schemas.openxmlformats.org/drawingml/2006/main">
            <a:off x="857250" y="247650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C99A5B"/>
                </a:solidFill>
                <a:latin typeface="Aptos"/>
                <a:ea typeface="Aptos"/>
                <a:cs typeface="Aptos"/>
              </a:defRPr>
            </a:pPr>
            <a:r>
              <a:rPr sz="1125" b="1">
                <a:solidFill>
                  <a:srgbClr val="C99A5B"/>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37CDBCD9-BA6C-493C-AA67-254986860F87}"/>
              </a:ext>
            </a:extLst>
          </p:cNvPr>
          <p:cNvSpPr>
            <a:spLocks xmlns:a="http://schemas.openxmlformats.org/drawingml/2006/main" noGrp="1"/>
          </p:cNvSpPr>
          <p:nvPr/>
        </p:nvSpPr>
        <p:spPr>
          <a:xfrm xmlns:a="http://schemas.openxmlformats.org/drawingml/2006/main">
            <a:off x="857250" y="27813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23B3A"/>
                </a:solidFill>
                <a:latin typeface="Aptos"/>
                <a:ea typeface="Aptos"/>
                <a:cs typeface="Aptos"/>
              </a:defRPr>
            </a:pPr>
            <a:r>
              <a:rPr sz="1650" b="1">
                <a:solidFill>
                  <a:srgbClr val="123B3A"/>
                </a:solidFill>
                <a:latin typeface="Aptos"/>
                <a:ea typeface="Aptos"/>
                <a:cs typeface="Aptos"/>
              </a:rPr>
              <a:t>Navegador</a:t>
            </a:r>
          </a:p>
        </p:txBody>
      </p:sp>
      <p:sp>
        <p:nvSpPr>
          <p:cNvPr id="10" name="">
            <a:extLst xmlns:a="http://schemas.openxmlformats.org/drawingml/2006/main">
              <a:ext uri="{FF2B5EF4-FFF2-40B4-BE49-F238E27FC236}">
                <a16:creationId xmlns:a16="http://schemas.microsoft.com/office/drawing/2014/main" id="{62846BFC-8104-4E02-936F-87EA362A4D63}"/>
              </a:ext>
            </a:extLst>
          </p:cNvPr>
          <p:cNvSpPr>
            <a:spLocks xmlns:a="http://schemas.openxmlformats.org/drawingml/2006/main" noGrp="1"/>
          </p:cNvSpPr>
          <p:nvPr/>
        </p:nvSpPr>
        <p:spPr>
          <a:xfrm xmlns:a="http://schemas.openxmlformats.org/drawingml/2006/main">
            <a:off x="857250" y="314325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a:solidFill>
                  <a:srgbClr val="5A6866"/>
                </a:solidFill>
                <a:latin typeface="Aptos"/>
                <a:ea typeface="Aptos"/>
                <a:cs typeface="Aptos"/>
              </a:defRPr>
            </a:pPr>
            <a:r>
              <a:rPr sz="1125">
                <a:solidFill>
                  <a:srgbClr val="5A6866"/>
                </a:solidFill>
                <a:latin typeface="Aptos"/>
                <a:ea typeface="Aptos"/>
                <a:cs typeface="Aptos"/>
              </a:rPr>
              <a:t>Usuario y eventos</a:t>
            </a:r>
          </a:p>
        </p:txBody>
      </p:sp>
      <p:sp>
        <p:nvSpPr>
          <p:cNvPr id="11" name="">
            <a:extLst xmlns:a="http://schemas.openxmlformats.org/drawingml/2006/main">
              <a:ext uri="{FF2B5EF4-FFF2-40B4-BE49-F238E27FC236}">
                <a16:creationId xmlns:a16="http://schemas.microsoft.com/office/drawing/2014/main" id="{074832FF-BE29-4158-9B5E-BBBA765B2490}"/>
              </a:ext>
            </a:extLst>
          </p:cNvPr>
          <p:cNvSpPr>
            <a:spLocks xmlns:a="http://schemas.openxmlformats.org/drawingml/2006/main" noGrp="1"/>
          </p:cNvSpPr>
          <p:nvPr/>
        </p:nvSpPr>
        <p:spPr>
          <a:xfrm xmlns:a="http://schemas.openxmlformats.org/drawingml/2006/main">
            <a:off x="3352800" y="2324100"/>
            <a:ext cx="2190750" cy="1162050"/>
          </a:xfrm>
          <a:prstGeom xmlns:a="http://schemas.openxmlformats.org/drawingml/2006/main" prst="roundRect">
            <a:avLst>
              <a:gd name="adj" fmla="val 9836"/>
            </a:avLst>
          </a:prstGeom>
          <a:solidFill xmlns:a="http://schemas.openxmlformats.org/drawingml/2006/main">
            <a:srgbClr val="FFFFFF"/>
          </a:solidFill>
          <a:ln xmlns:a="http://schemas.openxmlformats.org/drawingml/2006/main" w="9525">
            <a:solidFill>
              <a:srgbClr val="CBD7D3"/>
            </a:solidFill>
            <a:prstDash val="solid"/>
          </a:ln>
        </p:spPr>
      </p:sp>
      <p:sp>
        <p:nvSpPr>
          <p:cNvPr id="12" name="">
            <a:extLst xmlns:a="http://schemas.openxmlformats.org/drawingml/2006/main">
              <a:ext uri="{FF2B5EF4-FFF2-40B4-BE49-F238E27FC236}">
                <a16:creationId xmlns:a16="http://schemas.microsoft.com/office/drawing/2014/main" id="{5960A3AC-FB69-4F3F-B393-0E3F1652CC45}"/>
              </a:ext>
            </a:extLst>
          </p:cNvPr>
          <p:cNvSpPr>
            <a:spLocks xmlns:a="http://schemas.openxmlformats.org/drawingml/2006/main" noGrp="1"/>
          </p:cNvSpPr>
          <p:nvPr/>
        </p:nvSpPr>
        <p:spPr>
          <a:xfrm xmlns:a="http://schemas.openxmlformats.org/drawingml/2006/main">
            <a:off x="3524250" y="247650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C99A5B"/>
                </a:solidFill>
                <a:latin typeface="Aptos"/>
                <a:ea typeface="Aptos"/>
                <a:cs typeface="Aptos"/>
              </a:defRPr>
            </a:pPr>
            <a:r>
              <a:rPr sz="1125" b="1">
                <a:solidFill>
                  <a:srgbClr val="C99A5B"/>
                </a:solidFill>
                <a:latin typeface="Aptos"/>
                <a:ea typeface="Aptos"/>
                <a:cs typeface="Aptos"/>
              </a:rPr>
              <a:t>02</a:t>
            </a:r>
          </a:p>
        </p:txBody>
      </p:sp>
      <p:sp>
        <p:nvSpPr>
          <p:cNvPr id="13" name="">
            <a:extLst xmlns:a="http://schemas.openxmlformats.org/drawingml/2006/main">
              <a:ext uri="{FF2B5EF4-FFF2-40B4-BE49-F238E27FC236}">
                <a16:creationId xmlns:a16="http://schemas.microsoft.com/office/drawing/2014/main" id="{57A5F587-81FB-40A1-A173-D8716EA33EEC}"/>
              </a:ext>
            </a:extLst>
          </p:cNvPr>
          <p:cNvSpPr>
            <a:spLocks xmlns:a="http://schemas.openxmlformats.org/drawingml/2006/main" noGrp="1"/>
          </p:cNvSpPr>
          <p:nvPr/>
        </p:nvSpPr>
        <p:spPr>
          <a:xfrm xmlns:a="http://schemas.openxmlformats.org/drawingml/2006/main">
            <a:off x="3524250" y="27813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23B3A"/>
                </a:solidFill>
                <a:latin typeface="Aptos"/>
                <a:ea typeface="Aptos"/>
                <a:cs typeface="Aptos"/>
              </a:defRPr>
            </a:pPr>
            <a:r>
              <a:rPr sz="1650" b="1">
                <a:solidFill>
                  <a:srgbClr val="123B3A"/>
                </a:solidFill>
                <a:latin typeface="Aptos"/>
                <a:ea typeface="Aptos"/>
                <a:cs typeface="Aptos"/>
              </a:rPr>
              <a:t>Vista Razor</a:t>
            </a:r>
          </a:p>
        </p:txBody>
      </p:sp>
      <p:sp>
        <p:nvSpPr>
          <p:cNvPr id="14" name="">
            <a:extLst xmlns:a="http://schemas.openxmlformats.org/drawingml/2006/main">
              <a:ext uri="{FF2B5EF4-FFF2-40B4-BE49-F238E27FC236}">
                <a16:creationId xmlns:a16="http://schemas.microsoft.com/office/drawing/2014/main" id="{F5D8F854-8A69-423A-B39D-67E4909270F1}"/>
              </a:ext>
            </a:extLst>
          </p:cNvPr>
          <p:cNvSpPr>
            <a:spLocks xmlns:a="http://schemas.openxmlformats.org/drawingml/2006/main" noGrp="1"/>
          </p:cNvSpPr>
          <p:nvPr/>
        </p:nvSpPr>
        <p:spPr>
          <a:xfrm xmlns:a="http://schemas.openxmlformats.org/drawingml/2006/main">
            <a:off x="3524250" y="314325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a:solidFill>
                  <a:srgbClr val="5A6866"/>
                </a:solidFill>
                <a:latin typeface="Aptos"/>
                <a:ea typeface="Aptos"/>
                <a:cs typeface="Aptos"/>
              </a:defRPr>
            </a:pPr>
            <a:r>
              <a:rPr sz="1125">
                <a:solidFill>
                  <a:srgbClr val="5A6866"/>
                </a:solidFill>
                <a:latin typeface="Aptos"/>
                <a:ea typeface="Aptos"/>
                <a:cs typeface="Aptos"/>
              </a:rPr>
              <a:t>HTML + Bootstrap + JS</a:t>
            </a:r>
          </a:p>
        </p:txBody>
      </p:sp>
      <p:sp>
        <p:nvSpPr>
          <p:cNvPr id="15" name="">
            <a:extLst xmlns:a="http://schemas.openxmlformats.org/drawingml/2006/main">
              <a:ext uri="{FF2B5EF4-FFF2-40B4-BE49-F238E27FC236}">
                <a16:creationId xmlns:a16="http://schemas.microsoft.com/office/drawing/2014/main" id="{3BC0CF1B-A4B9-4367-B84B-4C52507AA9E4}"/>
              </a:ext>
            </a:extLst>
          </p:cNvPr>
          <p:cNvSpPr>
            <a:spLocks xmlns:a="http://schemas.openxmlformats.org/drawingml/2006/main" noGrp="1"/>
          </p:cNvSpPr>
          <p:nvPr/>
        </p:nvSpPr>
        <p:spPr>
          <a:xfrm xmlns:a="http://schemas.openxmlformats.org/drawingml/2006/main">
            <a:off x="6019800" y="2324100"/>
            <a:ext cx="2190750" cy="1162050"/>
          </a:xfrm>
          <a:prstGeom xmlns:a="http://schemas.openxmlformats.org/drawingml/2006/main" prst="roundRect">
            <a:avLst>
              <a:gd name="adj" fmla="val 9836"/>
            </a:avLst>
          </a:prstGeom>
          <a:solidFill xmlns:a="http://schemas.openxmlformats.org/drawingml/2006/main">
            <a:srgbClr val="123B3A"/>
          </a:solidFill>
          <a:ln xmlns:a="http://schemas.openxmlformats.org/drawingml/2006/main" w="9525">
            <a:solidFill>
              <a:srgbClr val="123B3A"/>
            </a:solidFill>
            <a:prstDash val="solid"/>
          </a:ln>
        </p:spPr>
      </p:sp>
      <p:sp>
        <p:nvSpPr>
          <p:cNvPr id="16" name="">
            <a:extLst xmlns:a="http://schemas.openxmlformats.org/drawingml/2006/main">
              <a:ext uri="{FF2B5EF4-FFF2-40B4-BE49-F238E27FC236}">
                <a16:creationId xmlns:a16="http://schemas.microsoft.com/office/drawing/2014/main" id="{215665AA-C016-4DC5-B217-C9E53ED364C0}"/>
              </a:ext>
            </a:extLst>
          </p:cNvPr>
          <p:cNvSpPr>
            <a:spLocks xmlns:a="http://schemas.openxmlformats.org/drawingml/2006/main" noGrp="1"/>
          </p:cNvSpPr>
          <p:nvPr/>
        </p:nvSpPr>
        <p:spPr>
          <a:xfrm xmlns:a="http://schemas.openxmlformats.org/drawingml/2006/main">
            <a:off x="6191250" y="247650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9D8BC"/>
                </a:solidFill>
                <a:latin typeface="Aptos"/>
                <a:ea typeface="Aptos"/>
                <a:cs typeface="Aptos"/>
              </a:defRPr>
            </a:pPr>
            <a:r>
              <a:rPr sz="1125" b="1">
                <a:solidFill>
                  <a:srgbClr val="E9D8BC"/>
                </a:solidFill>
                <a:latin typeface="Aptos"/>
                <a:ea typeface="Aptos"/>
                <a:cs typeface="Aptos"/>
              </a:rPr>
              <a:t>03</a:t>
            </a:r>
          </a:p>
        </p:txBody>
      </p:sp>
      <p:sp>
        <p:nvSpPr>
          <p:cNvPr id="17" name="">
            <a:extLst xmlns:a="http://schemas.openxmlformats.org/drawingml/2006/main">
              <a:ext uri="{FF2B5EF4-FFF2-40B4-BE49-F238E27FC236}">
                <a16:creationId xmlns:a16="http://schemas.microsoft.com/office/drawing/2014/main" id="{466478F0-B480-4246-98F5-89EDE94E8EEA}"/>
              </a:ext>
            </a:extLst>
          </p:cNvPr>
          <p:cNvSpPr>
            <a:spLocks xmlns:a="http://schemas.openxmlformats.org/drawingml/2006/main" noGrp="1"/>
          </p:cNvSpPr>
          <p:nvPr/>
        </p:nvSpPr>
        <p:spPr>
          <a:xfrm xmlns:a="http://schemas.openxmlformats.org/drawingml/2006/main">
            <a:off x="6191250" y="27813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Controlador</a:t>
            </a:r>
          </a:p>
        </p:txBody>
      </p:sp>
      <p:sp>
        <p:nvSpPr>
          <p:cNvPr id="18" name="">
            <a:extLst xmlns:a="http://schemas.openxmlformats.org/drawingml/2006/main">
              <a:ext uri="{FF2B5EF4-FFF2-40B4-BE49-F238E27FC236}">
                <a16:creationId xmlns:a16="http://schemas.microsoft.com/office/drawing/2014/main" id="{125A4583-8386-4AE5-8A72-659F5B76FA7C}"/>
              </a:ext>
            </a:extLst>
          </p:cNvPr>
          <p:cNvSpPr>
            <a:spLocks xmlns:a="http://schemas.openxmlformats.org/drawingml/2006/main" noGrp="1"/>
          </p:cNvSpPr>
          <p:nvPr/>
        </p:nvSpPr>
        <p:spPr>
          <a:xfrm xmlns:a="http://schemas.openxmlformats.org/drawingml/2006/main">
            <a:off x="6191250" y="314325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a:solidFill>
                  <a:srgbClr val="DDECE8"/>
                </a:solidFill>
                <a:latin typeface="Aptos"/>
                <a:ea typeface="Aptos"/>
                <a:cs typeface="Aptos"/>
              </a:defRPr>
            </a:pPr>
            <a:r>
              <a:rPr sz="1125">
                <a:solidFill>
                  <a:srgbClr val="DDECE8"/>
                </a:solidFill>
                <a:latin typeface="Aptos"/>
                <a:ea typeface="Aptos"/>
                <a:cs typeface="Aptos"/>
              </a:rPr>
              <a:t>Reglas y solicitudes</a:t>
            </a:r>
          </a:p>
        </p:txBody>
      </p:sp>
      <p:sp>
        <p:nvSpPr>
          <p:cNvPr id="19" name="">
            <a:extLst xmlns:a="http://schemas.openxmlformats.org/drawingml/2006/main">
              <a:ext uri="{FF2B5EF4-FFF2-40B4-BE49-F238E27FC236}">
                <a16:creationId xmlns:a16="http://schemas.microsoft.com/office/drawing/2014/main" id="{5EA43C1A-1B2D-4A9D-84A7-907B2DC744AF}"/>
              </a:ext>
            </a:extLst>
          </p:cNvPr>
          <p:cNvSpPr>
            <a:spLocks xmlns:a="http://schemas.openxmlformats.org/drawingml/2006/main" noGrp="1"/>
          </p:cNvSpPr>
          <p:nvPr/>
        </p:nvSpPr>
        <p:spPr>
          <a:xfrm xmlns:a="http://schemas.openxmlformats.org/drawingml/2006/main">
            <a:off x="8686800" y="2324100"/>
            <a:ext cx="2819400" cy="1162050"/>
          </a:xfrm>
          <a:prstGeom xmlns:a="http://schemas.openxmlformats.org/drawingml/2006/main" prst="roundRect">
            <a:avLst>
              <a:gd name="adj" fmla="val 9836"/>
            </a:avLst>
          </a:prstGeom>
          <a:solidFill xmlns:a="http://schemas.openxmlformats.org/drawingml/2006/main">
            <a:srgbClr val="FFFFFF"/>
          </a:solidFill>
          <a:ln xmlns:a="http://schemas.openxmlformats.org/drawingml/2006/main" w="9525">
            <a:solidFill>
              <a:srgbClr val="CBD7D3"/>
            </a:solidFill>
            <a:prstDash val="solid"/>
          </a:ln>
        </p:spPr>
      </p:sp>
      <p:sp>
        <p:nvSpPr>
          <p:cNvPr id="20" name="">
            <a:extLst xmlns:a="http://schemas.openxmlformats.org/drawingml/2006/main">
              <a:ext uri="{FF2B5EF4-FFF2-40B4-BE49-F238E27FC236}">
                <a16:creationId xmlns:a16="http://schemas.microsoft.com/office/drawing/2014/main" id="{DA8806D3-AA2D-4F6A-A5C1-CC7F6C77A707}"/>
              </a:ext>
            </a:extLst>
          </p:cNvPr>
          <p:cNvSpPr>
            <a:spLocks xmlns:a="http://schemas.openxmlformats.org/drawingml/2006/main" noGrp="1"/>
          </p:cNvSpPr>
          <p:nvPr/>
        </p:nvSpPr>
        <p:spPr>
          <a:xfrm xmlns:a="http://schemas.openxmlformats.org/drawingml/2006/main">
            <a:off x="8858250" y="2476500"/>
            <a:ext cx="333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C99A5B"/>
                </a:solidFill>
                <a:latin typeface="Aptos"/>
                <a:ea typeface="Aptos"/>
                <a:cs typeface="Aptos"/>
              </a:defRPr>
            </a:pPr>
            <a:r>
              <a:rPr sz="1125" b="1">
                <a:solidFill>
                  <a:srgbClr val="C99A5B"/>
                </a:solidFill>
                <a:latin typeface="Aptos"/>
                <a:ea typeface="Aptos"/>
                <a:cs typeface="Aptos"/>
              </a:rPr>
              <a:t>04</a:t>
            </a:r>
          </a:p>
        </p:txBody>
      </p:sp>
      <p:sp>
        <p:nvSpPr>
          <p:cNvPr id="21" name="">
            <a:extLst xmlns:a="http://schemas.openxmlformats.org/drawingml/2006/main">
              <a:ext uri="{FF2B5EF4-FFF2-40B4-BE49-F238E27FC236}">
                <a16:creationId xmlns:a16="http://schemas.microsoft.com/office/drawing/2014/main" id="{A11EC5DE-2FE0-4BEB-A270-4B5FBBF22E99}"/>
              </a:ext>
            </a:extLst>
          </p:cNvPr>
          <p:cNvSpPr>
            <a:spLocks xmlns:a="http://schemas.openxmlformats.org/drawingml/2006/main" noGrp="1"/>
          </p:cNvSpPr>
          <p:nvPr/>
        </p:nvSpPr>
        <p:spPr>
          <a:xfrm xmlns:a="http://schemas.openxmlformats.org/drawingml/2006/main">
            <a:off x="8858250" y="27813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23B3A"/>
                </a:solidFill>
                <a:latin typeface="Aptos"/>
                <a:ea typeface="Aptos"/>
                <a:cs typeface="Aptos"/>
              </a:defRPr>
            </a:pPr>
            <a:r>
              <a:rPr sz="1650" b="1">
                <a:solidFill>
                  <a:srgbClr val="123B3A"/>
                </a:solidFill>
                <a:latin typeface="Aptos"/>
                <a:ea typeface="Aptos"/>
                <a:cs typeface="Aptos"/>
              </a:rPr>
              <a:t>SQL Server</a:t>
            </a:r>
          </a:p>
        </p:txBody>
      </p:sp>
      <p:sp>
        <p:nvSpPr>
          <p:cNvPr id="22" name="">
            <a:extLst xmlns:a="http://schemas.openxmlformats.org/drawingml/2006/main">
              <a:ext uri="{FF2B5EF4-FFF2-40B4-BE49-F238E27FC236}">
                <a16:creationId xmlns:a16="http://schemas.microsoft.com/office/drawing/2014/main" id="{AA8DA8A3-F643-4DEC-9C59-AEDE818C752B}"/>
              </a:ext>
            </a:extLst>
          </p:cNvPr>
          <p:cNvSpPr>
            <a:spLocks xmlns:a="http://schemas.openxmlformats.org/drawingml/2006/main" noGrp="1"/>
          </p:cNvSpPr>
          <p:nvPr/>
        </p:nvSpPr>
        <p:spPr>
          <a:xfrm xmlns:a="http://schemas.openxmlformats.org/drawingml/2006/main">
            <a:off x="8858250" y="31432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a:solidFill>
                  <a:srgbClr val="5A6866"/>
                </a:solidFill>
                <a:latin typeface="Aptos"/>
                <a:ea typeface="Aptos"/>
                <a:cs typeface="Aptos"/>
              </a:defRPr>
            </a:pPr>
            <a:r>
              <a:rPr sz="1125">
                <a:solidFill>
                  <a:srgbClr val="5A6866"/>
                </a:solidFill>
                <a:latin typeface="Aptos"/>
                <a:ea typeface="Aptos"/>
                <a:cs typeface="Aptos"/>
              </a:rPr>
              <a:t>SP + tablas + transacciones</a:t>
            </a:r>
          </a:p>
        </p:txBody>
      </p:sp>
      <p:sp>
        <p:nvSpPr>
          <p:cNvPr id="23" name="">
            <a:extLst xmlns:a="http://schemas.openxmlformats.org/drawingml/2006/main">
              <a:ext uri="{FF2B5EF4-FFF2-40B4-BE49-F238E27FC236}">
                <a16:creationId xmlns:a16="http://schemas.microsoft.com/office/drawing/2014/main" id="{4F8E7A28-4C61-4516-B970-0D98C61B674A}"/>
              </a:ext>
            </a:extLst>
          </p:cNvPr>
          <p:cNvSpPr>
            <a:spLocks xmlns:a="http://schemas.openxmlformats.org/drawingml/2006/main" noGrp="1"/>
          </p:cNvSpPr>
          <p:nvPr/>
        </p:nvSpPr>
        <p:spPr>
          <a:xfrm xmlns:a="http://schemas.openxmlformats.org/drawingml/2006/main">
            <a:off x="5905500" y="4343400"/>
            <a:ext cx="2419350" cy="1028700"/>
          </a:xfrm>
          <a:prstGeom xmlns:a="http://schemas.openxmlformats.org/drawingml/2006/main" prst="roundRect">
            <a:avLst>
              <a:gd name="adj" fmla="val 11111"/>
            </a:avLst>
          </a:prstGeom>
          <a:solidFill xmlns:a="http://schemas.openxmlformats.org/drawingml/2006/main">
            <a:srgbClr val="DDECE8"/>
          </a:solidFill>
          <a:ln xmlns:a="http://schemas.openxmlformats.org/drawingml/2006/main" w="0">
            <a:solidFill>
              <a:srgbClr val="DDECE8"/>
            </a:solidFill>
            <a:prstDash val="solid"/>
          </a:ln>
        </p:spPr>
      </p:sp>
      <p:sp>
        <p:nvSpPr>
          <p:cNvPr id="24" name="">
            <a:extLst xmlns:a="http://schemas.openxmlformats.org/drawingml/2006/main">
              <a:ext uri="{FF2B5EF4-FFF2-40B4-BE49-F238E27FC236}">
                <a16:creationId xmlns:a16="http://schemas.microsoft.com/office/drawing/2014/main" id="{0AC2BBF4-8EDF-4215-8B70-08721AC7B1EE}"/>
              </a:ext>
            </a:extLst>
          </p:cNvPr>
          <p:cNvSpPr>
            <a:spLocks xmlns:a="http://schemas.openxmlformats.org/drawingml/2006/main" noGrp="1"/>
          </p:cNvSpPr>
          <p:nvPr/>
        </p:nvSpPr>
        <p:spPr>
          <a:xfrm xmlns:a="http://schemas.openxmlformats.org/drawingml/2006/main">
            <a:off x="6115050" y="45339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23B3A"/>
                </a:solidFill>
                <a:latin typeface="Aptos"/>
                <a:ea typeface="Aptos"/>
                <a:cs typeface="Aptos"/>
              </a:defRPr>
            </a:pPr>
            <a:r>
              <a:rPr sz="1650" b="1">
                <a:solidFill>
                  <a:srgbClr val="123B3A"/>
                </a:solidFill>
                <a:latin typeface="Aptos"/>
                <a:ea typeface="Aptos"/>
                <a:cs typeface="Aptos"/>
              </a:rPr>
              <a:t>Modelo</a:t>
            </a:r>
          </a:p>
        </p:txBody>
      </p:sp>
      <p:sp>
        <p:nvSpPr>
          <p:cNvPr id="25" name="">
            <a:extLst xmlns:a="http://schemas.openxmlformats.org/drawingml/2006/main">
              <a:ext uri="{FF2B5EF4-FFF2-40B4-BE49-F238E27FC236}">
                <a16:creationId xmlns:a16="http://schemas.microsoft.com/office/drawing/2014/main" id="{E123B2A1-0F67-4F72-8717-EDB438E2738A}"/>
              </a:ext>
            </a:extLst>
          </p:cNvPr>
          <p:cNvSpPr>
            <a:spLocks xmlns:a="http://schemas.openxmlformats.org/drawingml/2006/main" noGrp="1"/>
          </p:cNvSpPr>
          <p:nvPr/>
        </p:nvSpPr>
        <p:spPr>
          <a:xfrm xmlns:a="http://schemas.openxmlformats.org/drawingml/2006/main">
            <a:off x="6115050" y="49339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a:solidFill>
                  <a:srgbClr val="5A6866"/>
                </a:solidFill>
                <a:latin typeface="Aptos"/>
                <a:ea typeface="Aptos"/>
                <a:cs typeface="Aptos"/>
              </a:defRPr>
            </a:pPr>
            <a:r>
              <a:rPr sz="1125">
                <a:solidFill>
                  <a:srgbClr val="5A6866"/>
                </a:solidFill>
                <a:latin typeface="Aptos"/>
                <a:ea typeface="Aptos"/>
                <a:cs typeface="Aptos"/>
              </a:rPr>
              <a:t>Reserva, Cliente, Habitación...</a:t>
            </a:r>
          </a:p>
        </p:txBody>
      </p:sp>
      <p:sp>
        <p:nvSpPr>
          <p:cNvPr id="26" name="">
            <a:extLst xmlns:a="http://schemas.openxmlformats.org/drawingml/2006/main">
              <a:ext uri="{FF2B5EF4-FFF2-40B4-BE49-F238E27FC236}">
                <a16:creationId xmlns:a16="http://schemas.microsoft.com/office/drawing/2014/main" id="{D75110DB-3084-4FAF-97CD-C982F02C6BF8}"/>
              </a:ext>
            </a:extLst>
          </p:cNvPr>
          <p:cNvSpPr>
            <a:spLocks xmlns:a="http://schemas.openxmlformats.org/drawingml/2006/main" noGrp="1"/>
          </p:cNvSpPr>
          <p:nvPr/>
        </p:nvSpPr>
        <p:spPr>
          <a:xfrm xmlns:a="http://schemas.openxmlformats.org/drawingml/2006/main">
            <a:off x="8763000" y="39052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F6B65"/>
                </a:solidFill>
                <a:latin typeface="Aptos"/>
                <a:ea typeface="Aptos"/>
                <a:cs typeface="Aptos"/>
              </a:defRPr>
            </a:pPr>
            <a:r>
              <a:rPr sz="1350" b="1">
                <a:solidFill>
                  <a:srgbClr val="1F6B65"/>
                </a:solidFill>
                <a:latin typeface="Aptos"/>
                <a:ea typeface="Aptos"/>
                <a:cs typeface="Aptos"/>
              </a:rPr>
              <a:t>ADO.NET / SqlClient</a:t>
            </a:r>
          </a:p>
        </p:txBody>
      </p:sp>
      <p:sp>
        <p:nvSpPr>
          <p:cNvPr id="27" name="">
            <a:extLst xmlns:a="http://schemas.openxmlformats.org/drawingml/2006/main">
              <a:ext uri="{FF2B5EF4-FFF2-40B4-BE49-F238E27FC236}">
                <a16:creationId xmlns:a16="http://schemas.microsoft.com/office/drawing/2014/main" id="{0918D548-CAB3-4F50-8606-57F954F33FD7}"/>
              </a:ext>
            </a:extLst>
          </p:cNvPr>
          <p:cNvSpPr>
            <a:spLocks xmlns:a="http://schemas.openxmlformats.org/drawingml/2006/main" noGrp="1"/>
          </p:cNvSpPr>
          <p:nvPr/>
        </p:nvSpPr>
        <p:spPr>
          <a:xfrm xmlns:a="http://schemas.openxmlformats.org/drawingml/2006/main">
            <a:off x="1619250" y="3781425"/>
            <a:ext cx="1619250" cy="361950"/>
          </a:xfrm>
          <a:prstGeom xmlns:a="http://schemas.openxmlformats.org/drawingml/2006/main" prst="roundRect">
            <a:avLst>
              <a:gd name="adj" fmla="val 50000"/>
            </a:avLst>
          </a:prstGeom>
          <a:solidFill xmlns:a="http://schemas.openxmlformats.org/drawingml/2006/main">
            <a:srgbClr val="E9D8BC"/>
          </a:solidFill>
          <a:ln xmlns:a="http://schemas.openxmlformats.org/drawingml/2006/main" w="0">
            <a:solidFill>
              <a:srgbClr val="E9D8BC"/>
            </a:solidFill>
            <a:prstDash val="solid"/>
          </a:ln>
        </p:spPr>
      </p:sp>
      <p:sp>
        <p:nvSpPr>
          <p:cNvPr id="28" name="">
            <a:extLst xmlns:a="http://schemas.openxmlformats.org/drawingml/2006/main">
              <a:ext uri="{FF2B5EF4-FFF2-40B4-BE49-F238E27FC236}">
                <a16:creationId xmlns:a16="http://schemas.microsoft.com/office/drawing/2014/main" id="{0280CFD6-1547-48EE-8D10-F23761BB2D19}"/>
              </a:ext>
            </a:extLst>
          </p:cNvPr>
          <p:cNvSpPr>
            <a:spLocks xmlns:a="http://schemas.openxmlformats.org/drawingml/2006/main" noGrp="1"/>
          </p:cNvSpPr>
          <p:nvPr/>
        </p:nvSpPr>
        <p:spPr>
          <a:xfrm xmlns:a="http://schemas.openxmlformats.org/drawingml/2006/main">
            <a:off x="1619250" y="3781425"/>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28575" rIns="76200" bIns="28575" anchor="ctr">
            <a:normAutofit fontScale="100000"/>
          </a:bodyPr>
          <a:lstStyle xmlns:a="http://schemas.openxmlformats.org/drawingml/2006/main"/>
          <a:p xmlns:a="http://schemas.openxmlformats.org/drawingml/2006/main">
            <a:pPr algn="ctr">
              <a:defRPr sz="1125" b="1">
                <a:solidFill>
                  <a:srgbClr val="123B3A"/>
                </a:solidFill>
                <a:latin typeface="Aptos"/>
                <a:ea typeface="Aptos"/>
                <a:cs typeface="Aptos"/>
              </a:defRPr>
            </a:pPr>
            <a:r>
              <a:rPr sz="1125" b="1">
                <a:solidFill>
                  <a:srgbClr val="123B3A"/>
                </a:solidFill>
                <a:latin typeface="Aptos"/>
                <a:ea typeface="Aptos"/>
                <a:cs typeface="Aptos"/>
              </a:rPr>
              <a:t>Solicitud HTTP</a:t>
            </a:r>
          </a:p>
        </p:txBody>
      </p:sp>
      <p:sp>
        <p:nvSpPr>
          <p:cNvPr id="29" name="">
            <a:extLst xmlns:a="http://schemas.openxmlformats.org/drawingml/2006/main">
              <a:ext uri="{FF2B5EF4-FFF2-40B4-BE49-F238E27FC236}">
                <a16:creationId xmlns:a16="http://schemas.microsoft.com/office/drawing/2014/main" id="{2B7C0E17-119C-425A-85FD-507EEC22462D}"/>
              </a:ext>
            </a:extLst>
          </p:cNvPr>
          <p:cNvSpPr>
            <a:spLocks xmlns:a="http://schemas.openxmlformats.org/drawingml/2006/main" noGrp="1"/>
          </p:cNvSpPr>
          <p:nvPr/>
        </p:nvSpPr>
        <p:spPr>
          <a:xfrm xmlns:a="http://schemas.openxmlformats.org/drawingml/2006/main">
            <a:off x="3476625" y="3781425"/>
            <a:ext cx="2095500" cy="361950"/>
          </a:xfrm>
          <a:prstGeom xmlns:a="http://schemas.openxmlformats.org/drawingml/2006/main" prst="roundRect">
            <a:avLst>
              <a:gd name="adj" fmla="val 50000"/>
            </a:avLst>
          </a:prstGeom>
          <a:solidFill xmlns:a="http://schemas.openxmlformats.org/drawingml/2006/main">
            <a:srgbClr val="DDECE8"/>
          </a:solidFill>
          <a:ln xmlns:a="http://schemas.openxmlformats.org/drawingml/2006/main" w="0">
            <a:solidFill>
              <a:srgbClr val="DDECE8"/>
            </a:solidFill>
            <a:prstDash val="solid"/>
          </a:ln>
        </p:spPr>
      </p:sp>
      <p:sp>
        <p:nvSpPr>
          <p:cNvPr id="30" name="">
            <a:extLst xmlns:a="http://schemas.openxmlformats.org/drawingml/2006/main">
              <a:ext uri="{FF2B5EF4-FFF2-40B4-BE49-F238E27FC236}">
                <a16:creationId xmlns:a16="http://schemas.microsoft.com/office/drawing/2014/main" id="{EEA13F6D-D405-421C-991C-1A623AF955AD}"/>
              </a:ext>
            </a:extLst>
          </p:cNvPr>
          <p:cNvSpPr>
            <a:spLocks xmlns:a="http://schemas.openxmlformats.org/drawingml/2006/main" noGrp="1"/>
          </p:cNvSpPr>
          <p:nvPr/>
        </p:nvSpPr>
        <p:spPr>
          <a:xfrm xmlns:a="http://schemas.openxmlformats.org/drawingml/2006/main">
            <a:off x="3476625" y="3781425"/>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28575" rIns="76200" bIns="28575" anchor="ctr">
            <a:normAutofit fontScale="100000"/>
          </a:bodyPr>
          <a:lstStyle xmlns:a="http://schemas.openxmlformats.org/drawingml/2006/main"/>
          <a:p xmlns:a="http://schemas.openxmlformats.org/drawingml/2006/main">
            <a:pPr algn="ctr">
              <a:defRPr sz="1125" b="1">
                <a:solidFill>
                  <a:srgbClr val="123B3A"/>
                </a:solidFill>
                <a:latin typeface="Aptos"/>
                <a:ea typeface="Aptos"/>
                <a:cs typeface="Aptos"/>
              </a:defRPr>
            </a:pPr>
            <a:r>
              <a:rPr sz="1125" b="1">
                <a:solidFill>
                  <a:srgbClr val="123B3A"/>
                </a:solidFill>
                <a:latin typeface="Aptos"/>
                <a:ea typeface="Aptos"/>
                <a:cs typeface="Aptos"/>
              </a:rPr>
              <a:t>Respuesta HTML / JSON</a:t>
            </a:r>
          </a:p>
        </p:txBody>
      </p:sp>
    </p:spTree>
    <p:extLst>
      <p:ext uri="{BB962C8B-B14F-4D97-AF65-F5344CB8AC3E}">
        <p14:creationId xmlns:p14="http://schemas.microsoft.com/office/powerpoint/2010/main" val="1143225612"/>
      </p:ext>
    </p:extLst>
  </p:cSld>
</p:sld>
</file>

<file path=ppt/slides/slide6.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41579920-E6F1-431A-8F3A-2F938A195873}"/>
              </a:ext>
            </a:extLst>
          </p:cNvPr>
          <p:cNvSpPr>
            <a:spLocks xmlns:a="http://schemas.openxmlformats.org/drawingml/2006/main" noGrp="1"/>
          </p:cNvSpPr>
          <p:nvPr/>
        </p:nvSpPr>
        <p:spPr>
          <a:xfrm xmlns:a="http://schemas.openxmlformats.org/drawingml/2006/main">
            <a:off x="685800" y="6477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a:solidFill>
                  <a:srgbClr val="123B3A"/>
                </a:solidFill>
                <a:latin typeface="Aptos"/>
                <a:ea typeface="Aptos"/>
                <a:cs typeface="Aptos"/>
              </a:defRPr>
            </a:pPr>
            <a:r>
              <a:rPr sz="2700" b="1">
                <a:solidFill>
                  <a:srgbClr val="123B3A"/>
                </a:solidFill>
                <a:latin typeface="Aptos"/>
                <a:ea typeface="Aptos"/>
                <a:cs typeface="Aptos"/>
              </a:rPr>
              <a:t>Cada tecnología cumple una función concreta</a:t>
            </a:r>
          </a:p>
        </p:txBody>
      </p:sp>
      <p:sp>
        <p:nvSpPr>
          <p:cNvPr id="2" name="">
            <a:extLst xmlns:a="http://schemas.openxmlformats.org/drawingml/2006/main">
              <a:ext uri="{FF2B5EF4-FFF2-40B4-BE49-F238E27FC236}">
                <a16:creationId xmlns:a16="http://schemas.microsoft.com/office/drawing/2014/main" id="{B2C6A503-8B9D-4FD2-986F-67F798DB1E5C}"/>
              </a:ext>
            </a:extLst>
          </p:cNvPr>
          <p:cNvSpPr>
            <a:spLocks xmlns:a="http://schemas.openxmlformats.org/drawingml/2006/main" noGrp="1"/>
          </p:cNvSpPr>
          <p:nvPr/>
        </p:nvSpPr>
        <p:spPr>
          <a:xfrm xmlns:a="http://schemas.openxmlformats.org/drawingml/2006/main">
            <a:off x="11106150" y="34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5A6866"/>
                </a:solidFill>
                <a:latin typeface="Aptos"/>
                <a:ea typeface="Aptos"/>
                <a:cs typeface="Aptos"/>
              </a:defRPr>
            </a:pPr>
            <a:r>
              <a:rPr sz="900" b="1">
                <a:solidFill>
                  <a:srgbClr val="5A6866"/>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34052BCE-4376-4B35-A0D7-DC9630675455}"/>
              </a:ext>
            </a:extLst>
          </p:cNvPr>
          <p:cNvSpPr>
            <a:spLocks xmlns:a="http://schemas.openxmlformats.org/drawingml/2006/main" noGrp="1"/>
          </p:cNvSpPr>
          <p:nvPr/>
        </p:nvSpPr>
        <p:spPr>
          <a:xfrm xmlns:a="http://schemas.openxmlformats.org/drawingml/2006/main">
            <a:off x="4000500" y="1943100"/>
            <a:ext cx="0" cy="3857625"/>
          </a:xfrm>
          <a:prstGeom xmlns:a="http://schemas.openxmlformats.org/drawingml/2006/main" prst="line">
            <a:avLst/>
          </a:prstGeom>
          <a:noFill xmlns:a="http://schemas.openxmlformats.org/drawingml/2006/main"/>
          <a:ln xmlns:a="http://schemas.openxmlformats.org/drawingml/2006/main" w="9525">
            <a:solidFill>
              <a:srgbClr val="CBD7D3"/>
            </a:solidFill>
            <a:prstDash val="solid"/>
          </a:ln>
        </p:spPr>
      </p:sp>
      <p:sp>
        <p:nvSpPr>
          <p:cNvPr id="4" name="">
            <a:extLst xmlns:a="http://schemas.openxmlformats.org/drawingml/2006/main">
              <a:ext uri="{FF2B5EF4-FFF2-40B4-BE49-F238E27FC236}">
                <a16:creationId xmlns:a16="http://schemas.microsoft.com/office/drawing/2014/main" id="{AF625323-3A51-469F-87C8-E6ABA131E0DA}"/>
              </a:ext>
            </a:extLst>
          </p:cNvPr>
          <p:cNvSpPr>
            <a:spLocks xmlns:a="http://schemas.openxmlformats.org/drawingml/2006/main" noGrp="1"/>
          </p:cNvSpPr>
          <p:nvPr/>
        </p:nvSpPr>
        <p:spPr>
          <a:xfrm xmlns:a="http://schemas.openxmlformats.org/drawingml/2006/main">
            <a:off x="7620000" y="1943100"/>
            <a:ext cx="0" cy="3857625"/>
          </a:xfrm>
          <a:prstGeom xmlns:a="http://schemas.openxmlformats.org/drawingml/2006/main" prst="line">
            <a:avLst/>
          </a:prstGeom>
          <a:noFill xmlns:a="http://schemas.openxmlformats.org/drawingml/2006/main"/>
          <a:ln xmlns:a="http://schemas.openxmlformats.org/drawingml/2006/main" w="9525">
            <a:solidFill>
              <a:srgbClr val="CBD7D3"/>
            </a:solidFill>
            <a:prstDash val="solid"/>
          </a:ln>
        </p:spPr>
      </p:sp>
      <p:sp>
        <p:nvSpPr>
          <p:cNvPr id="5" name="">
            <a:extLst xmlns:a="http://schemas.openxmlformats.org/drawingml/2006/main">
              <a:ext uri="{FF2B5EF4-FFF2-40B4-BE49-F238E27FC236}">
                <a16:creationId xmlns:a16="http://schemas.microsoft.com/office/drawing/2014/main" id="{31A6961C-2E18-4D4E-86B5-961BE9D0D9F0}"/>
              </a:ext>
            </a:extLst>
          </p:cNvPr>
          <p:cNvSpPr>
            <a:spLocks xmlns:a="http://schemas.openxmlformats.org/drawingml/2006/main" noGrp="1"/>
          </p:cNvSpPr>
          <p:nvPr/>
        </p:nvSpPr>
        <p:spPr>
          <a:xfrm xmlns:a="http://schemas.openxmlformats.org/drawingml/2006/main">
            <a:off x="685800" y="19716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C99A5B"/>
                </a:solidFill>
                <a:latin typeface="Aptos"/>
                <a:ea typeface="Aptos"/>
                <a:cs typeface="Aptos"/>
              </a:defRPr>
            </a:pPr>
            <a:r>
              <a:rPr sz="975" b="1">
                <a:solidFill>
                  <a:srgbClr val="C99A5B"/>
                </a:solidFill>
                <a:latin typeface="Aptos"/>
                <a:ea typeface="Aptos"/>
                <a:cs typeface="Aptos"/>
              </a:rPr>
              <a:t>INTERFAZ</a:t>
            </a:r>
          </a:p>
        </p:txBody>
      </p:sp>
      <p:sp>
        <p:nvSpPr>
          <p:cNvPr id="6" name="">
            <a:extLst xmlns:a="http://schemas.openxmlformats.org/drawingml/2006/main">
              <a:ext uri="{FF2B5EF4-FFF2-40B4-BE49-F238E27FC236}">
                <a16:creationId xmlns:a16="http://schemas.microsoft.com/office/drawing/2014/main" id="{7E0BB798-5225-4BCC-ACD9-262A96474B62}"/>
              </a:ext>
            </a:extLst>
          </p:cNvPr>
          <p:cNvSpPr>
            <a:spLocks xmlns:a="http://schemas.openxmlformats.org/drawingml/2006/main" noGrp="1"/>
          </p:cNvSpPr>
          <p:nvPr/>
        </p:nvSpPr>
        <p:spPr>
          <a:xfrm xmlns:a="http://schemas.openxmlformats.org/drawingml/2006/main">
            <a:off x="685800" y="23241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23B3A"/>
                </a:solidFill>
                <a:latin typeface="Aptos"/>
                <a:ea typeface="Aptos"/>
                <a:cs typeface="Aptos"/>
              </a:defRPr>
            </a:pPr>
            <a:r>
              <a:rPr sz="1950" b="1">
                <a:solidFill>
                  <a:srgbClr val="123B3A"/>
                </a:solidFill>
                <a:latin typeface="Aptos"/>
                <a:ea typeface="Aptos"/>
                <a:cs typeface="Aptos"/>
              </a:rPr>
              <a:t>Lo que ve el usuario</a:t>
            </a:r>
          </a:p>
        </p:txBody>
      </p:sp>
      <p:sp>
        <p:nvSpPr>
          <p:cNvPr id="7" name="">
            <a:extLst xmlns:a="http://schemas.openxmlformats.org/drawingml/2006/main">
              <a:ext uri="{FF2B5EF4-FFF2-40B4-BE49-F238E27FC236}">
                <a16:creationId xmlns:a16="http://schemas.microsoft.com/office/drawing/2014/main" id="{8E706D46-D2DC-486A-A887-E8F7F6D6CF97}"/>
              </a:ext>
            </a:extLst>
          </p:cNvPr>
          <p:cNvSpPr>
            <a:spLocks xmlns:a="http://schemas.openxmlformats.org/drawingml/2006/main" noGrp="1"/>
          </p:cNvSpPr>
          <p:nvPr/>
        </p:nvSpPr>
        <p:spPr>
          <a:xfrm xmlns:a="http://schemas.openxmlformats.org/drawingml/2006/main">
            <a:off x="685800" y="3295650"/>
            <a:ext cx="95250" cy="95250"/>
          </a:xfrm>
          <a:prstGeom xmlns:a="http://schemas.openxmlformats.org/drawingml/2006/main" prst="roundRect">
            <a:avLst>
              <a:gd name="adj" fmla="val 50000"/>
            </a:avLst>
          </a:prstGeom>
          <a:solidFill xmlns:a="http://schemas.openxmlformats.org/drawingml/2006/main">
            <a:srgbClr val="1F6B65"/>
          </a:solidFill>
          <a:ln xmlns:a="http://schemas.openxmlformats.org/drawingml/2006/main" w="0">
            <a:solidFill>
              <a:srgbClr val="1F6B65"/>
            </a:solidFill>
            <a:prstDash val="solid"/>
          </a:ln>
        </p:spPr>
      </p:sp>
      <p:sp>
        <p:nvSpPr>
          <p:cNvPr id="8" name="">
            <a:extLst xmlns:a="http://schemas.openxmlformats.org/drawingml/2006/main">
              <a:ext uri="{FF2B5EF4-FFF2-40B4-BE49-F238E27FC236}">
                <a16:creationId xmlns:a16="http://schemas.microsoft.com/office/drawing/2014/main" id="{30747941-8296-45CE-BB08-C51AD4174F23}"/>
              </a:ext>
            </a:extLst>
          </p:cNvPr>
          <p:cNvSpPr>
            <a:spLocks xmlns:a="http://schemas.openxmlformats.org/drawingml/2006/main" noGrp="1"/>
          </p:cNvSpPr>
          <p:nvPr/>
        </p:nvSpPr>
        <p:spPr>
          <a:xfrm xmlns:a="http://schemas.openxmlformats.org/drawingml/2006/main">
            <a:off x="933450" y="32194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182321"/>
                </a:solidFill>
                <a:latin typeface="Aptos"/>
                <a:ea typeface="Aptos"/>
                <a:cs typeface="Aptos"/>
              </a:defRPr>
            </a:pPr>
            <a:r>
              <a:rPr sz="1425" b="1">
                <a:solidFill>
                  <a:srgbClr val="182321"/>
                </a:solidFill>
                <a:latin typeface="Aptos"/>
                <a:ea typeface="Aptos"/>
                <a:cs typeface="Aptos"/>
              </a:rPr>
              <a:t>Razor (.cshtml)</a:t>
            </a:r>
          </a:p>
        </p:txBody>
      </p:sp>
      <p:sp>
        <p:nvSpPr>
          <p:cNvPr id="9" name="">
            <a:extLst xmlns:a="http://schemas.openxmlformats.org/drawingml/2006/main">
              <a:ext uri="{FF2B5EF4-FFF2-40B4-BE49-F238E27FC236}">
                <a16:creationId xmlns:a16="http://schemas.microsoft.com/office/drawing/2014/main" id="{4D257534-C584-4D3B-A607-0E615E7D59BF}"/>
              </a:ext>
            </a:extLst>
          </p:cNvPr>
          <p:cNvSpPr>
            <a:spLocks xmlns:a="http://schemas.openxmlformats.org/drawingml/2006/main" noGrp="1"/>
          </p:cNvSpPr>
          <p:nvPr/>
        </p:nvSpPr>
        <p:spPr>
          <a:xfrm xmlns:a="http://schemas.openxmlformats.org/drawingml/2006/main">
            <a:off x="685800" y="3867150"/>
            <a:ext cx="95250" cy="95250"/>
          </a:xfrm>
          <a:prstGeom xmlns:a="http://schemas.openxmlformats.org/drawingml/2006/main" prst="roundRect">
            <a:avLst>
              <a:gd name="adj" fmla="val 50000"/>
            </a:avLst>
          </a:prstGeom>
          <a:solidFill xmlns:a="http://schemas.openxmlformats.org/drawingml/2006/main">
            <a:srgbClr val="1F6B65"/>
          </a:solidFill>
          <a:ln xmlns:a="http://schemas.openxmlformats.org/drawingml/2006/main" w="0">
            <a:solidFill>
              <a:srgbClr val="1F6B65"/>
            </a:solidFill>
            <a:prstDash val="solid"/>
          </a:ln>
        </p:spPr>
      </p:sp>
      <p:sp>
        <p:nvSpPr>
          <p:cNvPr id="10" name="">
            <a:extLst xmlns:a="http://schemas.openxmlformats.org/drawingml/2006/main">
              <a:ext uri="{FF2B5EF4-FFF2-40B4-BE49-F238E27FC236}">
                <a16:creationId xmlns:a16="http://schemas.microsoft.com/office/drawing/2014/main" id="{4C227972-578F-4B1A-9FC2-370F68616B5C}"/>
              </a:ext>
            </a:extLst>
          </p:cNvPr>
          <p:cNvSpPr>
            <a:spLocks xmlns:a="http://schemas.openxmlformats.org/drawingml/2006/main" noGrp="1"/>
          </p:cNvSpPr>
          <p:nvPr/>
        </p:nvSpPr>
        <p:spPr>
          <a:xfrm xmlns:a="http://schemas.openxmlformats.org/drawingml/2006/main">
            <a:off x="933450" y="3790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182321"/>
                </a:solidFill>
                <a:latin typeface="Aptos"/>
                <a:ea typeface="Aptos"/>
                <a:cs typeface="Aptos"/>
              </a:defRPr>
            </a:pPr>
            <a:r>
              <a:rPr sz="1425" b="0">
                <a:solidFill>
                  <a:srgbClr val="182321"/>
                </a:solidFill>
                <a:latin typeface="Aptos"/>
                <a:ea typeface="Aptos"/>
                <a:cs typeface="Aptos"/>
              </a:rPr>
              <a:t>Bootstrap 5 + CSS</a:t>
            </a:r>
          </a:p>
        </p:txBody>
      </p:sp>
      <p:sp>
        <p:nvSpPr>
          <p:cNvPr id="11" name="">
            <a:extLst xmlns:a="http://schemas.openxmlformats.org/drawingml/2006/main">
              <a:ext uri="{FF2B5EF4-FFF2-40B4-BE49-F238E27FC236}">
                <a16:creationId xmlns:a16="http://schemas.microsoft.com/office/drawing/2014/main" id="{E3A29345-3DCB-483A-923A-D1736EB2BFFF}"/>
              </a:ext>
            </a:extLst>
          </p:cNvPr>
          <p:cNvSpPr>
            <a:spLocks xmlns:a="http://schemas.openxmlformats.org/drawingml/2006/main" noGrp="1"/>
          </p:cNvSpPr>
          <p:nvPr/>
        </p:nvSpPr>
        <p:spPr>
          <a:xfrm xmlns:a="http://schemas.openxmlformats.org/drawingml/2006/main">
            <a:off x="685800" y="4438650"/>
            <a:ext cx="95250" cy="95250"/>
          </a:xfrm>
          <a:prstGeom xmlns:a="http://schemas.openxmlformats.org/drawingml/2006/main" prst="roundRect">
            <a:avLst>
              <a:gd name="adj" fmla="val 50000"/>
            </a:avLst>
          </a:prstGeom>
          <a:solidFill xmlns:a="http://schemas.openxmlformats.org/drawingml/2006/main">
            <a:srgbClr val="1F6B65"/>
          </a:solidFill>
          <a:ln xmlns:a="http://schemas.openxmlformats.org/drawingml/2006/main" w="0">
            <a:solidFill>
              <a:srgbClr val="1F6B65"/>
            </a:solidFill>
            <a:prstDash val="solid"/>
          </a:ln>
        </p:spPr>
      </p:sp>
      <p:sp>
        <p:nvSpPr>
          <p:cNvPr id="12" name="">
            <a:extLst xmlns:a="http://schemas.openxmlformats.org/drawingml/2006/main">
              <a:ext uri="{FF2B5EF4-FFF2-40B4-BE49-F238E27FC236}">
                <a16:creationId xmlns:a16="http://schemas.microsoft.com/office/drawing/2014/main" id="{4F5BA2B0-121D-4AB3-B759-C0C5A45F3E3B}"/>
              </a:ext>
            </a:extLst>
          </p:cNvPr>
          <p:cNvSpPr>
            <a:spLocks xmlns:a="http://schemas.openxmlformats.org/drawingml/2006/main" noGrp="1"/>
          </p:cNvSpPr>
          <p:nvPr/>
        </p:nvSpPr>
        <p:spPr>
          <a:xfrm xmlns:a="http://schemas.openxmlformats.org/drawingml/2006/main">
            <a:off x="933450" y="43624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182321"/>
                </a:solidFill>
                <a:latin typeface="Aptos"/>
                <a:ea typeface="Aptos"/>
                <a:cs typeface="Aptos"/>
              </a:defRPr>
            </a:pPr>
            <a:r>
              <a:rPr sz="1425" b="0">
                <a:solidFill>
                  <a:srgbClr val="182321"/>
                </a:solidFill>
                <a:latin typeface="Aptos"/>
                <a:ea typeface="Aptos"/>
                <a:cs typeface="Aptos"/>
              </a:rPr>
              <a:t>JavaScript + fetch</a:t>
            </a:r>
          </a:p>
        </p:txBody>
      </p:sp>
      <p:sp>
        <p:nvSpPr>
          <p:cNvPr id="13" name="">
            <a:extLst xmlns:a="http://schemas.openxmlformats.org/drawingml/2006/main">
              <a:ext uri="{FF2B5EF4-FFF2-40B4-BE49-F238E27FC236}">
                <a16:creationId xmlns:a16="http://schemas.microsoft.com/office/drawing/2014/main" id="{0BAFA6F2-A813-40BD-8447-A39A9A55BFB6}"/>
              </a:ext>
            </a:extLst>
          </p:cNvPr>
          <p:cNvSpPr>
            <a:spLocks xmlns:a="http://schemas.openxmlformats.org/drawingml/2006/main" noGrp="1"/>
          </p:cNvSpPr>
          <p:nvPr/>
        </p:nvSpPr>
        <p:spPr>
          <a:xfrm xmlns:a="http://schemas.openxmlformats.org/drawingml/2006/main">
            <a:off x="685800" y="5010150"/>
            <a:ext cx="95250" cy="95250"/>
          </a:xfrm>
          <a:prstGeom xmlns:a="http://schemas.openxmlformats.org/drawingml/2006/main" prst="roundRect">
            <a:avLst>
              <a:gd name="adj" fmla="val 50000"/>
            </a:avLst>
          </a:prstGeom>
          <a:solidFill xmlns:a="http://schemas.openxmlformats.org/drawingml/2006/main">
            <a:srgbClr val="1F6B65"/>
          </a:solidFill>
          <a:ln xmlns:a="http://schemas.openxmlformats.org/drawingml/2006/main" w="0">
            <a:solidFill>
              <a:srgbClr val="1F6B65"/>
            </a:solidFill>
            <a:prstDash val="solid"/>
          </a:ln>
        </p:spPr>
      </p:sp>
      <p:sp>
        <p:nvSpPr>
          <p:cNvPr id="14" name="">
            <a:extLst xmlns:a="http://schemas.openxmlformats.org/drawingml/2006/main">
              <a:ext uri="{FF2B5EF4-FFF2-40B4-BE49-F238E27FC236}">
                <a16:creationId xmlns:a16="http://schemas.microsoft.com/office/drawing/2014/main" id="{1A7A8DD1-3F97-40F3-A1C7-EC9E3E7C5F82}"/>
              </a:ext>
            </a:extLst>
          </p:cNvPr>
          <p:cNvSpPr>
            <a:spLocks xmlns:a="http://schemas.openxmlformats.org/drawingml/2006/main" noGrp="1"/>
          </p:cNvSpPr>
          <p:nvPr/>
        </p:nvSpPr>
        <p:spPr>
          <a:xfrm xmlns:a="http://schemas.openxmlformats.org/drawingml/2006/main">
            <a:off x="933450" y="4933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182321"/>
                </a:solidFill>
                <a:latin typeface="Aptos"/>
                <a:ea typeface="Aptos"/>
                <a:cs typeface="Aptos"/>
              </a:defRPr>
            </a:pPr>
            <a:r>
              <a:rPr sz="1425" b="0">
                <a:solidFill>
                  <a:srgbClr val="182321"/>
                </a:solidFill>
                <a:latin typeface="Aptos"/>
                <a:ea typeface="Aptos"/>
                <a:cs typeface="Aptos"/>
              </a:rPr>
              <a:t>AJAX y JSON</a:t>
            </a:r>
          </a:p>
        </p:txBody>
      </p:sp>
      <p:sp>
        <p:nvSpPr>
          <p:cNvPr id="15" name="">
            <a:extLst xmlns:a="http://schemas.openxmlformats.org/drawingml/2006/main">
              <a:ext uri="{FF2B5EF4-FFF2-40B4-BE49-F238E27FC236}">
                <a16:creationId xmlns:a16="http://schemas.microsoft.com/office/drawing/2014/main" id="{A2F72D30-2194-4F51-A60C-1B4396627D6F}"/>
              </a:ext>
            </a:extLst>
          </p:cNvPr>
          <p:cNvSpPr>
            <a:spLocks xmlns:a="http://schemas.openxmlformats.org/drawingml/2006/main" noGrp="1"/>
          </p:cNvSpPr>
          <p:nvPr/>
        </p:nvSpPr>
        <p:spPr>
          <a:xfrm xmlns:a="http://schemas.openxmlformats.org/drawingml/2006/main">
            <a:off x="4305300" y="19716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C99A5B"/>
                </a:solidFill>
                <a:latin typeface="Aptos"/>
                <a:ea typeface="Aptos"/>
                <a:cs typeface="Aptos"/>
              </a:defRPr>
            </a:pPr>
            <a:r>
              <a:rPr sz="975" b="1">
                <a:solidFill>
                  <a:srgbClr val="C99A5B"/>
                </a:solidFill>
                <a:latin typeface="Aptos"/>
                <a:ea typeface="Aptos"/>
                <a:cs typeface="Aptos"/>
              </a:rPr>
              <a:t>SERVIDOR</a:t>
            </a:r>
          </a:p>
        </p:txBody>
      </p:sp>
      <p:sp>
        <p:nvSpPr>
          <p:cNvPr id="16" name="">
            <a:extLst xmlns:a="http://schemas.openxmlformats.org/drawingml/2006/main">
              <a:ext uri="{FF2B5EF4-FFF2-40B4-BE49-F238E27FC236}">
                <a16:creationId xmlns:a16="http://schemas.microsoft.com/office/drawing/2014/main" id="{8B90E770-D3A8-4236-90E9-D435C14B876B}"/>
              </a:ext>
            </a:extLst>
          </p:cNvPr>
          <p:cNvSpPr>
            <a:spLocks xmlns:a="http://schemas.openxmlformats.org/drawingml/2006/main" noGrp="1"/>
          </p:cNvSpPr>
          <p:nvPr/>
        </p:nvSpPr>
        <p:spPr>
          <a:xfrm xmlns:a="http://schemas.openxmlformats.org/drawingml/2006/main">
            <a:off x="4305300" y="23241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23B3A"/>
                </a:solidFill>
                <a:latin typeface="Aptos"/>
                <a:ea typeface="Aptos"/>
                <a:cs typeface="Aptos"/>
              </a:defRPr>
            </a:pPr>
            <a:r>
              <a:rPr sz="1950" b="1">
                <a:solidFill>
                  <a:srgbClr val="123B3A"/>
                </a:solidFill>
                <a:latin typeface="Aptos"/>
                <a:ea typeface="Aptos"/>
                <a:cs typeface="Aptos"/>
              </a:rPr>
              <a:t>Lógica de la aplicación</a:t>
            </a:r>
          </a:p>
        </p:txBody>
      </p:sp>
      <p:sp>
        <p:nvSpPr>
          <p:cNvPr id="17" name="">
            <a:extLst xmlns:a="http://schemas.openxmlformats.org/drawingml/2006/main">
              <a:ext uri="{FF2B5EF4-FFF2-40B4-BE49-F238E27FC236}">
                <a16:creationId xmlns:a16="http://schemas.microsoft.com/office/drawing/2014/main" id="{6DB3B5E3-BA04-4F8F-9F8E-F1B4AD293B47}"/>
              </a:ext>
            </a:extLst>
          </p:cNvPr>
          <p:cNvSpPr>
            <a:spLocks xmlns:a="http://schemas.openxmlformats.org/drawingml/2006/main" noGrp="1"/>
          </p:cNvSpPr>
          <p:nvPr/>
        </p:nvSpPr>
        <p:spPr>
          <a:xfrm xmlns:a="http://schemas.openxmlformats.org/drawingml/2006/main">
            <a:off x="4305300" y="3295650"/>
            <a:ext cx="95250" cy="95250"/>
          </a:xfrm>
          <a:prstGeom xmlns:a="http://schemas.openxmlformats.org/drawingml/2006/main" prst="roundRect">
            <a:avLst>
              <a:gd name="adj" fmla="val 50000"/>
            </a:avLst>
          </a:prstGeom>
          <a:solidFill xmlns:a="http://schemas.openxmlformats.org/drawingml/2006/main">
            <a:srgbClr val="C99A5B"/>
          </a:solidFill>
          <a:ln xmlns:a="http://schemas.openxmlformats.org/drawingml/2006/main" w="0">
            <a:solidFill>
              <a:srgbClr val="C99A5B"/>
            </a:solidFill>
            <a:prstDash val="solid"/>
          </a:ln>
        </p:spPr>
      </p:sp>
      <p:sp>
        <p:nvSpPr>
          <p:cNvPr id="18" name="">
            <a:extLst xmlns:a="http://schemas.openxmlformats.org/drawingml/2006/main">
              <a:ext uri="{FF2B5EF4-FFF2-40B4-BE49-F238E27FC236}">
                <a16:creationId xmlns:a16="http://schemas.microsoft.com/office/drawing/2014/main" id="{DA08F6C0-E0F8-483A-84D0-DD63782EB8B9}"/>
              </a:ext>
            </a:extLst>
          </p:cNvPr>
          <p:cNvSpPr>
            <a:spLocks xmlns:a="http://schemas.openxmlformats.org/drawingml/2006/main" noGrp="1"/>
          </p:cNvSpPr>
          <p:nvPr/>
        </p:nvSpPr>
        <p:spPr>
          <a:xfrm xmlns:a="http://schemas.openxmlformats.org/drawingml/2006/main">
            <a:off x="4552950" y="32194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182321"/>
                </a:solidFill>
                <a:latin typeface="Aptos"/>
                <a:ea typeface="Aptos"/>
                <a:cs typeface="Aptos"/>
              </a:defRPr>
            </a:pPr>
            <a:r>
              <a:rPr sz="1425" b="1">
                <a:solidFill>
                  <a:srgbClr val="182321"/>
                </a:solidFill>
                <a:latin typeface="Aptos"/>
                <a:ea typeface="Aptos"/>
                <a:cs typeface="Aptos"/>
              </a:rPr>
              <a:t>.NET 8</a:t>
            </a:r>
          </a:p>
        </p:txBody>
      </p:sp>
      <p:sp>
        <p:nvSpPr>
          <p:cNvPr id="19" name="">
            <a:extLst xmlns:a="http://schemas.openxmlformats.org/drawingml/2006/main">
              <a:ext uri="{FF2B5EF4-FFF2-40B4-BE49-F238E27FC236}">
                <a16:creationId xmlns:a16="http://schemas.microsoft.com/office/drawing/2014/main" id="{5BACA63F-B6CD-4AA8-B9B2-561445AAB9C1}"/>
              </a:ext>
            </a:extLst>
          </p:cNvPr>
          <p:cNvSpPr>
            <a:spLocks xmlns:a="http://schemas.openxmlformats.org/drawingml/2006/main" noGrp="1"/>
          </p:cNvSpPr>
          <p:nvPr/>
        </p:nvSpPr>
        <p:spPr>
          <a:xfrm xmlns:a="http://schemas.openxmlformats.org/drawingml/2006/main">
            <a:off x="4305300" y="3867150"/>
            <a:ext cx="95250" cy="95250"/>
          </a:xfrm>
          <a:prstGeom xmlns:a="http://schemas.openxmlformats.org/drawingml/2006/main" prst="roundRect">
            <a:avLst>
              <a:gd name="adj" fmla="val 50000"/>
            </a:avLst>
          </a:prstGeom>
          <a:solidFill xmlns:a="http://schemas.openxmlformats.org/drawingml/2006/main">
            <a:srgbClr val="C99A5B"/>
          </a:solidFill>
          <a:ln xmlns:a="http://schemas.openxmlformats.org/drawingml/2006/main" w="0">
            <a:solidFill>
              <a:srgbClr val="C99A5B"/>
            </a:solidFill>
            <a:prstDash val="solid"/>
          </a:ln>
        </p:spPr>
      </p:sp>
      <p:sp>
        <p:nvSpPr>
          <p:cNvPr id="20" name="">
            <a:extLst xmlns:a="http://schemas.openxmlformats.org/drawingml/2006/main">
              <a:ext uri="{FF2B5EF4-FFF2-40B4-BE49-F238E27FC236}">
                <a16:creationId xmlns:a16="http://schemas.microsoft.com/office/drawing/2014/main" id="{F4C4F470-47A5-4FFE-B156-65FF1BC80C1D}"/>
              </a:ext>
            </a:extLst>
          </p:cNvPr>
          <p:cNvSpPr>
            <a:spLocks xmlns:a="http://schemas.openxmlformats.org/drawingml/2006/main" noGrp="1"/>
          </p:cNvSpPr>
          <p:nvPr/>
        </p:nvSpPr>
        <p:spPr>
          <a:xfrm xmlns:a="http://schemas.openxmlformats.org/drawingml/2006/main">
            <a:off x="4552950" y="3790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182321"/>
                </a:solidFill>
                <a:latin typeface="Aptos"/>
                <a:ea typeface="Aptos"/>
                <a:cs typeface="Aptos"/>
              </a:defRPr>
            </a:pPr>
            <a:r>
              <a:rPr sz="1425" b="0">
                <a:solidFill>
                  <a:srgbClr val="182321"/>
                </a:solidFill>
                <a:latin typeface="Aptos"/>
                <a:ea typeface="Aptos"/>
                <a:cs typeface="Aptos"/>
              </a:rPr>
              <a:t>ASP.NET Core MVC</a:t>
            </a:r>
          </a:p>
        </p:txBody>
      </p:sp>
      <p:sp>
        <p:nvSpPr>
          <p:cNvPr id="21" name="">
            <a:extLst xmlns:a="http://schemas.openxmlformats.org/drawingml/2006/main">
              <a:ext uri="{FF2B5EF4-FFF2-40B4-BE49-F238E27FC236}">
                <a16:creationId xmlns:a16="http://schemas.microsoft.com/office/drawing/2014/main" id="{D2F86D0F-1675-4D12-96AF-4C8EBCCF3E82}"/>
              </a:ext>
            </a:extLst>
          </p:cNvPr>
          <p:cNvSpPr>
            <a:spLocks xmlns:a="http://schemas.openxmlformats.org/drawingml/2006/main" noGrp="1"/>
          </p:cNvSpPr>
          <p:nvPr/>
        </p:nvSpPr>
        <p:spPr>
          <a:xfrm xmlns:a="http://schemas.openxmlformats.org/drawingml/2006/main">
            <a:off x="4305300" y="4438650"/>
            <a:ext cx="95250" cy="95250"/>
          </a:xfrm>
          <a:prstGeom xmlns:a="http://schemas.openxmlformats.org/drawingml/2006/main" prst="roundRect">
            <a:avLst>
              <a:gd name="adj" fmla="val 50000"/>
            </a:avLst>
          </a:prstGeom>
          <a:solidFill xmlns:a="http://schemas.openxmlformats.org/drawingml/2006/main">
            <a:srgbClr val="C99A5B"/>
          </a:solidFill>
          <a:ln xmlns:a="http://schemas.openxmlformats.org/drawingml/2006/main" w="0">
            <a:solidFill>
              <a:srgbClr val="C99A5B"/>
            </a:solidFill>
            <a:prstDash val="solid"/>
          </a:ln>
        </p:spPr>
      </p:sp>
      <p:sp>
        <p:nvSpPr>
          <p:cNvPr id="22" name="">
            <a:extLst xmlns:a="http://schemas.openxmlformats.org/drawingml/2006/main">
              <a:ext uri="{FF2B5EF4-FFF2-40B4-BE49-F238E27FC236}">
                <a16:creationId xmlns:a16="http://schemas.microsoft.com/office/drawing/2014/main" id="{C34F5A10-3642-4CAD-9D8A-A15382CF7824}"/>
              </a:ext>
            </a:extLst>
          </p:cNvPr>
          <p:cNvSpPr>
            <a:spLocks xmlns:a="http://schemas.openxmlformats.org/drawingml/2006/main" noGrp="1"/>
          </p:cNvSpPr>
          <p:nvPr/>
        </p:nvSpPr>
        <p:spPr>
          <a:xfrm xmlns:a="http://schemas.openxmlformats.org/drawingml/2006/main">
            <a:off x="4552950" y="43624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182321"/>
                </a:solidFill>
                <a:latin typeface="Aptos"/>
                <a:ea typeface="Aptos"/>
                <a:cs typeface="Aptos"/>
              </a:defRPr>
            </a:pPr>
            <a:r>
              <a:rPr sz="1425" b="0">
                <a:solidFill>
                  <a:srgbClr val="182321"/>
                </a:solidFill>
                <a:latin typeface="Aptos"/>
                <a:ea typeface="Aptos"/>
                <a:cs typeface="Aptos"/>
              </a:rPr>
              <a:t>C#</a:t>
            </a:r>
          </a:p>
        </p:txBody>
      </p:sp>
      <p:sp>
        <p:nvSpPr>
          <p:cNvPr id="23" name="">
            <a:extLst xmlns:a="http://schemas.openxmlformats.org/drawingml/2006/main">
              <a:ext uri="{FF2B5EF4-FFF2-40B4-BE49-F238E27FC236}">
                <a16:creationId xmlns:a16="http://schemas.microsoft.com/office/drawing/2014/main" id="{D153CC60-5B04-433D-A68C-06B265117551}"/>
              </a:ext>
            </a:extLst>
          </p:cNvPr>
          <p:cNvSpPr>
            <a:spLocks xmlns:a="http://schemas.openxmlformats.org/drawingml/2006/main" noGrp="1"/>
          </p:cNvSpPr>
          <p:nvPr/>
        </p:nvSpPr>
        <p:spPr>
          <a:xfrm xmlns:a="http://schemas.openxmlformats.org/drawingml/2006/main">
            <a:off x="4305300" y="5010150"/>
            <a:ext cx="95250" cy="95250"/>
          </a:xfrm>
          <a:prstGeom xmlns:a="http://schemas.openxmlformats.org/drawingml/2006/main" prst="roundRect">
            <a:avLst>
              <a:gd name="adj" fmla="val 50000"/>
            </a:avLst>
          </a:prstGeom>
          <a:solidFill xmlns:a="http://schemas.openxmlformats.org/drawingml/2006/main">
            <a:srgbClr val="C99A5B"/>
          </a:solidFill>
          <a:ln xmlns:a="http://schemas.openxmlformats.org/drawingml/2006/main" w="0">
            <a:solidFill>
              <a:srgbClr val="C99A5B"/>
            </a:solidFill>
            <a:prstDash val="solid"/>
          </a:ln>
        </p:spPr>
      </p:sp>
      <p:sp>
        <p:nvSpPr>
          <p:cNvPr id="24" name="">
            <a:extLst xmlns:a="http://schemas.openxmlformats.org/drawingml/2006/main">
              <a:ext uri="{FF2B5EF4-FFF2-40B4-BE49-F238E27FC236}">
                <a16:creationId xmlns:a16="http://schemas.microsoft.com/office/drawing/2014/main" id="{F81875B7-7D30-41E0-837F-3B23C86CE9D2}"/>
              </a:ext>
            </a:extLst>
          </p:cNvPr>
          <p:cNvSpPr>
            <a:spLocks xmlns:a="http://schemas.openxmlformats.org/drawingml/2006/main" noGrp="1"/>
          </p:cNvSpPr>
          <p:nvPr/>
        </p:nvSpPr>
        <p:spPr>
          <a:xfrm xmlns:a="http://schemas.openxmlformats.org/drawingml/2006/main">
            <a:off x="4552950" y="4933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182321"/>
                </a:solidFill>
                <a:latin typeface="Aptos"/>
                <a:ea typeface="Aptos"/>
                <a:cs typeface="Aptos"/>
              </a:defRPr>
            </a:pPr>
            <a:r>
              <a:rPr sz="1425" b="0">
                <a:solidFill>
                  <a:srgbClr val="182321"/>
                </a:solidFill>
                <a:latin typeface="Aptos"/>
                <a:ea typeface="Aptos"/>
                <a:cs typeface="Aptos"/>
              </a:rPr>
              <a:t>Cookies, Claims y Roles</a:t>
            </a:r>
          </a:p>
        </p:txBody>
      </p:sp>
      <p:sp>
        <p:nvSpPr>
          <p:cNvPr id="25" name="">
            <a:extLst xmlns:a="http://schemas.openxmlformats.org/drawingml/2006/main">
              <a:ext uri="{FF2B5EF4-FFF2-40B4-BE49-F238E27FC236}">
                <a16:creationId xmlns:a16="http://schemas.microsoft.com/office/drawing/2014/main" id="{E35AFAAE-D9EC-474E-8449-F5692F12215B}"/>
              </a:ext>
            </a:extLst>
          </p:cNvPr>
          <p:cNvSpPr>
            <a:spLocks xmlns:a="http://schemas.openxmlformats.org/drawingml/2006/main" noGrp="1"/>
          </p:cNvSpPr>
          <p:nvPr/>
        </p:nvSpPr>
        <p:spPr>
          <a:xfrm xmlns:a="http://schemas.openxmlformats.org/drawingml/2006/main">
            <a:off x="7924800" y="19716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C99A5B"/>
                </a:solidFill>
                <a:latin typeface="Aptos"/>
                <a:ea typeface="Aptos"/>
                <a:cs typeface="Aptos"/>
              </a:defRPr>
            </a:pPr>
            <a:r>
              <a:rPr sz="975" b="1">
                <a:solidFill>
                  <a:srgbClr val="C99A5B"/>
                </a:solidFill>
                <a:latin typeface="Aptos"/>
                <a:ea typeface="Aptos"/>
                <a:cs typeface="Aptos"/>
              </a:rPr>
              <a:t>DATOS</a:t>
            </a:r>
          </a:p>
        </p:txBody>
      </p:sp>
      <p:sp>
        <p:nvSpPr>
          <p:cNvPr id="26" name="">
            <a:extLst xmlns:a="http://schemas.openxmlformats.org/drawingml/2006/main">
              <a:ext uri="{FF2B5EF4-FFF2-40B4-BE49-F238E27FC236}">
                <a16:creationId xmlns:a16="http://schemas.microsoft.com/office/drawing/2014/main" id="{1F7AB113-68BE-48FE-A157-841AF6E05B96}"/>
              </a:ext>
            </a:extLst>
          </p:cNvPr>
          <p:cNvSpPr>
            <a:spLocks xmlns:a="http://schemas.openxmlformats.org/drawingml/2006/main" noGrp="1"/>
          </p:cNvSpPr>
          <p:nvPr/>
        </p:nvSpPr>
        <p:spPr>
          <a:xfrm xmlns:a="http://schemas.openxmlformats.org/drawingml/2006/main">
            <a:off x="7924800" y="23241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23B3A"/>
                </a:solidFill>
                <a:latin typeface="Aptos"/>
                <a:ea typeface="Aptos"/>
                <a:cs typeface="Aptos"/>
              </a:defRPr>
            </a:pPr>
            <a:r>
              <a:rPr sz="1950" b="1">
                <a:solidFill>
                  <a:srgbClr val="123B3A"/>
                </a:solidFill>
                <a:latin typeface="Aptos"/>
                <a:ea typeface="Aptos"/>
                <a:cs typeface="Aptos"/>
              </a:rPr>
              <a:t>Persistencia y reglas</a:t>
            </a:r>
          </a:p>
        </p:txBody>
      </p:sp>
      <p:sp>
        <p:nvSpPr>
          <p:cNvPr id="27" name="">
            <a:extLst xmlns:a="http://schemas.openxmlformats.org/drawingml/2006/main">
              <a:ext uri="{FF2B5EF4-FFF2-40B4-BE49-F238E27FC236}">
                <a16:creationId xmlns:a16="http://schemas.microsoft.com/office/drawing/2014/main" id="{64B60457-F0BF-451F-8742-5BD2DB5375BC}"/>
              </a:ext>
            </a:extLst>
          </p:cNvPr>
          <p:cNvSpPr>
            <a:spLocks xmlns:a="http://schemas.openxmlformats.org/drawingml/2006/main" noGrp="1"/>
          </p:cNvSpPr>
          <p:nvPr/>
        </p:nvSpPr>
        <p:spPr>
          <a:xfrm xmlns:a="http://schemas.openxmlformats.org/drawingml/2006/main">
            <a:off x="7924800" y="3295650"/>
            <a:ext cx="95250" cy="95250"/>
          </a:xfrm>
          <a:prstGeom xmlns:a="http://schemas.openxmlformats.org/drawingml/2006/main" prst="roundRect">
            <a:avLst>
              <a:gd name="adj" fmla="val 50000"/>
            </a:avLst>
          </a:prstGeom>
          <a:solidFill xmlns:a="http://schemas.openxmlformats.org/drawingml/2006/main">
            <a:srgbClr val="1F6B65"/>
          </a:solidFill>
          <a:ln xmlns:a="http://schemas.openxmlformats.org/drawingml/2006/main" w="0">
            <a:solidFill>
              <a:srgbClr val="1F6B65"/>
            </a:solidFill>
            <a:prstDash val="solid"/>
          </a:ln>
        </p:spPr>
      </p:sp>
      <p:sp>
        <p:nvSpPr>
          <p:cNvPr id="28" name="">
            <a:extLst xmlns:a="http://schemas.openxmlformats.org/drawingml/2006/main">
              <a:ext uri="{FF2B5EF4-FFF2-40B4-BE49-F238E27FC236}">
                <a16:creationId xmlns:a16="http://schemas.microsoft.com/office/drawing/2014/main" id="{3ED74515-CFD0-42EF-A062-A5238723C2D6}"/>
              </a:ext>
            </a:extLst>
          </p:cNvPr>
          <p:cNvSpPr>
            <a:spLocks xmlns:a="http://schemas.openxmlformats.org/drawingml/2006/main" noGrp="1"/>
          </p:cNvSpPr>
          <p:nvPr/>
        </p:nvSpPr>
        <p:spPr>
          <a:xfrm xmlns:a="http://schemas.openxmlformats.org/drawingml/2006/main">
            <a:off x="8172450" y="32194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182321"/>
                </a:solidFill>
                <a:latin typeface="Aptos"/>
                <a:ea typeface="Aptos"/>
                <a:cs typeface="Aptos"/>
              </a:defRPr>
            </a:pPr>
            <a:r>
              <a:rPr sz="1425" b="1">
                <a:solidFill>
                  <a:srgbClr val="182321"/>
                </a:solidFill>
                <a:latin typeface="Aptos"/>
                <a:ea typeface="Aptos"/>
                <a:cs typeface="Aptos"/>
              </a:rPr>
              <a:t>ADO.NET</a:t>
            </a:r>
          </a:p>
        </p:txBody>
      </p:sp>
      <p:sp>
        <p:nvSpPr>
          <p:cNvPr id="29" name="">
            <a:extLst xmlns:a="http://schemas.openxmlformats.org/drawingml/2006/main">
              <a:ext uri="{FF2B5EF4-FFF2-40B4-BE49-F238E27FC236}">
                <a16:creationId xmlns:a16="http://schemas.microsoft.com/office/drawing/2014/main" id="{38414589-97AB-480C-A0A1-744662DFC5A0}"/>
              </a:ext>
            </a:extLst>
          </p:cNvPr>
          <p:cNvSpPr>
            <a:spLocks xmlns:a="http://schemas.openxmlformats.org/drawingml/2006/main" noGrp="1"/>
          </p:cNvSpPr>
          <p:nvPr/>
        </p:nvSpPr>
        <p:spPr>
          <a:xfrm xmlns:a="http://schemas.openxmlformats.org/drawingml/2006/main">
            <a:off x="7924800" y="3867150"/>
            <a:ext cx="95250" cy="95250"/>
          </a:xfrm>
          <a:prstGeom xmlns:a="http://schemas.openxmlformats.org/drawingml/2006/main" prst="roundRect">
            <a:avLst>
              <a:gd name="adj" fmla="val 50000"/>
            </a:avLst>
          </a:prstGeom>
          <a:solidFill xmlns:a="http://schemas.openxmlformats.org/drawingml/2006/main">
            <a:srgbClr val="1F6B65"/>
          </a:solidFill>
          <a:ln xmlns:a="http://schemas.openxmlformats.org/drawingml/2006/main" w="0">
            <a:solidFill>
              <a:srgbClr val="1F6B65"/>
            </a:solidFill>
            <a:prstDash val="solid"/>
          </a:ln>
        </p:spPr>
      </p:sp>
      <p:sp>
        <p:nvSpPr>
          <p:cNvPr id="30" name="">
            <a:extLst xmlns:a="http://schemas.openxmlformats.org/drawingml/2006/main">
              <a:ext uri="{FF2B5EF4-FFF2-40B4-BE49-F238E27FC236}">
                <a16:creationId xmlns:a16="http://schemas.microsoft.com/office/drawing/2014/main" id="{9D919DD9-5605-44FE-9EFB-D5A7FA127EDF}"/>
              </a:ext>
            </a:extLst>
          </p:cNvPr>
          <p:cNvSpPr>
            <a:spLocks xmlns:a="http://schemas.openxmlformats.org/drawingml/2006/main" noGrp="1"/>
          </p:cNvSpPr>
          <p:nvPr/>
        </p:nvSpPr>
        <p:spPr>
          <a:xfrm xmlns:a="http://schemas.openxmlformats.org/drawingml/2006/main">
            <a:off x="8172450" y="3790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182321"/>
                </a:solidFill>
                <a:latin typeface="Aptos"/>
                <a:ea typeface="Aptos"/>
                <a:cs typeface="Aptos"/>
              </a:defRPr>
            </a:pPr>
            <a:r>
              <a:rPr sz="1425" b="0">
                <a:solidFill>
                  <a:srgbClr val="182321"/>
                </a:solidFill>
                <a:latin typeface="Aptos"/>
                <a:ea typeface="Aptos"/>
                <a:cs typeface="Aptos"/>
              </a:rPr>
              <a:t>Microsoft.Data.SqlClient</a:t>
            </a:r>
          </a:p>
        </p:txBody>
      </p:sp>
      <p:sp>
        <p:nvSpPr>
          <p:cNvPr id="31" name="">
            <a:extLst xmlns:a="http://schemas.openxmlformats.org/drawingml/2006/main">
              <a:ext uri="{FF2B5EF4-FFF2-40B4-BE49-F238E27FC236}">
                <a16:creationId xmlns:a16="http://schemas.microsoft.com/office/drawing/2014/main" id="{DE6B2F64-5436-424E-AC43-276B0AE95033}"/>
              </a:ext>
            </a:extLst>
          </p:cNvPr>
          <p:cNvSpPr>
            <a:spLocks xmlns:a="http://schemas.openxmlformats.org/drawingml/2006/main" noGrp="1"/>
          </p:cNvSpPr>
          <p:nvPr/>
        </p:nvSpPr>
        <p:spPr>
          <a:xfrm xmlns:a="http://schemas.openxmlformats.org/drawingml/2006/main">
            <a:off x="7924800" y="4438650"/>
            <a:ext cx="95250" cy="95250"/>
          </a:xfrm>
          <a:prstGeom xmlns:a="http://schemas.openxmlformats.org/drawingml/2006/main" prst="roundRect">
            <a:avLst>
              <a:gd name="adj" fmla="val 50000"/>
            </a:avLst>
          </a:prstGeom>
          <a:solidFill xmlns:a="http://schemas.openxmlformats.org/drawingml/2006/main">
            <a:srgbClr val="1F6B65"/>
          </a:solidFill>
          <a:ln xmlns:a="http://schemas.openxmlformats.org/drawingml/2006/main" w="0">
            <a:solidFill>
              <a:srgbClr val="1F6B65"/>
            </a:solidFill>
            <a:prstDash val="solid"/>
          </a:ln>
        </p:spPr>
      </p:sp>
      <p:sp>
        <p:nvSpPr>
          <p:cNvPr id="32" name="">
            <a:extLst xmlns:a="http://schemas.openxmlformats.org/drawingml/2006/main">
              <a:ext uri="{FF2B5EF4-FFF2-40B4-BE49-F238E27FC236}">
                <a16:creationId xmlns:a16="http://schemas.microsoft.com/office/drawing/2014/main" id="{ADD8B9B2-3C75-4E86-8C3B-E4045FC46358}"/>
              </a:ext>
            </a:extLst>
          </p:cNvPr>
          <p:cNvSpPr>
            <a:spLocks xmlns:a="http://schemas.openxmlformats.org/drawingml/2006/main" noGrp="1"/>
          </p:cNvSpPr>
          <p:nvPr/>
        </p:nvSpPr>
        <p:spPr>
          <a:xfrm xmlns:a="http://schemas.openxmlformats.org/drawingml/2006/main">
            <a:off x="8172450" y="43624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182321"/>
                </a:solidFill>
                <a:latin typeface="Aptos"/>
                <a:ea typeface="Aptos"/>
                <a:cs typeface="Aptos"/>
              </a:defRPr>
            </a:pPr>
            <a:r>
              <a:rPr sz="1425" b="0">
                <a:solidFill>
                  <a:srgbClr val="182321"/>
                </a:solidFill>
                <a:latin typeface="Aptos"/>
                <a:ea typeface="Aptos"/>
                <a:cs typeface="Aptos"/>
              </a:rPr>
              <a:t>SQL Server Express</a:t>
            </a:r>
          </a:p>
        </p:txBody>
      </p:sp>
      <p:sp>
        <p:nvSpPr>
          <p:cNvPr id="33" name="">
            <a:extLst xmlns:a="http://schemas.openxmlformats.org/drawingml/2006/main">
              <a:ext uri="{FF2B5EF4-FFF2-40B4-BE49-F238E27FC236}">
                <a16:creationId xmlns:a16="http://schemas.microsoft.com/office/drawing/2014/main" id="{74E83E51-BB47-43D4-99D4-90DB9CA7C442}"/>
              </a:ext>
            </a:extLst>
          </p:cNvPr>
          <p:cNvSpPr>
            <a:spLocks xmlns:a="http://schemas.openxmlformats.org/drawingml/2006/main" noGrp="1"/>
          </p:cNvSpPr>
          <p:nvPr/>
        </p:nvSpPr>
        <p:spPr>
          <a:xfrm xmlns:a="http://schemas.openxmlformats.org/drawingml/2006/main">
            <a:off x="7924800" y="5010150"/>
            <a:ext cx="95250" cy="95250"/>
          </a:xfrm>
          <a:prstGeom xmlns:a="http://schemas.openxmlformats.org/drawingml/2006/main" prst="roundRect">
            <a:avLst>
              <a:gd name="adj" fmla="val 50000"/>
            </a:avLst>
          </a:prstGeom>
          <a:solidFill xmlns:a="http://schemas.openxmlformats.org/drawingml/2006/main">
            <a:srgbClr val="1F6B65"/>
          </a:solidFill>
          <a:ln xmlns:a="http://schemas.openxmlformats.org/drawingml/2006/main" w="0">
            <a:solidFill>
              <a:srgbClr val="1F6B65"/>
            </a:solidFill>
            <a:prstDash val="solid"/>
          </a:ln>
        </p:spPr>
      </p:sp>
      <p:sp>
        <p:nvSpPr>
          <p:cNvPr id="34" name="">
            <a:extLst xmlns:a="http://schemas.openxmlformats.org/drawingml/2006/main">
              <a:ext uri="{FF2B5EF4-FFF2-40B4-BE49-F238E27FC236}">
                <a16:creationId xmlns:a16="http://schemas.microsoft.com/office/drawing/2014/main" id="{BE99939F-1FED-400D-9128-901EE98270E1}"/>
              </a:ext>
            </a:extLst>
          </p:cNvPr>
          <p:cNvSpPr>
            <a:spLocks xmlns:a="http://schemas.openxmlformats.org/drawingml/2006/main" noGrp="1"/>
          </p:cNvSpPr>
          <p:nvPr/>
        </p:nvSpPr>
        <p:spPr>
          <a:xfrm xmlns:a="http://schemas.openxmlformats.org/drawingml/2006/main">
            <a:off x="8172450" y="4933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182321"/>
                </a:solidFill>
                <a:latin typeface="Aptos"/>
                <a:ea typeface="Aptos"/>
                <a:cs typeface="Aptos"/>
              </a:defRPr>
            </a:pPr>
            <a:r>
              <a:rPr sz="1425" b="0">
                <a:solidFill>
                  <a:srgbClr val="182321"/>
                </a:solidFill>
                <a:latin typeface="Aptos"/>
                <a:ea typeface="Aptos"/>
                <a:cs typeface="Aptos"/>
              </a:rPr>
              <a:t>T-SQL y transacciones</a:t>
            </a:r>
          </a:p>
        </p:txBody>
      </p:sp>
      <p:sp>
        <p:nvSpPr>
          <p:cNvPr id="35" name="">
            <a:extLst xmlns:a="http://schemas.openxmlformats.org/drawingml/2006/main">
              <a:ext uri="{FF2B5EF4-FFF2-40B4-BE49-F238E27FC236}">
                <a16:creationId xmlns:a16="http://schemas.microsoft.com/office/drawing/2014/main" id="{3D53E371-733A-4935-8A9A-42D07477A4FC}"/>
              </a:ext>
            </a:extLst>
          </p:cNvPr>
          <p:cNvSpPr>
            <a:spLocks xmlns:a="http://schemas.openxmlformats.org/drawingml/2006/main" noGrp="1"/>
          </p:cNvSpPr>
          <p:nvPr/>
        </p:nvSpPr>
        <p:spPr>
          <a:xfrm xmlns:a="http://schemas.openxmlformats.org/drawingml/2006/main">
            <a:off x="685800" y="5753100"/>
            <a:ext cx="10820400" cy="400050"/>
          </a:xfrm>
          <a:prstGeom xmlns:a="http://schemas.openxmlformats.org/drawingml/2006/main" prst="roundRect">
            <a:avLst>
              <a:gd name="adj" fmla="val 28571"/>
            </a:avLst>
          </a:prstGeom>
          <a:solidFill xmlns:a="http://schemas.openxmlformats.org/drawingml/2006/main">
            <a:srgbClr val="123B3A"/>
          </a:solidFill>
          <a:ln xmlns:a="http://schemas.openxmlformats.org/drawingml/2006/main" w="0">
            <a:solidFill>
              <a:srgbClr val="123B3A"/>
            </a:solidFill>
            <a:prstDash val="solid"/>
          </a:ln>
        </p:spPr>
      </p:sp>
      <p:sp>
        <p:nvSpPr>
          <p:cNvPr id="36" name="">
            <a:extLst xmlns:a="http://schemas.openxmlformats.org/drawingml/2006/main">
              <a:ext uri="{FF2B5EF4-FFF2-40B4-BE49-F238E27FC236}">
                <a16:creationId xmlns:a16="http://schemas.microsoft.com/office/drawing/2014/main" id="{4E07FA42-322A-48E5-926F-82D88D88C759}"/>
              </a:ext>
            </a:extLst>
          </p:cNvPr>
          <p:cNvSpPr>
            <a:spLocks xmlns:a="http://schemas.openxmlformats.org/drawingml/2006/main" noGrp="1"/>
          </p:cNvSpPr>
          <p:nvPr/>
        </p:nvSpPr>
        <p:spPr>
          <a:xfrm xmlns:a="http://schemas.openxmlformats.org/drawingml/2006/main">
            <a:off x="876300" y="5838825"/>
            <a:ext cx="1043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Interfaz → controlador → ADO.NET → procedimiento almacenado → SQL Server</a:t>
            </a:r>
          </a:p>
        </p:txBody>
      </p:sp>
    </p:spTree>
    <p:extLst>
      <p:ext uri="{BB962C8B-B14F-4D97-AF65-F5344CB8AC3E}">
        <p14:creationId xmlns:p14="http://schemas.microsoft.com/office/powerpoint/2010/main" val="252897722"/>
      </p:ext>
    </p:extLst>
  </p:cSld>
</p:sld>
</file>

<file path=ppt/slides/slide7.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F001A73-BF2E-40F6-9826-0D488625E0E2}"/>
              </a:ext>
            </a:extLst>
          </p:cNvPr>
          <p:cNvSpPr>
            <a:spLocks xmlns:a="http://schemas.openxmlformats.org/drawingml/2006/main" noGrp="1"/>
          </p:cNvSpPr>
          <p:nvPr/>
        </p:nvSpPr>
        <p:spPr>
          <a:xfrm xmlns:a="http://schemas.openxmlformats.org/drawingml/2006/main">
            <a:off x="685800" y="6477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400" b="1">
                <a:solidFill>
                  <a:srgbClr val="123B3A"/>
                </a:solidFill>
                <a:latin typeface="Aptos"/>
                <a:ea typeface="Aptos"/>
                <a:cs typeface="Aptos"/>
              </a:defRPr>
            </a:pPr>
            <a:r>
              <a:rPr sz="2400" b="1">
                <a:solidFill>
                  <a:srgbClr val="123B3A"/>
                </a:solidFill>
                <a:latin typeface="Aptos"/>
                <a:ea typeface="Aptos"/>
                <a:cs typeface="Aptos"/>
              </a:rPr>
              <a:t>Reserva.cs valida los datos; Create.cshtml construye el formulario</a:t>
            </a:r>
          </a:p>
        </p:txBody>
      </p:sp>
      <p:sp>
        <p:nvSpPr>
          <p:cNvPr id="2" name="">
            <a:extLst xmlns:a="http://schemas.openxmlformats.org/drawingml/2006/main">
              <a:ext uri="{FF2B5EF4-FFF2-40B4-BE49-F238E27FC236}">
                <a16:creationId xmlns:a16="http://schemas.microsoft.com/office/drawing/2014/main" id="{3A13F49A-4C29-465C-8AF9-1417E9FD09FE}"/>
              </a:ext>
            </a:extLst>
          </p:cNvPr>
          <p:cNvSpPr>
            <a:spLocks xmlns:a="http://schemas.openxmlformats.org/drawingml/2006/main" noGrp="1"/>
          </p:cNvSpPr>
          <p:nvPr/>
        </p:nvSpPr>
        <p:spPr>
          <a:xfrm xmlns:a="http://schemas.openxmlformats.org/drawingml/2006/main">
            <a:off x="11106150" y="34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5A6866"/>
                </a:solidFill>
                <a:latin typeface="Aptos"/>
                <a:ea typeface="Aptos"/>
                <a:cs typeface="Aptos"/>
              </a:defRPr>
            </a:pPr>
            <a:r>
              <a:rPr sz="900" b="1">
                <a:solidFill>
                  <a:srgbClr val="5A6866"/>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3277C9D4-4A5C-42F8-A043-3B31D849A4E6}"/>
              </a:ext>
            </a:extLst>
          </p:cNvPr>
          <p:cNvSpPr>
            <a:spLocks xmlns:a="http://schemas.openxmlformats.org/drawingml/2006/main" noGrp="1"/>
          </p:cNvSpPr>
          <p:nvPr/>
        </p:nvSpPr>
        <p:spPr>
          <a:xfrm xmlns:a="http://schemas.openxmlformats.org/drawingml/2006/main">
            <a:off x="685800" y="1809750"/>
            <a:ext cx="5143500" cy="3600450"/>
          </a:xfrm>
          <a:prstGeom xmlns:a="http://schemas.openxmlformats.org/drawingml/2006/main" prst="roundRect">
            <a:avLst>
              <a:gd name="adj" fmla="val 3175"/>
            </a:avLst>
          </a:prstGeom>
          <a:solidFill xmlns:a="http://schemas.openxmlformats.org/drawingml/2006/main">
            <a:srgbClr val="172624"/>
          </a:solidFill>
          <a:ln xmlns:a="http://schemas.openxmlformats.org/drawingml/2006/main" w="0">
            <a:solidFill>
              <a:srgbClr val="172624"/>
            </a:solidFill>
            <a:prstDash val="solid"/>
          </a:ln>
        </p:spPr>
      </p:sp>
      <p:sp>
        <p:nvSpPr>
          <p:cNvPr id="4" name="">
            <a:extLst xmlns:a="http://schemas.openxmlformats.org/drawingml/2006/main">
              <a:ext uri="{FF2B5EF4-FFF2-40B4-BE49-F238E27FC236}">
                <a16:creationId xmlns:a16="http://schemas.microsoft.com/office/drawing/2014/main" id="{D9F7DEF8-F383-45EF-82E9-D06D003BB346}"/>
              </a:ext>
            </a:extLst>
          </p:cNvPr>
          <p:cNvSpPr>
            <a:spLocks xmlns:a="http://schemas.openxmlformats.org/drawingml/2006/main" noGrp="1"/>
          </p:cNvSpPr>
          <p:nvPr/>
        </p:nvSpPr>
        <p:spPr>
          <a:xfrm xmlns:a="http://schemas.openxmlformats.org/drawingml/2006/main">
            <a:off x="685800" y="1809750"/>
            <a:ext cx="5143500" cy="400050"/>
          </a:xfrm>
          <a:prstGeom xmlns:a="http://schemas.openxmlformats.org/drawingml/2006/main" prst="roundRect">
            <a:avLst>
              <a:gd name="adj" fmla="val 28571"/>
            </a:avLst>
          </a:prstGeom>
          <a:solidFill xmlns:a="http://schemas.openxmlformats.org/drawingml/2006/main">
            <a:srgbClr val="1F6B65"/>
          </a:solidFill>
          <a:ln xmlns:a="http://schemas.openxmlformats.org/drawingml/2006/main" w="0">
            <a:solidFill>
              <a:srgbClr val="1F6B65"/>
            </a:solidFill>
            <a:prstDash val="solid"/>
          </a:ln>
        </p:spPr>
      </p:sp>
      <p:sp>
        <p:nvSpPr>
          <p:cNvPr id="5" name="">
            <a:extLst xmlns:a="http://schemas.openxmlformats.org/drawingml/2006/main">
              <a:ext uri="{FF2B5EF4-FFF2-40B4-BE49-F238E27FC236}">
                <a16:creationId xmlns:a16="http://schemas.microsoft.com/office/drawing/2014/main" id="{757E40E1-339A-4381-9FC7-6F311F016B93}"/>
              </a:ext>
            </a:extLst>
          </p:cNvPr>
          <p:cNvSpPr>
            <a:spLocks xmlns:a="http://schemas.openxmlformats.org/drawingml/2006/main" noGrp="1"/>
          </p:cNvSpPr>
          <p:nvPr/>
        </p:nvSpPr>
        <p:spPr>
          <a:xfrm xmlns:a="http://schemas.openxmlformats.org/drawingml/2006/main">
            <a:off x="685800" y="2066925"/>
            <a:ext cx="5143500" cy="190500"/>
          </a:xfrm>
          <a:prstGeom xmlns:a="http://schemas.openxmlformats.org/drawingml/2006/main" prst="rect">
            <a:avLst/>
          </a:prstGeom>
          <a:solidFill xmlns:a="http://schemas.openxmlformats.org/drawingml/2006/main">
            <a:srgbClr val="1F6B65"/>
          </a:solidFill>
          <a:ln xmlns:a="http://schemas.openxmlformats.org/drawingml/2006/main" w="0">
            <a:solidFill>
              <a:srgbClr val="1F6B65"/>
            </a:solidFill>
            <a:prstDash val="solid"/>
          </a:ln>
        </p:spPr>
      </p:sp>
      <p:sp>
        <p:nvSpPr>
          <p:cNvPr id="6" name="">
            <a:extLst xmlns:a="http://schemas.openxmlformats.org/drawingml/2006/main">
              <a:ext uri="{FF2B5EF4-FFF2-40B4-BE49-F238E27FC236}">
                <a16:creationId xmlns:a16="http://schemas.microsoft.com/office/drawing/2014/main" id="{6BC9A40B-0AD8-4902-86AC-1A2CF5DA8EF9}"/>
              </a:ext>
            </a:extLst>
          </p:cNvPr>
          <p:cNvSpPr>
            <a:spLocks xmlns:a="http://schemas.openxmlformats.org/drawingml/2006/main" noGrp="1"/>
          </p:cNvSpPr>
          <p:nvPr/>
        </p:nvSpPr>
        <p:spPr>
          <a:xfrm xmlns:a="http://schemas.openxmlformats.org/drawingml/2006/main">
            <a:off x="857250" y="1914525"/>
            <a:ext cx="480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Reserva.cs · Modelo</a:t>
            </a:r>
          </a:p>
        </p:txBody>
      </p:sp>
      <p:sp>
        <p:nvSpPr>
          <p:cNvPr id="7" name="">
            <a:extLst xmlns:a="http://schemas.openxmlformats.org/drawingml/2006/main">
              <a:ext uri="{FF2B5EF4-FFF2-40B4-BE49-F238E27FC236}">
                <a16:creationId xmlns:a16="http://schemas.microsoft.com/office/drawing/2014/main" id="{B33EEA9F-8843-4E64-8347-6C873B1E3429}"/>
              </a:ext>
            </a:extLst>
          </p:cNvPr>
          <p:cNvSpPr>
            <a:spLocks xmlns:a="http://schemas.openxmlformats.org/drawingml/2006/main" noGrp="1"/>
          </p:cNvSpPr>
          <p:nvPr/>
        </p:nvSpPr>
        <p:spPr>
          <a:xfrm xmlns:a="http://schemas.openxmlformats.org/drawingml/2006/main">
            <a:off x="876300" y="2381250"/>
            <a:ext cx="4762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[Required(ErrorMessage = "Debe seleccionar una habitación")]</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[Display(Name = "Habitación")]</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public int IdHabitacion { get; set; }</a:t>
            </a:r>
          </a:p>
          <a:p xmlns:a="http://schemas.openxmlformats.org/drawingml/2006/main">
            <a:r>
              <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[DataType(DataType.Date)]</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public DateTime FechaEntrada { get; set; }</a:t>
            </a:r>
          </a:p>
          <a:p xmlns:a="http://schemas.openxmlformats.org/drawingml/2006/main">
            <a:r>
              <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public decimal Saldo =&gt;</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Math.Max(0, Total - MontoPagado);</a:t>
            </a:r>
          </a:p>
        </p:txBody>
      </p:sp>
      <p:sp>
        <p:nvSpPr>
          <p:cNvPr id="8" name="">
            <a:extLst xmlns:a="http://schemas.openxmlformats.org/drawingml/2006/main">
              <a:ext uri="{FF2B5EF4-FFF2-40B4-BE49-F238E27FC236}">
                <a16:creationId xmlns:a16="http://schemas.microsoft.com/office/drawing/2014/main" id="{95BB9960-B2E4-46FD-BE33-B09871FF4040}"/>
              </a:ext>
            </a:extLst>
          </p:cNvPr>
          <p:cNvSpPr>
            <a:spLocks xmlns:a="http://schemas.openxmlformats.org/drawingml/2006/main" noGrp="1"/>
          </p:cNvSpPr>
          <p:nvPr/>
        </p:nvSpPr>
        <p:spPr>
          <a:xfrm xmlns:a="http://schemas.openxmlformats.org/drawingml/2006/main">
            <a:off x="6362700" y="1809750"/>
            <a:ext cx="5143500" cy="3600450"/>
          </a:xfrm>
          <a:prstGeom xmlns:a="http://schemas.openxmlformats.org/drawingml/2006/main" prst="roundRect">
            <a:avLst>
              <a:gd name="adj" fmla="val 3175"/>
            </a:avLst>
          </a:prstGeom>
          <a:solidFill xmlns:a="http://schemas.openxmlformats.org/drawingml/2006/main">
            <a:srgbClr val="172624"/>
          </a:solidFill>
          <a:ln xmlns:a="http://schemas.openxmlformats.org/drawingml/2006/main" w="0">
            <a:solidFill>
              <a:srgbClr val="172624"/>
            </a:solidFill>
            <a:prstDash val="solid"/>
          </a:ln>
        </p:spPr>
      </p:sp>
      <p:sp>
        <p:nvSpPr>
          <p:cNvPr id="9" name="">
            <a:extLst xmlns:a="http://schemas.openxmlformats.org/drawingml/2006/main">
              <a:ext uri="{FF2B5EF4-FFF2-40B4-BE49-F238E27FC236}">
                <a16:creationId xmlns:a16="http://schemas.microsoft.com/office/drawing/2014/main" id="{0A5DC243-A092-4325-B4D3-8D7C7EFA231B}"/>
              </a:ext>
            </a:extLst>
          </p:cNvPr>
          <p:cNvSpPr>
            <a:spLocks xmlns:a="http://schemas.openxmlformats.org/drawingml/2006/main" noGrp="1"/>
          </p:cNvSpPr>
          <p:nvPr/>
        </p:nvSpPr>
        <p:spPr>
          <a:xfrm xmlns:a="http://schemas.openxmlformats.org/drawingml/2006/main">
            <a:off x="6362700" y="1809750"/>
            <a:ext cx="5143500" cy="400050"/>
          </a:xfrm>
          <a:prstGeom xmlns:a="http://schemas.openxmlformats.org/drawingml/2006/main" prst="roundRect">
            <a:avLst>
              <a:gd name="adj" fmla="val 28571"/>
            </a:avLst>
          </a:prstGeom>
          <a:solidFill xmlns:a="http://schemas.openxmlformats.org/drawingml/2006/main">
            <a:srgbClr val="C99A5B"/>
          </a:solidFill>
          <a:ln xmlns:a="http://schemas.openxmlformats.org/drawingml/2006/main" w="0">
            <a:solidFill>
              <a:srgbClr val="C99A5B"/>
            </a:solidFill>
            <a:prstDash val="solid"/>
          </a:ln>
        </p:spPr>
      </p:sp>
      <p:sp>
        <p:nvSpPr>
          <p:cNvPr id="10" name="">
            <a:extLst xmlns:a="http://schemas.openxmlformats.org/drawingml/2006/main">
              <a:ext uri="{FF2B5EF4-FFF2-40B4-BE49-F238E27FC236}">
                <a16:creationId xmlns:a16="http://schemas.microsoft.com/office/drawing/2014/main" id="{F48E6095-3119-45C9-A02A-76978A227D81}"/>
              </a:ext>
            </a:extLst>
          </p:cNvPr>
          <p:cNvSpPr>
            <a:spLocks xmlns:a="http://schemas.openxmlformats.org/drawingml/2006/main" noGrp="1"/>
          </p:cNvSpPr>
          <p:nvPr/>
        </p:nvSpPr>
        <p:spPr>
          <a:xfrm xmlns:a="http://schemas.openxmlformats.org/drawingml/2006/main">
            <a:off x="6362700" y="2066925"/>
            <a:ext cx="5143500" cy="190500"/>
          </a:xfrm>
          <a:prstGeom xmlns:a="http://schemas.openxmlformats.org/drawingml/2006/main" prst="rect">
            <a:avLst/>
          </a:prstGeom>
          <a:solidFill xmlns:a="http://schemas.openxmlformats.org/drawingml/2006/main">
            <a:srgbClr val="C99A5B"/>
          </a:solidFill>
          <a:ln xmlns:a="http://schemas.openxmlformats.org/drawingml/2006/main" w="0">
            <a:solidFill>
              <a:srgbClr val="C99A5B"/>
            </a:solidFill>
            <a:prstDash val="solid"/>
          </a:ln>
        </p:spPr>
      </p:sp>
      <p:sp>
        <p:nvSpPr>
          <p:cNvPr id="11" name="">
            <a:extLst xmlns:a="http://schemas.openxmlformats.org/drawingml/2006/main">
              <a:ext uri="{FF2B5EF4-FFF2-40B4-BE49-F238E27FC236}">
                <a16:creationId xmlns:a16="http://schemas.microsoft.com/office/drawing/2014/main" id="{61ED56A3-40B7-4563-AD64-EBF0890311D5}"/>
              </a:ext>
            </a:extLst>
          </p:cNvPr>
          <p:cNvSpPr>
            <a:spLocks xmlns:a="http://schemas.openxmlformats.org/drawingml/2006/main" noGrp="1"/>
          </p:cNvSpPr>
          <p:nvPr/>
        </p:nvSpPr>
        <p:spPr>
          <a:xfrm xmlns:a="http://schemas.openxmlformats.org/drawingml/2006/main">
            <a:off x="6534150" y="1914525"/>
            <a:ext cx="480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Create.cshtml · Vista Razor</a:t>
            </a:r>
          </a:p>
        </p:txBody>
      </p:sp>
      <p:sp>
        <p:nvSpPr>
          <p:cNvPr id="12" name="">
            <a:extLst xmlns:a="http://schemas.openxmlformats.org/drawingml/2006/main">
              <a:ext uri="{FF2B5EF4-FFF2-40B4-BE49-F238E27FC236}">
                <a16:creationId xmlns:a16="http://schemas.microsoft.com/office/drawing/2014/main" id="{466BCD94-C792-497A-81E9-3B9FCD0FCB85}"/>
              </a:ext>
            </a:extLst>
          </p:cNvPr>
          <p:cNvSpPr>
            <a:spLocks xmlns:a="http://schemas.openxmlformats.org/drawingml/2006/main" noGrp="1"/>
          </p:cNvSpPr>
          <p:nvPr/>
        </p:nvSpPr>
        <p:spPr>
          <a:xfrm xmlns:a="http://schemas.openxmlformats.org/drawingml/2006/main">
            <a:off x="6553200" y="2381250"/>
            <a:ext cx="4762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&lt;form asp-action="Create" method="post"&gt;</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&lt;label asp-for="FechaEntrada"&gt;&lt;/label&gt;</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&lt;input asp-for="FechaEntrada" class="form-control" /&gt;</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&lt;span asp-validation-for="FechaEntrada"&gt;&lt;/span&gt;</a:t>
            </a:r>
          </a:p>
          <a:p xmlns:a="http://schemas.openxmlformats.org/drawingml/2006/main">
            <a:r>
              <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@foreach (var h in habitaciones)</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&lt;option value="@h.IdHabitacion"&gt;@h.Numero&lt;/option&gt;</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&lt;/form&gt;</a:t>
            </a:r>
          </a:p>
        </p:txBody>
      </p:sp>
      <p:sp>
        <p:nvSpPr>
          <p:cNvPr id="13" name="">
            <a:extLst xmlns:a="http://schemas.openxmlformats.org/drawingml/2006/main">
              <a:ext uri="{FF2B5EF4-FFF2-40B4-BE49-F238E27FC236}">
                <a16:creationId xmlns:a16="http://schemas.microsoft.com/office/drawing/2014/main" id="{3B5722D0-22CD-447C-8ABE-AC6DEE1EA4D7}"/>
              </a:ext>
            </a:extLst>
          </p:cNvPr>
          <p:cNvSpPr>
            <a:spLocks xmlns:a="http://schemas.openxmlformats.org/drawingml/2006/main" noGrp="1"/>
          </p:cNvSpPr>
          <p:nvPr/>
        </p:nvSpPr>
        <p:spPr>
          <a:xfrm xmlns:a="http://schemas.openxmlformats.org/drawingml/2006/main">
            <a:off x="685800" y="5619750"/>
            <a:ext cx="10820400" cy="533400"/>
          </a:xfrm>
          <a:prstGeom xmlns:a="http://schemas.openxmlformats.org/drawingml/2006/main" prst="roundRect">
            <a:avLst>
              <a:gd name="adj" fmla="val 21429"/>
            </a:avLst>
          </a:prstGeom>
          <a:solidFill xmlns:a="http://schemas.openxmlformats.org/drawingml/2006/main">
            <a:srgbClr val="DDECE8"/>
          </a:solidFill>
          <a:ln xmlns:a="http://schemas.openxmlformats.org/drawingml/2006/main" w="0">
            <a:solidFill>
              <a:srgbClr val="DDECE8"/>
            </a:solidFill>
            <a:prstDash val="solid"/>
          </a:ln>
        </p:spPr>
      </p:sp>
      <p:sp>
        <p:nvSpPr>
          <p:cNvPr id="14" name="">
            <a:extLst xmlns:a="http://schemas.openxmlformats.org/drawingml/2006/main">
              <a:ext uri="{FF2B5EF4-FFF2-40B4-BE49-F238E27FC236}">
                <a16:creationId xmlns:a16="http://schemas.microsoft.com/office/drawing/2014/main" id="{1094A66A-B103-4980-A874-5AFAE14D9E22}"/>
              </a:ext>
            </a:extLst>
          </p:cNvPr>
          <p:cNvSpPr>
            <a:spLocks xmlns:a="http://schemas.openxmlformats.org/drawingml/2006/main" noGrp="1"/>
          </p:cNvSpPr>
          <p:nvPr/>
        </p:nvSpPr>
        <p:spPr>
          <a:xfrm xmlns:a="http://schemas.openxmlformats.org/drawingml/2006/main">
            <a:off x="876300" y="5753100"/>
            <a:ext cx="1043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123B3A"/>
                </a:solidFill>
                <a:latin typeface="Aptos"/>
                <a:ea typeface="Aptos"/>
                <a:cs typeface="Aptos"/>
              </a:defRPr>
            </a:pPr>
            <a:r>
              <a:rPr sz="1350" b="1">
                <a:solidFill>
                  <a:srgbClr val="123B3A"/>
                </a:solidFill>
                <a:latin typeface="Aptos"/>
                <a:ea typeface="Aptos"/>
                <a:cs typeface="Aptos"/>
              </a:rPr>
              <a:t>DataAnnotations valida · Razor enlaza · Tag Helpers generan HTML compatible con el modelo</a:t>
            </a:r>
          </a:p>
        </p:txBody>
      </p:sp>
    </p:spTree>
    <p:extLst>
      <p:ext uri="{BB962C8B-B14F-4D97-AF65-F5344CB8AC3E}">
        <p14:creationId xmlns:p14="http://schemas.microsoft.com/office/powerpoint/2010/main" val="1911792756"/>
      </p:ext>
    </p:extLst>
  </p:cSld>
</p:sld>
</file>

<file path=ppt/slides/slide8.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0F63636-79B2-4848-8F12-BF85F3282D23}"/>
              </a:ext>
            </a:extLst>
          </p:cNvPr>
          <p:cNvSpPr>
            <a:spLocks xmlns:a="http://schemas.openxmlformats.org/drawingml/2006/main" noGrp="1"/>
          </p:cNvSpPr>
          <p:nvPr/>
        </p:nvSpPr>
        <p:spPr>
          <a:xfrm xmlns:a="http://schemas.openxmlformats.org/drawingml/2006/main">
            <a:off x="685800" y="6477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123B3A"/>
                </a:solidFill>
                <a:latin typeface="Aptos"/>
                <a:ea typeface="Aptos"/>
                <a:cs typeface="Aptos"/>
              </a:defRPr>
            </a:pPr>
            <a:r>
              <a:rPr sz="2550" b="1">
                <a:solidFill>
                  <a:srgbClr val="123B3A"/>
                </a:solidFill>
                <a:latin typeface="Aptos"/>
                <a:ea typeface="Aptos"/>
                <a:cs typeface="Aptos"/>
              </a:rPr>
              <a:t>AJAX actualiza la disponibilidad sin recargar la página</a:t>
            </a:r>
          </a:p>
        </p:txBody>
      </p:sp>
      <p:sp>
        <p:nvSpPr>
          <p:cNvPr id="2" name="">
            <a:extLst xmlns:a="http://schemas.openxmlformats.org/drawingml/2006/main">
              <a:ext uri="{FF2B5EF4-FFF2-40B4-BE49-F238E27FC236}">
                <a16:creationId xmlns:a16="http://schemas.microsoft.com/office/drawing/2014/main" id="{BBC188E6-CE2D-4FDF-9CF9-8ACAAB29823C}"/>
              </a:ext>
            </a:extLst>
          </p:cNvPr>
          <p:cNvSpPr>
            <a:spLocks xmlns:a="http://schemas.openxmlformats.org/drawingml/2006/main" noGrp="1"/>
          </p:cNvSpPr>
          <p:nvPr/>
        </p:nvSpPr>
        <p:spPr>
          <a:xfrm xmlns:a="http://schemas.openxmlformats.org/drawingml/2006/main">
            <a:off x="11106150" y="34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5A6866"/>
                </a:solidFill>
                <a:latin typeface="Aptos"/>
                <a:ea typeface="Aptos"/>
                <a:cs typeface="Aptos"/>
              </a:defRPr>
            </a:pPr>
            <a:r>
              <a:rPr sz="900" b="1">
                <a:solidFill>
                  <a:srgbClr val="5A6866"/>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4015066D-B9C5-4AE8-A52C-288D9AEE8375}"/>
              </a:ext>
            </a:extLst>
          </p:cNvPr>
          <p:cNvSpPr>
            <a:spLocks xmlns:a="http://schemas.openxmlformats.org/drawingml/2006/main" noGrp="1"/>
          </p:cNvSpPr>
          <p:nvPr/>
        </p:nvSpPr>
        <p:spPr>
          <a:xfrm xmlns:a="http://schemas.openxmlformats.org/drawingml/2006/main">
            <a:off x="685800" y="1809750"/>
            <a:ext cx="6096000" cy="3943350"/>
          </a:xfrm>
          <a:prstGeom xmlns:a="http://schemas.openxmlformats.org/drawingml/2006/main" prst="roundRect">
            <a:avLst>
              <a:gd name="adj" fmla="val 2899"/>
            </a:avLst>
          </a:prstGeom>
          <a:solidFill xmlns:a="http://schemas.openxmlformats.org/drawingml/2006/main">
            <a:srgbClr val="172624"/>
          </a:solidFill>
          <a:ln xmlns:a="http://schemas.openxmlformats.org/drawingml/2006/main" w="0">
            <a:solidFill>
              <a:srgbClr val="172624"/>
            </a:solidFill>
            <a:prstDash val="solid"/>
          </a:ln>
        </p:spPr>
      </p:sp>
      <p:sp>
        <p:nvSpPr>
          <p:cNvPr id="4" name="">
            <a:extLst xmlns:a="http://schemas.openxmlformats.org/drawingml/2006/main">
              <a:ext uri="{FF2B5EF4-FFF2-40B4-BE49-F238E27FC236}">
                <a16:creationId xmlns:a16="http://schemas.microsoft.com/office/drawing/2014/main" id="{0C829E7D-510E-453D-B288-9E0AA7BCEA72}"/>
              </a:ext>
            </a:extLst>
          </p:cNvPr>
          <p:cNvSpPr>
            <a:spLocks xmlns:a="http://schemas.openxmlformats.org/drawingml/2006/main" noGrp="1"/>
          </p:cNvSpPr>
          <p:nvPr/>
        </p:nvSpPr>
        <p:spPr>
          <a:xfrm xmlns:a="http://schemas.openxmlformats.org/drawingml/2006/main">
            <a:off x="685800" y="1809750"/>
            <a:ext cx="6096000" cy="400050"/>
          </a:xfrm>
          <a:prstGeom xmlns:a="http://schemas.openxmlformats.org/drawingml/2006/main" prst="roundRect">
            <a:avLst>
              <a:gd name="adj" fmla="val 28571"/>
            </a:avLst>
          </a:prstGeom>
          <a:solidFill xmlns:a="http://schemas.openxmlformats.org/drawingml/2006/main">
            <a:srgbClr val="1F6B65"/>
          </a:solidFill>
          <a:ln xmlns:a="http://schemas.openxmlformats.org/drawingml/2006/main" w="0">
            <a:solidFill>
              <a:srgbClr val="1F6B65"/>
            </a:solidFill>
            <a:prstDash val="solid"/>
          </a:ln>
        </p:spPr>
      </p:sp>
      <p:sp>
        <p:nvSpPr>
          <p:cNvPr id="5" name="">
            <a:extLst xmlns:a="http://schemas.openxmlformats.org/drawingml/2006/main">
              <a:ext uri="{FF2B5EF4-FFF2-40B4-BE49-F238E27FC236}">
                <a16:creationId xmlns:a16="http://schemas.microsoft.com/office/drawing/2014/main" id="{C1982D6C-7162-4E37-9AB3-0B3060266E10}"/>
              </a:ext>
            </a:extLst>
          </p:cNvPr>
          <p:cNvSpPr>
            <a:spLocks xmlns:a="http://schemas.openxmlformats.org/drawingml/2006/main" noGrp="1"/>
          </p:cNvSpPr>
          <p:nvPr/>
        </p:nvSpPr>
        <p:spPr>
          <a:xfrm xmlns:a="http://schemas.openxmlformats.org/drawingml/2006/main">
            <a:off x="685800" y="2066925"/>
            <a:ext cx="6096000" cy="190500"/>
          </a:xfrm>
          <a:prstGeom xmlns:a="http://schemas.openxmlformats.org/drawingml/2006/main" prst="rect">
            <a:avLst/>
          </a:prstGeom>
          <a:solidFill xmlns:a="http://schemas.openxmlformats.org/drawingml/2006/main">
            <a:srgbClr val="1F6B65"/>
          </a:solidFill>
          <a:ln xmlns:a="http://schemas.openxmlformats.org/drawingml/2006/main" w="0">
            <a:solidFill>
              <a:srgbClr val="1F6B65"/>
            </a:solidFill>
            <a:prstDash val="solid"/>
          </a:ln>
        </p:spPr>
      </p:sp>
      <p:sp>
        <p:nvSpPr>
          <p:cNvPr id="6" name="">
            <a:extLst xmlns:a="http://schemas.openxmlformats.org/drawingml/2006/main">
              <a:ext uri="{FF2B5EF4-FFF2-40B4-BE49-F238E27FC236}">
                <a16:creationId xmlns:a16="http://schemas.microsoft.com/office/drawing/2014/main" id="{E48AD672-AA36-41F2-906C-DEF8F76CC98A}"/>
              </a:ext>
            </a:extLst>
          </p:cNvPr>
          <p:cNvSpPr>
            <a:spLocks xmlns:a="http://schemas.openxmlformats.org/drawingml/2006/main" noGrp="1"/>
          </p:cNvSpPr>
          <p:nvPr/>
        </p:nvSpPr>
        <p:spPr>
          <a:xfrm xmlns:a="http://schemas.openxmlformats.org/drawingml/2006/main">
            <a:off x="857250" y="1914525"/>
            <a:ext cx="5753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Create.cshtml · JavaScript</a:t>
            </a:r>
          </a:p>
        </p:txBody>
      </p:sp>
      <p:sp>
        <p:nvSpPr>
          <p:cNvPr id="7" name="">
            <a:extLst xmlns:a="http://schemas.openxmlformats.org/drawingml/2006/main">
              <a:ext uri="{FF2B5EF4-FFF2-40B4-BE49-F238E27FC236}">
                <a16:creationId xmlns:a16="http://schemas.microsoft.com/office/drawing/2014/main" id="{9A407D6D-38E5-4C10-9E64-12215B10FB06}"/>
              </a:ext>
            </a:extLst>
          </p:cNvPr>
          <p:cNvSpPr>
            <a:spLocks xmlns:a="http://schemas.openxmlformats.org/drawingml/2006/main" noGrp="1"/>
          </p:cNvSpPr>
          <p:nvPr/>
        </p:nvSpPr>
        <p:spPr>
          <a:xfrm xmlns:a="http://schemas.openxmlformats.org/drawingml/2006/main">
            <a:off x="876300" y="2381250"/>
            <a:ext cx="5715000" cy="3200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const url = `/Reservas/HabitacionesDisponiblesJson`</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 `?fechaEntrada=${entrada.value}`</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 `&amp;fechaSalida=${salida.value}`;</a:t>
            </a:r>
          </a:p>
          <a:p xmlns:a="http://schemas.openxmlformats.org/drawingml/2006/main">
            <a:r>
              <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const respuesta = await fetch(url);</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const resultado = await respuesta.json();</a:t>
            </a:r>
          </a:p>
          <a:p xmlns:a="http://schemas.openxmlformats.org/drawingml/2006/main">
            <a:r>
              <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resultado.data.forEach(h =&gt; {</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const opcion = document.createElement('option');</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opcion.value = h.idHabitacion;</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habitacion.appendChild(opcion);</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a:t>
            </a:r>
          </a:p>
        </p:txBody>
      </p:sp>
      <p:sp>
        <p:nvSpPr>
          <p:cNvPr id="8" name="">
            <a:extLst xmlns:a="http://schemas.openxmlformats.org/drawingml/2006/main">
              <a:ext uri="{FF2B5EF4-FFF2-40B4-BE49-F238E27FC236}">
                <a16:creationId xmlns:a16="http://schemas.microsoft.com/office/drawing/2014/main" id="{D138558C-47FC-451C-810B-5D8E2FD6DE70}"/>
              </a:ext>
            </a:extLst>
          </p:cNvPr>
          <p:cNvSpPr>
            <a:spLocks xmlns:a="http://schemas.openxmlformats.org/drawingml/2006/main" noGrp="1"/>
          </p:cNvSpPr>
          <p:nvPr/>
        </p:nvSpPr>
        <p:spPr>
          <a:xfrm xmlns:a="http://schemas.openxmlformats.org/drawingml/2006/main">
            <a:off x="9010650" y="2800350"/>
            <a:ext cx="0" cy="495300"/>
          </a:xfrm>
          <a:prstGeom xmlns:a="http://schemas.openxmlformats.org/drawingml/2006/main" prst="line">
            <a:avLst/>
          </a:prstGeom>
          <a:noFill xmlns:a="http://schemas.openxmlformats.org/drawingml/2006/main"/>
          <a:ln xmlns:a="http://schemas.openxmlformats.org/drawingml/2006/main" w="28575">
            <a:solidFill>
              <a:srgbClr val="C99A5B"/>
            </a:solidFill>
            <a:prstDash val="solid"/>
          </a:ln>
        </p:spPr>
      </p:sp>
      <p:sp>
        <p:nvSpPr>
          <p:cNvPr id="9" name="">
            <a:extLst xmlns:a="http://schemas.openxmlformats.org/drawingml/2006/main">
              <a:ext uri="{FF2B5EF4-FFF2-40B4-BE49-F238E27FC236}">
                <a16:creationId xmlns:a16="http://schemas.microsoft.com/office/drawing/2014/main" id="{2D4A55CA-57D1-458E-A844-E40641A2C6A0}"/>
              </a:ext>
            </a:extLst>
          </p:cNvPr>
          <p:cNvSpPr>
            <a:spLocks xmlns:a="http://schemas.openxmlformats.org/drawingml/2006/main" noGrp="1"/>
          </p:cNvSpPr>
          <p:nvPr/>
        </p:nvSpPr>
        <p:spPr>
          <a:xfrm xmlns:a="http://schemas.openxmlformats.org/drawingml/2006/main">
            <a:off x="9010650" y="4210050"/>
            <a:ext cx="0" cy="495300"/>
          </a:xfrm>
          <a:prstGeom xmlns:a="http://schemas.openxmlformats.org/drawingml/2006/main" prst="line">
            <a:avLst/>
          </a:prstGeom>
          <a:noFill xmlns:a="http://schemas.openxmlformats.org/drawingml/2006/main"/>
          <a:ln xmlns:a="http://schemas.openxmlformats.org/drawingml/2006/main" w="28575">
            <a:solidFill>
              <a:srgbClr val="C99A5B"/>
            </a:solidFill>
            <a:prstDash val="solid"/>
          </a:ln>
        </p:spPr>
      </p:sp>
      <p:sp>
        <p:nvSpPr>
          <p:cNvPr id="10" name="">
            <a:extLst xmlns:a="http://schemas.openxmlformats.org/drawingml/2006/main">
              <a:ext uri="{FF2B5EF4-FFF2-40B4-BE49-F238E27FC236}">
                <a16:creationId xmlns:a16="http://schemas.microsoft.com/office/drawing/2014/main" id="{219C4B5A-36DC-4DF0-8BB5-F2FAEDA48B32}"/>
              </a:ext>
            </a:extLst>
          </p:cNvPr>
          <p:cNvSpPr>
            <a:spLocks xmlns:a="http://schemas.openxmlformats.org/drawingml/2006/main" noGrp="1"/>
          </p:cNvSpPr>
          <p:nvPr/>
        </p:nvSpPr>
        <p:spPr>
          <a:xfrm xmlns:a="http://schemas.openxmlformats.org/drawingml/2006/main">
            <a:off x="7391400" y="2038350"/>
            <a:ext cx="32385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CBD7D3"/>
            </a:solidFill>
            <a:prstDash val="solid"/>
          </a:ln>
        </p:spPr>
      </p:sp>
      <p:sp>
        <p:nvSpPr>
          <p:cNvPr id="11" name="">
            <a:extLst xmlns:a="http://schemas.openxmlformats.org/drawingml/2006/main">
              <a:ext uri="{FF2B5EF4-FFF2-40B4-BE49-F238E27FC236}">
                <a16:creationId xmlns:a16="http://schemas.microsoft.com/office/drawing/2014/main" id="{78B947A7-E63A-4AA9-B1BF-DF273F2AA303}"/>
              </a:ext>
            </a:extLst>
          </p:cNvPr>
          <p:cNvSpPr>
            <a:spLocks xmlns:a="http://schemas.openxmlformats.org/drawingml/2006/main" noGrp="1"/>
          </p:cNvSpPr>
          <p:nvPr/>
        </p:nvSpPr>
        <p:spPr>
          <a:xfrm xmlns:a="http://schemas.openxmlformats.org/drawingml/2006/main">
            <a:off x="7562850" y="220980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C99A5B"/>
                </a:solidFill>
                <a:latin typeface="Aptos"/>
                <a:ea typeface="Aptos"/>
                <a:cs typeface="Aptos"/>
              </a:defRPr>
            </a:pPr>
            <a:r>
              <a:rPr sz="1350" b="1">
                <a:solidFill>
                  <a:srgbClr val="C99A5B"/>
                </a:solidFill>
                <a:latin typeface="Aptos"/>
                <a:ea typeface="Aptos"/>
                <a:cs typeface="Aptos"/>
              </a:rPr>
              <a:t>01</a:t>
            </a:r>
          </a:p>
        </p:txBody>
      </p:sp>
      <p:sp>
        <p:nvSpPr>
          <p:cNvPr id="12" name="">
            <a:extLst xmlns:a="http://schemas.openxmlformats.org/drawingml/2006/main">
              <a:ext uri="{FF2B5EF4-FFF2-40B4-BE49-F238E27FC236}">
                <a16:creationId xmlns:a16="http://schemas.microsoft.com/office/drawing/2014/main" id="{6D816F59-B8D8-4626-9582-283685A38704}"/>
              </a:ext>
            </a:extLst>
          </p:cNvPr>
          <p:cNvSpPr>
            <a:spLocks xmlns:a="http://schemas.openxmlformats.org/drawingml/2006/main" noGrp="1"/>
          </p:cNvSpPr>
          <p:nvPr/>
        </p:nvSpPr>
        <p:spPr>
          <a:xfrm xmlns:a="http://schemas.openxmlformats.org/drawingml/2006/main">
            <a:off x="8010525" y="21907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23B3A"/>
                </a:solidFill>
                <a:latin typeface="Aptos"/>
                <a:ea typeface="Aptos"/>
                <a:cs typeface="Aptos"/>
              </a:defRPr>
            </a:pPr>
            <a:r>
              <a:rPr sz="1500" b="1">
                <a:solidFill>
                  <a:srgbClr val="123B3A"/>
                </a:solidFill>
                <a:latin typeface="Aptos"/>
                <a:ea typeface="Aptos"/>
                <a:cs typeface="Aptos"/>
              </a:rPr>
              <a:t>Cambian las fechas</a:t>
            </a:r>
          </a:p>
        </p:txBody>
      </p:sp>
      <p:sp>
        <p:nvSpPr>
          <p:cNvPr id="13" name="">
            <a:extLst xmlns:a="http://schemas.openxmlformats.org/drawingml/2006/main">
              <a:ext uri="{FF2B5EF4-FFF2-40B4-BE49-F238E27FC236}">
                <a16:creationId xmlns:a16="http://schemas.microsoft.com/office/drawing/2014/main" id="{85C76A89-CCF5-4AF2-B16D-C0BEDAD99472}"/>
              </a:ext>
            </a:extLst>
          </p:cNvPr>
          <p:cNvSpPr>
            <a:spLocks xmlns:a="http://schemas.openxmlformats.org/drawingml/2006/main" noGrp="1"/>
          </p:cNvSpPr>
          <p:nvPr/>
        </p:nvSpPr>
        <p:spPr>
          <a:xfrm xmlns:a="http://schemas.openxmlformats.org/drawingml/2006/main">
            <a:off x="8010525" y="25527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a:solidFill>
                  <a:srgbClr val="5A6866"/>
                </a:solidFill>
                <a:latin typeface="Aptos"/>
                <a:ea typeface="Aptos"/>
                <a:cs typeface="Aptos"/>
              </a:defRPr>
            </a:pPr>
            <a:r>
              <a:rPr sz="1125">
                <a:solidFill>
                  <a:srgbClr val="5A6866"/>
                </a:solidFill>
                <a:latin typeface="Aptos"/>
                <a:ea typeface="Aptos"/>
                <a:cs typeface="Aptos"/>
              </a:rPr>
              <a:t>Evento change</a:t>
            </a:r>
          </a:p>
        </p:txBody>
      </p:sp>
      <p:sp>
        <p:nvSpPr>
          <p:cNvPr id="14" name="">
            <a:extLst xmlns:a="http://schemas.openxmlformats.org/drawingml/2006/main">
              <a:ext uri="{FF2B5EF4-FFF2-40B4-BE49-F238E27FC236}">
                <a16:creationId xmlns:a16="http://schemas.microsoft.com/office/drawing/2014/main" id="{CAC7599A-37A6-4237-9F9C-192A580FC16B}"/>
              </a:ext>
            </a:extLst>
          </p:cNvPr>
          <p:cNvSpPr>
            <a:spLocks xmlns:a="http://schemas.openxmlformats.org/drawingml/2006/main" noGrp="1"/>
          </p:cNvSpPr>
          <p:nvPr/>
        </p:nvSpPr>
        <p:spPr>
          <a:xfrm xmlns:a="http://schemas.openxmlformats.org/drawingml/2006/main">
            <a:off x="7391400" y="3448050"/>
            <a:ext cx="3238500" cy="914400"/>
          </a:xfrm>
          <a:prstGeom xmlns:a="http://schemas.openxmlformats.org/drawingml/2006/main" prst="roundRect">
            <a:avLst>
              <a:gd name="adj" fmla="val 12500"/>
            </a:avLst>
          </a:prstGeom>
          <a:solidFill xmlns:a="http://schemas.openxmlformats.org/drawingml/2006/main">
            <a:srgbClr val="123B3A"/>
          </a:solidFill>
          <a:ln xmlns:a="http://schemas.openxmlformats.org/drawingml/2006/main" w="9525">
            <a:solidFill>
              <a:srgbClr val="123B3A"/>
            </a:solidFill>
            <a:prstDash val="solid"/>
          </a:ln>
        </p:spPr>
      </p:sp>
      <p:sp>
        <p:nvSpPr>
          <p:cNvPr id="15" name="">
            <a:extLst xmlns:a="http://schemas.openxmlformats.org/drawingml/2006/main">
              <a:ext uri="{FF2B5EF4-FFF2-40B4-BE49-F238E27FC236}">
                <a16:creationId xmlns:a16="http://schemas.microsoft.com/office/drawing/2014/main" id="{C130A409-7560-4936-B5C8-8401EA26A29F}"/>
              </a:ext>
            </a:extLst>
          </p:cNvPr>
          <p:cNvSpPr>
            <a:spLocks xmlns:a="http://schemas.openxmlformats.org/drawingml/2006/main" noGrp="1"/>
          </p:cNvSpPr>
          <p:nvPr/>
        </p:nvSpPr>
        <p:spPr>
          <a:xfrm xmlns:a="http://schemas.openxmlformats.org/drawingml/2006/main">
            <a:off x="7562850" y="361950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E9D8BC"/>
                </a:solidFill>
                <a:latin typeface="Aptos"/>
                <a:ea typeface="Aptos"/>
                <a:cs typeface="Aptos"/>
              </a:defRPr>
            </a:pPr>
            <a:r>
              <a:rPr sz="1350" b="1">
                <a:solidFill>
                  <a:srgbClr val="E9D8BC"/>
                </a:solidFill>
                <a:latin typeface="Aptos"/>
                <a:ea typeface="Aptos"/>
                <a:cs typeface="Aptos"/>
              </a:rPr>
              <a:t>02</a:t>
            </a:r>
          </a:p>
        </p:txBody>
      </p:sp>
      <p:sp>
        <p:nvSpPr>
          <p:cNvPr id="16" name="">
            <a:extLst xmlns:a="http://schemas.openxmlformats.org/drawingml/2006/main">
              <a:ext uri="{FF2B5EF4-FFF2-40B4-BE49-F238E27FC236}">
                <a16:creationId xmlns:a16="http://schemas.microsoft.com/office/drawing/2014/main" id="{E79E8836-EB17-405F-B6C1-3760AD76782C}"/>
              </a:ext>
            </a:extLst>
          </p:cNvPr>
          <p:cNvSpPr>
            <a:spLocks xmlns:a="http://schemas.openxmlformats.org/drawingml/2006/main" noGrp="1"/>
          </p:cNvSpPr>
          <p:nvPr/>
        </p:nvSpPr>
        <p:spPr>
          <a:xfrm xmlns:a="http://schemas.openxmlformats.org/drawingml/2006/main">
            <a:off x="8010525" y="36004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Aptos"/>
                <a:ea typeface="Aptos"/>
                <a:cs typeface="Aptos"/>
              </a:defRPr>
            </a:pPr>
            <a:r>
              <a:rPr sz="1500" b="1">
                <a:solidFill>
                  <a:srgbClr val="FFFFFF"/>
                </a:solidFill>
                <a:latin typeface="Aptos"/>
                <a:ea typeface="Aptos"/>
                <a:cs typeface="Aptos"/>
              </a:rPr>
              <a:t>El controlador responde</a:t>
            </a:r>
          </a:p>
        </p:txBody>
      </p:sp>
      <p:sp>
        <p:nvSpPr>
          <p:cNvPr id="17" name="">
            <a:extLst xmlns:a="http://schemas.openxmlformats.org/drawingml/2006/main">
              <a:ext uri="{FF2B5EF4-FFF2-40B4-BE49-F238E27FC236}">
                <a16:creationId xmlns:a16="http://schemas.microsoft.com/office/drawing/2014/main" id="{11016B0E-0B8D-48CA-8692-816BF46A71C2}"/>
              </a:ext>
            </a:extLst>
          </p:cNvPr>
          <p:cNvSpPr>
            <a:spLocks xmlns:a="http://schemas.openxmlformats.org/drawingml/2006/main" noGrp="1"/>
          </p:cNvSpPr>
          <p:nvPr/>
        </p:nvSpPr>
        <p:spPr>
          <a:xfrm xmlns:a="http://schemas.openxmlformats.org/drawingml/2006/main">
            <a:off x="8010525" y="39624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a:solidFill>
                  <a:srgbClr val="DDECE8"/>
                </a:solidFill>
                <a:latin typeface="Aptos"/>
                <a:ea typeface="Aptos"/>
                <a:cs typeface="Aptos"/>
              </a:defRPr>
            </a:pPr>
            <a:r>
              <a:rPr sz="1125">
                <a:solidFill>
                  <a:srgbClr val="DDECE8"/>
                </a:solidFill>
                <a:latin typeface="Aptos"/>
                <a:ea typeface="Aptos"/>
                <a:cs typeface="Aptos"/>
              </a:rPr>
              <a:t>JSON: success + data</a:t>
            </a:r>
          </a:p>
        </p:txBody>
      </p:sp>
      <p:sp>
        <p:nvSpPr>
          <p:cNvPr id="18" name="">
            <a:extLst xmlns:a="http://schemas.openxmlformats.org/drawingml/2006/main">
              <a:ext uri="{FF2B5EF4-FFF2-40B4-BE49-F238E27FC236}">
                <a16:creationId xmlns:a16="http://schemas.microsoft.com/office/drawing/2014/main" id="{57FC5709-6B07-43FF-B7DA-C1C4E0DF6C4A}"/>
              </a:ext>
            </a:extLst>
          </p:cNvPr>
          <p:cNvSpPr>
            <a:spLocks xmlns:a="http://schemas.openxmlformats.org/drawingml/2006/main" noGrp="1"/>
          </p:cNvSpPr>
          <p:nvPr/>
        </p:nvSpPr>
        <p:spPr>
          <a:xfrm xmlns:a="http://schemas.openxmlformats.org/drawingml/2006/main">
            <a:off x="7391400" y="4857750"/>
            <a:ext cx="32385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CBD7D3"/>
            </a:solidFill>
            <a:prstDash val="solid"/>
          </a:ln>
        </p:spPr>
      </p:sp>
      <p:sp>
        <p:nvSpPr>
          <p:cNvPr id="19" name="">
            <a:extLst xmlns:a="http://schemas.openxmlformats.org/drawingml/2006/main">
              <a:ext uri="{FF2B5EF4-FFF2-40B4-BE49-F238E27FC236}">
                <a16:creationId xmlns:a16="http://schemas.microsoft.com/office/drawing/2014/main" id="{4822CC17-96B2-4931-9B37-0F44F064B235}"/>
              </a:ext>
            </a:extLst>
          </p:cNvPr>
          <p:cNvSpPr>
            <a:spLocks xmlns:a="http://schemas.openxmlformats.org/drawingml/2006/main" noGrp="1"/>
          </p:cNvSpPr>
          <p:nvPr/>
        </p:nvSpPr>
        <p:spPr>
          <a:xfrm xmlns:a="http://schemas.openxmlformats.org/drawingml/2006/main">
            <a:off x="7562850" y="502920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C99A5B"/>
                </a:solidFill>
                <a:latin typeface="Aptos"/>
                <a:ea typeface="Aptos"/>
                <a:cs typeface="Aptos"/>
              </a:defRPr>
            </a:pPr>
            <a:r>
              <a:rPr sz="1350" b="1">
                <a:solidFill>
                  <a:srgbClr val="C99A5B"/>
                </a:solidFill>
                <a:latin typeface="Aptos"/>
                <a:ea typeface="Aptos"/>
                <a:cs typeface="Aptos"/>
              </a:rPr>
              <a:t>03</a:t>
            </a:r>
          </a:p>
        </p:txBody>
      </p:sp>
      <p:sp>
        <p:nvSpPr>
          <p:cNvPr id="20" name="">
            <a:extLst xmlns:a="http://schemas.openxmlformats.org/drawingml/2006/main">
              <a:ext uri="{FF2B5EF4-FFF2-40B4-BE49-F238E27FC236}">
                <a16:creationId xmlns:a16="http://schemas.microsoft.com/office/drawing/2014/main" id="{0735773F-EB9C-478E-B60C-170348F01579}"/>
              </a:ext>
            </a:extLst>
          </p:cNvPr>
          <p:cNvSpPr>
            <a:spLocks xmlns:a="http://schemas.openxmlformats.org/drawingml/2006/main" noGrp="1"/>
          </p:cNvSpPr>
          <p:nvPr/>
        </p:nvSpPr>
        <p:spPr>
          <a:xfrm xmlns:a="http://schemas.openxmlformats.org/drawingml/2006/main">
            <a:off x="8010525" y="50101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23B3A"/>
                </a:solidFill>
                <a:latin typeface="Aptos"/>
                <a:ea typeface="Aptos"/>
                <a:cs typeface="Aptos"/>
              </a:defRPr>
            </a:pPr>
            <a:r>
              <a:rPr sz="1500" b="1">
                <a:solidFill>
                  <a:srgbClr val="123B3A"/>
                </a:solidFill>
                <a:latin typeface="Aptos"/>
                <a:ea typeface="Aptos"/>
                <a:cs typeface="Aptos"/>
              </a:rPr>
              <a:t>El selector se actualiza</a:t>
            </a:r>
          </a:p>
        </p:txBody>
      </p:sp>
      <p:sp>
        <p:nvSpPr>
          <p:cNvPr id="21" name="">
            <a:extLst xmlns:a="http://schemas.openxmlformats.org/drawingml/2006/main">
              <a:ext uri="{FF2B5EF4-FFF2-40B4-BE49-F238E27FC236}">
                <a16:creationId xmlns:a16="http://schemas.microsoft.com/office/drawing/2014/main" id="{265B6B7B-B20B-4128-967D-78AECBAEAFF3}"/>
              </a:ext>
            </a:extLst>
          </p:cNvPr>
          <p:cNvSpPr>
            <a:spLocks xmlns:a="http://schemas.openxmlformats.org/drawingml/2006/main" noGrp="1"/>
          </p:cNvSpPr>
          <p:nvPr/>
        </p:nvSpPr>
        <p:spPr>
          <a:xfrm xmlns:a="http://schemas.openxmlformats.org/drawingml/2006/main">
            <a:off x="8010525" y="53721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a:solidFill>
                  <a:srgbClr val="5A6866"/>
                </a:solidFill>
                <a:latin typeface="Aptos"/>
                <a:ea typeface="Aptos"/>
                <a:cs typeface="Aptos"/>
              </a:defRPr>
            </a:pPr>
            <a:r>
              <a:rPr sz="1125">
                <a:solidFill>
                  <a:srgbClr val="5A6866"/>
                </a:solidFill>
                <a:latin typeface="Aptos"/>
                <a:ea typeface="Aptos"/>
                <a:cs typeface="Aptos"/>
              </a:rPr>
              <a:t>Sin recargar la vista</a:t>
            </a:r>
          </a:p>
        </p:txBody>
      </p:sp>
    </p:spTree>
    <p:extLst>
      <p:ext uri="{BB962C8B-B14F-4D97-AF65-F5344CB8AC3E}">
        <p14:creationId xmlns:p14="http://schemas.microsoft.com/office/powerpoint/2010/main" val="1920271640"/>
      </p:ext>
    </p:extLst>
  </p:cSld>
</p:sld>
</file>

<file path=ppt/slides/slide9.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A4C2FC7-937B-4D7C-9412-B7FB639FF0AA}"/>
              </a:ext>
            </a:extLst>
          </p:cNvPr>
          <p:cNvSpPr>
            <a:spLocks xmlns:a="http://schemas.openxmlformats.org/drawingml/2006/main" noGrp="1"/>
          </p:cNvSpPr>
          <p:nvPr/>
        </p:nvSpPr>
        <p:spPr>
          <a:xfrm xmlns:a="http://schemas.openxmlformats.org/drawingml/2006/main">
            <a:off x="685800" y="6477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700" b="1">
                <a:solidFill>
                  <a:srgbClr val="123B3A"/>
                </a:solidFill>
                <a:latin typeface="Aptos"/>
                <a:ea typeface="Aptos"/>
                <a:cs typeface="Aptos"/>
              </a:defRPr>
            </a:pPr>
            <a:r>
              <a:rPr sz="2700" b="1">
                <a:solidFill>
                  <a:srgbClr val="123B3A"/>
                </a:solidFill>
                <a:latin typeface="Aptos"/>
                <a:ea typeface="Aptos"/>
                <a:cs typeface="Aptos"/>
              </a:rPr>
              <a:t>El servidor recalcula y SQL protege la reserva</a:t>
            </a:r>
          </a:p>
        </p:txBody>
      </p:sp>
      <p:sp>
        <p:nvSpPr>
          <p:cNvPr id="2" name="">
            <a:extLst xmlns:a="http://schemas.openxmlformats.org/drawingml/2006/main">
              <a:ext uri="{FF2B5EF4-FFF2-40B4-BE49-F238E27FC236}">
                <a16:creationId xmlns:a16="http://schemas.microsoft.com/office/drawing/2014/main" id="{EC90E1BB-E2C3-45FC-BAA7-55D7E1FE8F58}"/>
              </a:ext>
            </a:extLst>
          </p:cNvPr>
          <p:cNvSpPr>
            <a:spLocks xmlns:a="http://schemas.openxmlformats.org/drawingml/2006/main" noGrp="1"/>
          </p:cNvSpPr>
          <p:nvPr/>
        </p:nvSpPr>
        <p:spPr>
          <a:xfrm xmlns:a="http://schemas.openxmlformats.org/drawingml/2006/main">
            <a:off x="11106150" y="34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5A6866"/>
                </a:solidFill>
                <a:latin typeface="Aptos"/>
                <a:ea typeface="Aptos"/>
                <a:cs typeface="Aptos"/>
              </a:defRPr>
            </a:pPr>
            <a:r>
              <a:rPr sz="900" b="1">
                <a:solidFill>
                  <a:srgbClr val="5A6866"/>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690002A2-C556-45C8-9C7E-0F3581A17380}"/>
              </a:ext>
            </a:extLst>
          </p:cNvPr>
          <p:cNvSpPr>
            <a:spLocks xmlns:a="http://schemas.openxmlformats.org/drawingml/2006/main" noGrp="1"/>
          </p:cNvSpPr>
          <p:nvPr/>
        </p:nvSpPr>
        <p:spPr>
          <a:xfrm xmlns:a="http://schemas.openxmlformats.org/drawingml/2006/main">
            <a:off x="685800" y="1743075"/>
            <a:ext cx="10820400" cy="514350"/>
          </a:xfrm>
          <a:prstGeom xmlns:a="http://schemas.openxmlformats.org/drawingml/2006/main" prst="roundRect">
            <a:avLst>
              <a:gd name="adj" fmla="val 22222"/>
            </a:avLst>
          </a:prstGeom>
          <a:solidFill xmlns:a="http://schemas.openxmlformats.org/drawingml/2006/main">
            <a:srgbClr val="DDECE8"/>
          </a:solidFill>
          <a:ln xmlns:a="http://schemas.openxmlformats.org/drawingml/2006/main" w="0">
            <a:solidFill>
              <a:srgbClr val="DDECE8"/>
            </a:solidFill>
            <a:prstDash val="solid"/>
          </a:ln>
        </p:spPr>
      </p:sp>
      <p:sp>
        <p:nvSpPr>
          <p:cNvPr id="4" name="">
            <a:extLst xmlns:a="http://schemas.openxmlformats.org/drawingml/2006/main">
              <a:ext uri="{FF2B5EF4-FFF2-40B4-BE49-F238E27FC236}">
                <a16:creationId xmlns:a16="http://schemas.microsoft.com/office/drawing/2014/main" id="{DFC9DD4B-BF2E-47F8-99D9-4E5F1AC58601}"/>
              </a:ext>
            </a:extLst>
          </p:cNvPr>
          <p:cNvSpPr>
            <a:spLocks xmlns:a="http://schemas.openxmlformats.org/drawingml/2006/main" noGrp="1"/>
          </p:cNvSpPr>
          <p:nvPr/>
        </p:nvSpPr>
        <p:spPr>
          <a:xfrm xmlns:a="http://schemas.openxmlformats.org/drawingml/2006/main">
            <a:off x="876300" y="1857375"/>
            <a:ext cx="1043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23B3A"/>
                </a:solidFill>
                <a:latin typeface="Aptos"/>
                <a:ea typeface="Aptos"/>
                <a:cs typeface="Aptos"/>
              </a:defRPr>
            </a:pPr>
            <a:r>
              <a:rPr sz="1500" b="1">
                <a:solidFill>
                  <a:srgbClr val="123B3A"/>
                </a:solidFill>
                <a:latin typeface="Aptos"/>
                <a:ea typeface="Aptos"/>
                <a:cs typeface="Aptos"/>
              </a:rPr>
              <a:t>Noches × tarifa recuperada de la BD = total definitivo</a:t>
            </a:r>
          </a:p>
        </p:txBody>
      </p:sp>
      <p:sp>
        <p:nvSpPr>
          <p:cNvPr id="5" name="">
            <a:extLst xmlns:a="http://schemas.openxmlformats.org/drawingml/2006/main">
              <a:ext uri="{FF2B5EF4-FFF2-40B4-BE49-F238E27FC236}">
                <a16:creationId xmlns:a16="http://schemas.microsoft.com/office/drawing/2014/main" id="{E51017A0-A0D5-4FEF-A8F2-B3D70FB22D94}"/>
              </a:ext>
            </a:extLst>
          </p:cNvPr>
          <p:cNvSpPr>
            <a:spLocks xmlns:a="http://schemas.openxmlformats.org/drawingml/2006/main" noGrp="1"/>
          </p:cNvSpPr>
          <p:nvPr/>
        </p:nvSpPr>
        <p:spPr>
          <a:xfrm xmlns:a="http://schemas.openxmlformats.org/drawingml/2006/main">
            <a:off x="685800" y="2505075"/>
            <a:ext cx="5257800" cy="3400425"/>
          </a:xfrm>
          <a:prstGeom xmlns:a="http://schemas.openxmlformats.org/drawingml/2006/main" prst="roundRect">
            <a:avLst>
              <a:gd name="adj" fmla="val 3361"/>
            </a:avLst>
          </a:prstGeom>
          <a:solidFill xmlns:a="http://schemas.openxmlformats.org/drawingml/2006/main">
            <a:srgbClr val="172624"/>
          </a:solidFill>
          <a:ln xmlns:a="http://schemas.openxmlformats.org/drawingml/2006/main" w="0">
            <a:solidFill>
              <a:srgbClr val="172624"/>
            </a:solidFill>
            <a:prstDash val="solid"/>
          </a:ln>
        </p:spPr>
      </p:sp>
      <p:sp>
        <p:nvSpPr>
          <p:cNvPr id="6" name="">
            <a:extLst xmlns:a="http://schemas.openxmlformats.org/drawingml/2006/main">
              <a:ext uri="{FF2B5EF4-FFF2-40B4-BE49-F238E27FC236}">
                <a16:creationId xmlns:a16="http://schemas.microsoft.com/office/drawing/2014/main" id="{92BE152F-6413-436F-97D2-F523F08C7692}"/>
              </a:ext>
            </a:extLst>
          </p:cNvPr>
          <p:cNvSpPr>
            <a:spLocks xmlns:a="http://schemas.openxmlformats.org/drawingml/2006/main" noGrp="1"/>
          </p:cNvSpPr>
          <p:nvPr/>
        </p:nvSpPr>
        <p:spPr>
          <a:xfrm xmlns:a="http://schemas.openxmlformats.org/drawingml/2006/main">
            <a:off x="685800" y="2505075"/>
            <a:ext cx="5257800" cy="400050"/>
          </a:xfrm>
          <a:prstGeom xmlns:a="http://schemas.openxmlformats.org/drawingml/2006/main" prst="roundRect">
            <a:avLst>
              <a:gd name="adj" fmla="val 28571"/>
            </a:avLst>
          </a:prstGeom>
          <a:solidFill xmlns:a="http://schemas.openxmlformats.org/drawingml/2006/main">
            <a:srgbClr val="1F6B65"/>
          </a:solidFill>
          <a:ln xmlns:a="http://schemas.openxmlformats.org/drawingml/2006/main" w="0">
            <a:solidFill>
              <a:srgbClr val="1F6B65"/>
            </a:solidFill>
            <a:prstDash val="solid"/>
          </a:ln>
        </p:spPr>
      </p:sp>
      <p:sp>
        <p:nvSpPr>
          <p:cNvPr id="7" name="">
            <a:extLst xmlns:a="http://schemas.openxmlformats.org/drawingml/2006/main">
              <a:ext uri="{FF2B5EF4-FFF2-40B4-BE49-F238E27FC236}">
                <a16:creationId xmlns:a16="http://schemas.microsoft.com/office/drawing/2014/main" id="{AF4AA15C-62BD-4B9B-B17B-804732CCBB2E}"/>
              </a:ext>
            </a:extLst>
          </p:cNvPr>
          <p:cNvSpPr>
            <a:spLocks xmlns:a="http://schemas.openxmlformats.org/drawingml/2006/main" noGrp="1"/>
          </p:cNvSpPr>
          <p:nvPr/>
        </p:nvSpPr>
        <p:spPr>
          <a:xfrm xmlns:a="http://schemas.openxmlformats.org/drawingml/2006/main">
            <a:off x="685800" y="2762250"/>
            <a:ext cx="5257800" cy="190500"/>
          </a:xfrm>
          <a:prstGeom xmlns:a="http://schemas.openxmlformats.org/drawingml/2006/main" prst="rect">
            <a:avLst/>
          </a:prstGeom>
          <a:solidFill xmlns:a="http://schemas.openxmlformats.org/drawingml/2006/main">
            <a:srgbClr val="1F6B65"/>
          </a:solidFill>
          <a:ln xmlns:a="http://schemas.openxmlformats.org/drawingml/2006/main" w="0">
            <a:solidFill>
              <a:srgbClr val="1F6B65"/>
            </a:solidFill>
            <a:prstDash val="solid"/>
          </a:ln>
        </p:spPr>
      </p:sp>
      <p:sp>
        <p:nvSpPr>
          <p:cNvPr id="8" name="">
            <a:extLst xmlns:a="http://schemas.openxmlformats.org/drawingml/2006/main">
              <a:ext uri="{FF2B5EF4-FFF2-40B4-BE49-F238E27FC236}">
                <a16:creationId xmlns:a16="http://schemas.microsoft.com/office/drawing/2014/main" id="{C15BA80B-C7EB-4900-8442-81252BC9D889}"/>
              </a:ext>
            </a:extLst>
          </p:cNvPr>
          <p:cNvSpPr>
            <a:spLocks xmlns:a="http://schemas.openxmlformats.org/drawingml/2006/main" noGrp="1"/>
          </p:cNvSpPr>
          <p:nvPr/>
        </p:nvSpPr>
        <p:spPr>
          <a:xfrm xmlns:a="http://schemas.openxmlformats.org/drawingml/2006/main">
            <a:off x="857250" y="2609850"/>
            <a:ext cx="491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ReservasController.cs · Servidor</a:t>
            </a:r>
          </a:p>
        </p:txBody>
      </p:sp>
      <p:sp>
        <p:nvSpPr>
          <p:cNvPr id="9" name="">
            <a:extLst xmlns:a="http://schemas.openxmlformats.org/drawingml/2006/main">
              <a:ext uri="{FF2B5EF4-FFF2-40B4-BE49-F238E27FC236}">
                <a16:creationId xmlns:a16="http://schemas.microsoft.com/office/drawing/2014/main" id="{8E99ADDC-6FA3-4B8B-9297-3160AD3A02E1}"/>
              </a:ext>
            </a:extLst>
          </p:cNvPr>
          <p:cNvSpPr>
            <a:spLocks xmlns:a="http://schemas.openxmlformats.org/drawingml/2006/main" noGrp="1"/>
          </p:cNvSpPr>
          <p:nvPr/>
        </p:nvSpPr>
        <p:spPr>
          <a:xfrm xmlns:a="http://schemas.openxmlformats.org/drawingml/2006/main">
            <a:off x="876300" y="3076575"/>
            <a:ext cx="4876800" cy="2657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decimal precio = ObtenerPrecioHabitacion(</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cn, reserva.IdHabitacion);</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int dias = (reserva.FechaSalida.Date</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 reserva.FechaEntrada.Date).Days;</a:t>
            </a:r>
          </a:p>
          <a:p xmlns:a="http://schemas.openxmlformats.org/drawingml/2006/main">
            <a:r>
              <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SqlCommand cmd = new("dbo.sp_RegistrarReserva", cn)</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CommandType = CommandType.StoredProcedure };</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cmd.Parameters.AddWithValue("@CantidadDias", dias);</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cmd.Parameters.AddWithValue("@PrecioDia", precio);</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cmd.Parameters.AddWithValue("@Total", dias * precio);</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cmd.ExecuteNonQuery();</a:t>
            </a:r>
          </a:p>
        </p:txBody>
      </p:sp>
      <p:sp>
        <p:nvSpPr>
          <p:cNvPr id="10" name="">
            <a:extLst xmlns:a="http://schemas.openxmlformats.org/drawingml/2006/main">
              <a:ext uri="{FF2B5EF4-FFF2-40B4-BE49-F238E27FC236}">
                <a16:creationId xmlns:a16="http://schemas.microsoft.com/office/drawing/2014/main" id="{C982D5EC-EC9D-44E5-9B6E-9C985B75BAD4}"/>
              </a:ext>
            </a:extLst>
          </p:cNvPr>
          <p:cNvSpPr>
            <a:spLocks xmlns:a="http://schemas.openxmlformats.org/drawingml/2006/main" noGrp="1"/>
          </p:cNvSpPr>
          <p:nvPr/>
        </p:nvSpPr>
        <p:spPr>
          <a:xfrm xmlns:a="http://schemas.openxmlformats.org/drawingml/2006/main">
            <a:off x="6248400" y="2505075"/>
            <a:ext cx="5257800" cy="3400425"/>
          </a:xfrm>
          <a:prstGeom xmlns:a="http://schemas.openxmlformats.org/drawingml/2006/main" prst="roundRect">
            <a:avLst>
              <a:gd name="adj" fmla="val 3361"/>
            </a:avLst>
          </a:prstGeom>
          <a:solidFill xmlns:a="http://schemas.openxmlformats.org/drawingml/2006/main">
            <a:srgbClr val="172624"/>
          </a:solidFill>
          <a:ln xmlns:a="http://schemas.openxmlformats.org/drawingml/2006/main" w="0">
            <a:solidFill>
              <a:srgbClr val="172624"/>
            </a:solidFill>
            <a:prstDash val="solid"/>
          </a:ln>
        </p:spPr>
      </p:sp>
      <p:sp>
        <p:nvSpPr>
          <p:cNvPr id="11" name="">
            <a:extLst xmlns:a="http://schemas.openxmlformats.org/drawingml/2006/main">
              <a:ext uri="{FF2B5EF4-FFF2-40B4-BE49-F238E27FC236}">
                <a16:creationId xmlns:a16="http://schemas.microsoft.com/office/drawing/2014/main" id="{43102479-4626-421E-8F55-E2BDCFD69576}"/>
              </a:ext>
            </a:extLst>
          </p:cNvPr>
          <p:cNvSpPr>
            <a:spLocks xmlns:a="http://schemas.openxmlformats.org/drawingml/2006/main" noGrp="1"/>
          </p:cNvSpPr>
          <p:nvPr/>
        </p:nvSpPr>
        <p:spPr>
          <a:xfrm xmlns:a="http://schemas.openxmlformats.org/drawingml/2006/main">
            <a:off x="6248400" y="2505075"/>
            <a:ext cx="5257800" cy="400050"/>
          </a:xfrm>
          <a:prstGeom xmlns:a="http://schemas.openxmlformats.org/drawingml/2006/main" prst="roundRect">
            <a:avLst>
              <a:gd name="adj" fmla="val 28571"/>
            </a:avLst>
          </a:prstGeom>
          <a:solidFill xmlns:a="http://schemas.openxmlformats.org/drawingml/2006/main">
            <a:srgbClr val="C99A5B"/>
          </a:solidFill>
          <a:ln xmlns:a="http://schemas.openxmlformats.org/drawingml/2006/main" w="0">
            <a:solidFill>
              <a:srgbClr val="C99A5B"/>
            </a:solidFill>
            <a:prstDash val="solid"/>
          </a:ln>
        </p:spPr>
      </p:sp>
      <p:sp>
        <p:nvSpPr>
          <p:cNvPr id="12" name="">
            <a:extLst xmlns:a="http://schemas.openxmlformats.org/drawingml/2006/main">
              <a:ext uri="{FF2B5EF4-FFF2-40B4-BE49-F238E27FC236}">
                <a16:creationId xmlns:a16="http://schemas.microsoft.com/office/drawing/2014/main" id="{BEBEB277-F522-4617-8471-CC801A6A0A17}"/>
              </a:ext>
            </a:extLst>
          </p:cNvPr>
          <p:cNvSpPr>
            <a:spLocks xmlns:a="http://schemas.openxmlformats.org/drawingml/2006/main" noGrp="1"/>
          </p:cNvSpPr>
          <p:nvPr/>
        </p:nvSpPr>
        <p:spPr>
          <a:xfrm xmlns:a="http://schemas.openxmlformats.org/drawingml/2006/main">
            <a:off x="6248400" y="2762250"/>
            <a:ext cx="5257800" cy="190500"/>
          </a:xfrm>
          <a:prstGeom xmlns:a="http://schemas.openxmlformats.org/drawingml/2006/main" prst="rect">
            <a:avLst/>
          </a:prstGeom>
          <a:solidFill xmlns:a="http://schemas.openxmlformats.org/drawingml/2006/main">
            <a:srgbClr val="C99A5B"/>
          </a:solidFill>
          <a:ln xmlns:a="http://schemas.openxmlformats.org/drawingml/2006/main" w="0">
            <a:solidFill>
              <a:srgbClr val="C99A5B"/>
            </a:solidFill>
            <a:prstDash val="solid"/>
          </a:ln>
        </p:spPr>
      </p:sp>
      <p:sp>
        <p:nvSpPr>
          <p:cNvPr id="13" name="">
            <a:extLst xmlns:a="http://schemas.openxmlformats.org/drawingml/2006/main">
              <a:ext uri="{FF2B5EF4-FFF2-40B4-BE49-F238E27FC236}">
                <a16:creationId xmlns:a16="http://schemas.microsoft.com/office/drawing/2014/main" id="{CF59E0EE-371D-4769-8604-3FC39E327F0B}"/>
              </a:ext>
            </a:extLst>
          </p:cNvPr>
          <p:cNvSpPr>
            <a:spLocks xmlns:a="http://schemas.openxmlformats.org/drawingml/2006/main" noGrp="1"/>
          </p:cNvSpPr>
          <p:nvPr/>
        </p:nvSpPr>
        <p:spPr>
          <a:xfrm xmlns:a="http://schemas.openxmlformats.org/drawingml/2006/main">
            <a:off x="6419850" y="2609850"/>
            <a:ext cx="4914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ACTUALIZACION_HOTEL.sql · Transacción</a:t>
            </a:r>
          </a:p>
        </p:txBody>
      </p:sp>
      <p:sp>
        <p:nvSpPr>
          <p:cNvPr id="14" name="">
            <a:extLst xmlns:a="http://schemas.openxmlformats.org/drawingml/2006/main">
              <a:ext uri="{FF2B5EF4-FFF2-40B4-BE49-F238E27FC236}">
                <a16:creationId xmlns:a16="http://schemas.microsoft.com/office/drawing/2014/main" id="{0C1121C7-8C2C-4FBF-8230-6BAF49CEF203}"/>
              </a:ext>
            </a:extLst>
          </p:cNvPr>
          <p:cNvSpPr>
            <a:spLocks xmlns:a="http://schemas.openxmlformats.org/drawingml/2006/main" noGrp="1"/>
          </p:cNvSpPr>
          <p:nvPr/>
        </p:nvSpPr>
        <p:spPr>
          <a:xfrm xmlns:a="http://schemas.openxmlformats.org/drawingml/2006/main">
            <a:off x="6438900" y="3076575"/>
            <a:ext cx="4876800" cy="2657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BEGIN TRANSACTION;</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BEGIN TRY</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 validar habitación operativa</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 validar que no existan fechas cruzadas</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 insertar la reserva</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COMMIT TRANSACTION;</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END TRY</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BEGIN CATCH</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IF @@TRANCOUNT &gt; 0 ROLLBACK TRANSACTION;</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  THROW;</a:t>
            </a:r>
          </a:p>
          <a:p xmlns:a="http://schemas.openxmlformats.org/drawingml/2006/main">
            <a:pPr algn="l">
              <a:defRPr sz="1200">
                <a:solidFill>
                  <a:srgbClr val="E8F1EE"/>
                </a:solidFill>
                <a:latin typeface="Consolas"/>
                <a:ea typeface="Consolas"/>
                <a:cs typeface="Consolas"/>
              </a:defRPr>
            </a:pPr>
            <a:r>
              <a:rPr sz="1200">
                <a:solidFill>
                  <a:srgbClr val="E8F1EE"/>
                </a:solidFill>
                <a:latin typeface="Consolas"/>
                <a:ea typeface="Consolas"/>
                <a:cs typeface="Consolas"/>
              </a:rPr>
              <a:t>END CATCH</a:t>
            </a:r>
          </a:p>
        </p:txBody>
      </p:sp>
    </p:spTree>
    <p:extLst>
      <p:ext uri="{BB962C8B-B14F-4D97-AF65-F5344CB8AC3E}">
        <p14:creationId xmlns:p14="http://schemas.microsoft.com/office/powerpoint/2010/main" val="379129386"/>
      </p:ext>
    </p:extLst>
  </p:cSld>
</p:sld>
</file>

<file path=ppt/slides/slide10.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7E900C9-AE76-475F-8F37-C90D0C6D820B}"/>
              </a:ext>
            </a:extLst>
          </p:cNvPr>
          <p:cNvSpPr>
            <a:spLocks xmlns:a="http://schemas.openxmlformats.org/drawingml/2006/main" noGrp="1"/>
          </p:cNvSpPr>
          <p:nvPr/>
        </p:nvSpPr>
        <p:spPr>
          <a:xfrm xmlns:a="http://schemas.openxmlformats.org/drawingml/2006/main">
            <a:off x="685800" y="6477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123B3A"/>
                </a:solidFill>
                <a:latin typeface="Aptos"/>
                <a:ea typeface="Aptos"/>
                <a:cs typeface="Aptos"/>
              </a:defRPr>
            </a:pPr>
            <a:r>
              <a:rPr sz="2550" b="1">
                <a:solidFill>
                  <a:srgbClr val="123B3A"/>
                </a:solidFill>
                <a:latin typeface="Aptos"/>
                <a:ea typeface="Aptos"/>
                <a:cs typeface="Aptos"/>
              </a:rPr>
              <a:t>Roles y reglas protegen las operaciones importantes</a:t>
            </a:r>
          </a:p>
        </p:txBody>
      </p:sp>
      <p:sp>
        <p:nvSpPr>
          <p:cNvPr id="2" name="">
            <a:extLst xmlns:a="http://schemas.openxmlformats.org/drawingml/2006/main">
              <a:ext uri="{FF2B5EF4-FFF2-40B4-BE49-F238E27FC236}">
                <a16:creationId xmlns:a16="http://schemas.microsoft.com/office/drawing/2014/main" id="{AEBE461F-259B-46D6-AB2E-7D356A9091E7}"/>
              </a:ext>
            </a:extLst>
          </p:cNvPr>
          <p:cNvSpPr>
            <a:spLocks xmlns:a="http://schemas.openxmlformats.org/drawingml/2006/main" noGrp="1"/>
          </p:cNvSpPr>
          <p:nvPr/>
        </p:nvSpPr>
        <p:spPr>
          <a:xfrm xmlns:a="http://schemas.openxmlformats.org/drawingml/2006/main">
            <a:off x="11106150" y="34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5A6866"/>
                </a:solidFill>
                <a:latin typeface="Aptos"/>
                <a:ea typeface="Aptos"/>
                <a:cs typeface="Aptos"/>
              </a:defRPr>
            </a:pPr>
            <a:r>
              <a:rPr sz="900" b="1">
                <a:solidFill>
                  <a:srgbClr val="5A6866"/>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80FFE731-10FA-4226-A33E-9702733F9FE9}"/>
              </a:ext>
            </a:extLst>
          </p:cNvPr>
          <p:cNvSpPr>
            <a:spLocks xmlns:a="http://schemas.openxmlformats.org/drawingml/2006/main" noGrp="1"/>
          </p:cNvSpPr>
          <p:nvPr/>
        </p:nvSpPr>
        <p:spPr>
          <a:xfrm xmlns:a="http://schemas.openxmlformats.org/drawingml/2006/main">
            <a:off x="685800" y="1809750"/>
            <a:ext cx="6705600" cy="3943350"/>
          </a:xfrm>
          <a:prstGeom xmlns:a="http://schemas.openxmlformats.org/drawingml/2006/main" prst="roundRect">
            <a:avLst>
              <a:gd name="adj" fmla="val 2899"/>
            </a:avLst>
          </a:prstGeom>
          <a:solidFill xmlns:a="http://schemas.openxmlformats.org/drawingml/2006/main">
            <a:srgbClr val="FFFFFF"/>
          </a:solidFill>
          <a:ln xmlns:a="http://schemas.openxmlformats.org/drawingml/2006/main" w="9525">
            <a:solidFill>
              <a:srgbClr val="CBD7D3"/>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6cc860db4a3413a"/>
          <a:stretch xmlns:a="http://schemas.openxmlformats.org/drawingml/2006/main"/>
        </p:blipFill>
        <p:spPr>
          <a:xfrm xmlns:a="http://schemas.openxmlformats.org/drawingml/2006/main">
            <a:off x="833171" y="1924050"/>
            <a:ext cx="6410858" cy="3714750"/>
          </a:xfrm>
          <a:prstGeom xmlns:a="http://schemas.openxmlformats.org/drawingml/2006/main" prst="roundRect">
            <a:avLst>
              <a:gd name="adj" fmla="val 2051"/>
            </a:avLst>
          </a:prstGeom>
        </p:spPr>
      </p:pic>
      <p:sp>
        <p:nvSpPr>
          <p:cNvPr id="5" name="">
            <a:extLst xmlns:a="http://schemas.openxmlformats.org/drawingml/2006/main">
              <a:ext uri="{FF2B5EF4-FFF2-40B4-BE49-F238E27FC236}">
                <a16:creationId xmlns:a16="http://schemas.microsoft.com/office/drawing/2014/main" id="{35D0CA48-5C26-4A0A-AC3D-4168BD681ED4}"/>
              </a:ext>
            </a:extLst>
          </p:cNvPr>
          <p:cNvSpPr>
            <a:spLocks xmlns:a="http://schemas.openxmlformats.org/drawingml/2006/main" noGrp="1"/>
          </p:cNvSpPr>
          <p:nvPr/>
        </p:nvSpPr>
        <p:spPr>
          <a:xfrm xmlns:a="http://schemas.openxmlformats.org/drawingml/2006/main">
            <a:off x="7848600" y="18573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C99A5B"/>
                </a:solidFill>
                <a:latin typeface="Aptos"/>
                <a:ea typeface="Aptos"/>
                <a:cs typeface="Aptos"/>
              </a:defRPr>
            </a:pPr>
            <a:r>
              <a:rPr sz="975" b="1">
                <a:solidFill>
                  <a:srgbClr val="C99A5B"/>
                </a:solidFill>
                <a:latin typeface="Aptos"/>
                <a:ea typeface="Aptos"/>
                <a:cs typeface="Aptos"/>
              </a:rPr>
              <a:t>ACCESO POR ROL</a:t>
            </a:r>
          </a:p>
        </p:txBody>
      </p:sp>
      <p:sp>
        <p:nvSpPr>
          <p:cNvPr id="6" name="">
            <a:extLst xmlns:a="http://schemas.openxmlformats.org/drawingml/2006/main">
              <a:ext uri="{FF2B5EF4-FFF2-40B4-BE49-F238E27FC236}">
                <a16:creationId xmlns:a16="http://schemas.microsoft.com/office/drawing/2014/main" id="{D8248D01-0A27-4303-ADC0-C7BEB0821C35}"/>
              </a:ext>
            </a:extLst>
          </p:cNvPr>
          <p:cNvSpPr>
            <a:spLocks xmlns:a="http://schemas.openxmlformats.org/drawingml/2006/main" noGrp="1"/>
          </p:cNvSpPr>
          <p:nvPr/>
        </p:nvSpPr>
        <p:spPr>
          <a:xfrm xmlns:a="http://schemas.openxmlformats.org/drawingml/2006/main">
            <a:off x="7848600" y="22479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23B3A"/>
                </a:solidFill>
                <a:latin typeface="Aptos"/>
                <a:ea typeface="Aptos"/>
                <a:cs typeface="Aptos"/>
              </a:defRPr>
            </a:pPr>
            <a:r>
              <a:rPr sz="1650" b="1">
                <a:solidFill>
                  <a:srgbClr val="123B3A"/>
                </a:solidFill>
                <a:latin typeface="Aptos"/>
                <a:ea typeface="Aptos"/>
                <a:cs typeface="Aptos"/>
              </a:rPr>
              <a:t>Recepcionista</a:t>
            </a:r>
          </a:p>
        </p:txBody>
      </p:sp>
      <p:sp>
        <p:nvSpPr>
          <p:cNvPr id="7" name="">
            <a:extLst xmlns:a="http://schemas.openxmlformats.org/drawingml/2006/main">
              <a:ext uri="{FF2B5EF4-FFF2-40B4-BE49-F238E27FC236}">
                <a16:creationId xmlns:a16="http://schemas.microsoft.com/office/drawing/2014/main" id="{CEA4C349-6DFC-4D37-AFE4-BAE6B88E9F67}"/>
              </a:ext>
            </a:extLst>
          </p:cNvPr>
          <p:cNvSpPr>
            <a:spLocks xmlns:a="http://schemas.openxmlformats.org/drawingml/2006/main" noGrp="1"/>
          </p:cNvSpPr>
          <p:nvPr/>
        </p:nvSpPr>
        <p:spPr>
          <a:xfrm xmlns:a="http://schemas.openxmlformats.org/drawingml/2006/main">
            <a:off x="7848600" y="2619375"/>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5A6866"/>
                </a:solidFill>
                <a:latin typeface="Aptos"/>
                <a:ea typeface="Aptos"/>
                <a:cs typeface="Aptos"/>
              </a:defRPr>
            </a:pPr>
            <a:r>
              <a:rPr sz="1275">
                <a:solidFill>
                  <a:srgbClr val="5A6866"/>
                </a:solidFill>
                <a:latin typeface="Aptos"/>
                <a:ea typeface="Aptos"/>
                <a:cs typeface="Aptos"/>
              </a:rPr>
              <a:t>Huéspedes · reservas · check-in/out · pagos</a:t>
            </a:r>
          </a:p>
        </p:txBody>
      </p:sp>
      <p:sp>
        <p:nvSpPr>
          <p:cNvPr id="8" name="">
            <a:extLst xmlns:a="http://schemas.openxmlformats.org/drawingml/2006/main">
              <a:ext uri="{FF2B5EF4-FFF2-40B4-BE49-F238E27FC236}">
                <a16:creationId xmlns:a16="http://schemas.microsoft.com/office/drawing/2014/main" id="{11E2656A-6741-4A06-9A0B-945A56EF988D}"/>
              </a:ext>
            </a:extLst>
          </p:cNvPr>
          <p:cNvSpPr>
            <a:spLocks xmlns:a="http://schemas.openxmlformats.org/drawingml/2006/main" noGrp="1"/>
          </p:cNvSpPr>
          <p:nvPr/>
        </p:nvSpPr>
        <p:spPr>
          <a:xfrm xmlns:a="http://schemas.openxmlformats.org/drawingml/2006/main">
            <a:off x="7848600" y="3219450"/>
            <a:ext cx="3276600" cy="0"/>
          </a:xfrm>
          <a:prstGeom xmlns:a="http://schemas.openxmlformats.org/drawingml/2006/main" prst="line">
            <a:avLst/>
          </a:prstGeom>
          <a:noFill xmlns:a="http://schemas.openxmlformats.org/drawingml/2006/main"/>
          <a:ln xmlns:a="http://schemas.openxmlformats.org/drawingml/2006/main" w="9525">
            <a:solidFill>
              <a:srgbClr val="CBD7D3"/>
            </a:solidFill>
            <a:prstDash val="solid"/>
          </a:ln>
        </p:spPr>
      </p:sp>
      <p:sp>
        <p:nvSpPr>
          <p:cNvPr id="9" name="">
            <a:extLst xmlns:a="http://schemas.openxmlformats.org/drawingml/2006/main">
              <a:ext uri="{FF2B5EF4-FFF2-40B4-BE49-F238E27FC236}">
                <a16:creationId xmlns:a16="http://schemas.microsoft.com/office/drawing/2014/main" id="{D523FD11-143C-4B18-AC9B-6058869D08D1}"/>
              </a:ext>
            </a:extLst>
          </p:cNvPr>
          <p:cNvSpPr>
            <a:spLocks xmlns:a="http://schemas.openxmlformats.org/drawingml/2006/main" noGrp="1"/>
          </p:cNvSpPr>
          <p:nvPr/>
        </p:nvSpPr>
        <p:spPr>
          <a:xfrm xmlns:a="http://schemas.openxmlformats.org/drawingml/2006/main">
            <a:off x="7848600" y="347662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23B3A"/>
                </a:solidFill>
                <a:latin typeface="Aptos"/>
                <a:ea typeface="Aptos"/>
                <a:cs typeface="Aptos"/>
              </a:defRPr>
            </a:pPr>
            <a:r>
              <a:rPr sz="1650" b="1">
                <a:solidFill>
                  <a:srgbClr val="123B3A"/>
                </a:solidFill>
                <a:latin typeface="Aptos"/>
                <a:ea typeface="Aptos"/>
                <a:cs typeface="Aptos"/>
              </a:rPr>
              <a:t>Administrador</a:t>
            </a:r>
          </a:p>
        </p:txBody>
      </p:sp>
      <p:sp>
        <p:nvSpPr>
          <p:cNvPr id="10" name="">
            <a:extLst xmlns:a="http://schemas.openxmlformats.org/drawingml/2006/main">
              <a:ext uri="{FF2B5EF4-FFF2-40B4-BE49-F238E27FC236}">
                <a16:creationId xmlns:a16="http://schemas.microsoft.com/office/drawing/2014/main" id="{20B67A2D-7425-43D3-912F-6479730A3CDB}"/>
              </a:ext>
            </a:extLst>
          </p:cNvPr>
          <p:cNvSpPr>
            <a:spLocks xmlns:a="http://schemas.openxmlformats.org/drawingml/2006/main" noGrp="1"/>
          </p:cNvSpPr>
          <p:nvPr/>
        </p:nvSpPr>
        <p:spPr>
          <a:xfrm xmlns:a="http://schemas.openxmlformats.org/drawingml/2006/main">
            <a:off x="7848600" y="384810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5A6866"/>
                </a:solidFill>
                <a:latin typeface="Aptos"/>
                <a:ea typeface="Aptos"/>
                <a:cs typeface="Aptos"/>
              </a:defRPr>
            </a:pPr>
            <a:r>
              <a:rPr sz="1275">
                <a:solidFill>
                  <a:srgbClr val="5A6866"/>
                </a:solidFill>
                <a:latin typeface="Aptos"/>
                <a:ea typeface="Aptos"/>
                <a:cs typeface="Aptos"/>
              </a:rPr>
              <a:t>Todo lo anterior + habitaciones + reportes</a:t>
            </a:r>
          </a:p>
        </p:txBody>
      </p:sp>
      <p:sp>
        <p:nvSpPr>
          <p:cNvPr id="11" name="">
            <a:extLst xmlns:a="http://schemas.openxmlformats.org/drawingml/2006/main">
              <a:ext uri="{FF2B5EF4-FFF2-40B4-BE49-F238E27FC236}">
                <a16:creationId xmlns:a16="http://schemas.microsoft.com/office/drawing/2014/main" id="{4B4FBEB7-9218-440F-82D5-9FD37149F70C}"/>
              </a:ext>
            </a:extLst>
          </p:cNvPr>
          <p:cNvSpPr>
            <a:spLocks xmlns:a="http://schemas.openxmlformats.org/drawingml/2006/main" noGrp="1"/>
          </p:cNvSpPr>
          <p:nvPr/>
        </p:nvSpPr>
        <p:spPr>
          <a:xfrm xmlns:a="http://schemas.openxmlformats.org/drawingml/2006/main">
            <a:off x="7848600" y="4648200"/>
            <a:ext cx="3276600" cy="1104900"/>
          </a:xfrm>
          <a:prstGeom xmlns:a="http://schemas.openxmlformats.org/drawingml/2006/main" prst="roundRect">
            <a:avLst>
              <a:gd name="adj" fmla="val 10345"/>
            </a:avLst>
          </a:prstGeom>
          <a:solidFill xmlns:a="http://schemas.openxmlformats.org/drawingml/2006/main">
            <a:srgbClr val="123B3A"/>
          </a:solidFill>
          <a:ln xmlns:a="http://schemas.openxmlformats.org/drawingml/2006/main" w="0">
            <a:solidFill>
              <a:srgbClr val="123B3A"/>
            </a:solidFill>
            <a:prstDash val="solid"/>
          </a:ln>
        </p:spPr>
      </p:sp>
      <p:sp>
        <p:nvSpPr>
          <p:cNvPr id="12" name="">
            <a:extLst xmlns:a="http://schemas.openxmlformats.org/drawingml/2006/main">
              <a:ext uri="{FF2B5EF4-FFF2-40B4-BE49-F238E27FC236}">
                <a16:creationId xmlns:a16="http://schemas.microsoft.com/office/drawing/2014/main" id="{6F082069-D55A-4E83-96F8-FB521F8312FB}"/>
              </a:ext>
            </a:extLst>
          </p:cNvPr>
          <p:cNvSpPr>
            <a:spLocks xmlns:a="http://schemas.openxmlformats.org/drawingml/2006/main" noGrp="1"/>
          </p:cNvSpPr>
          <p:nvPr/>
        </p:nvSpPr>
        <p:spPr>
          <a:xfrm xmlns:a="http://schemas.openxmlformats.org/drawingml/2006/main">
            <a:off x="8058150" y="482917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E9D8BC"/>
                </a:solidFill>
                <a:latin typeface="Aptos"/>
                <a:ea typeface="Aptos"/>
                <a:cs typeface="Aptos"/>
              </a:defRPr>
            </a:pPr>
            <a:r>
              <a:rPr sz="1275" b="1">
                <a:solidFill>
                  <a:srgbClr val="E9D8BC"/>
                </a:solidFill>
                <a:latin typeface="Aptos"/>
                <a:ea typeface="Aptos"/>
                <a:cs typeface="Aptos"/>
              </a:rPr>
              <a:t>Reglas críticas</a:t>
            </a:r>
          </a:p>
        </p:txBody>
      </p:sp>
      <p:sp>
        <p:nvSpPr>
          <p:cNvPr id="13" name="">
            <a:extLst xmlns:a="http://schemas.openxmlformats.org/drawingml/2006/main">
              <a:ext uri="{FF2B5EF4-FFF2-40B4-BE49-F238E27FC236}">
                <a16:creationId xmlns:a16="http://schemas.microsoft.com/office/drawing/2014/main" id="{96830FDB-C8D9-4E75-9744-EE12904F399B}"/>
              </a:ext>
            </a:extLst>
          </p:cNvPr>
          <p:cNvSpPr>
            <a:spLocks xmlns:a="http://schemas.openxmlformats.org/drawingml/2006/main" noGrp="1"/>
          </p:cNvSpPr>
          <p:nvPr/>
        </p:nvSpPr>
        <p:spPr>
          <a:xfrm xmlns:a="http://schemas.openxmlformats.org/drawingml/2006/main">
            <a:off x="8058150" y="5153025"/>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150"/>
          </a:bodyPr>
          <a:lstStyle xmlns:a="http://schemas.openxmlformats.org/drawingml/2006/main"/>
          <a:p xmlns:a="http://schemas.openxmlformats.org/drawingml/2006/main">
            <a:pPr algn="l">
              <a:defRPr sz="1163">
                <a:solidFill>
                  <a:srgbClr val="FFFFFF"/>
                </a:solidFill>
                <a:latin typeface="Aptos"/>
                <a:ea typeface="Aptos"/>
                <a:cs typeface="Aptos"/>
              </a:defRPr>
            </a:pPr>
            <a:r>
              <a:rPr sz="1163">
                <a:solidFill>
                  <a:srgbClr val="FFFFFF"/>
                </a:solidFill>
                <a:latin typeface="Aptos"/>
                <a:ea typeface="Aptos"/>
                <a:cs typeface="Aptos"/>
              </a:rPr>
              <a:t>• No pagar más que el saldo</a:t>
            </a:r>
          </a:p>
          <a:p xmlns:a="http://schemas.openxmlformats.org/drawingml/2006/main">
            <a:pPr algn="l">
              <a:defRPr sz="1163">
                <a:solidFill>
                  <a:srgbClr val="FFFFFF"/>
                </a:solidFill>
                <a:latin typeface="Aptos"/>
                <a:ea typeface="Aptos"/>
                <a:cs typeface="Aptos"/>
              </a:defRPr>
            </a:pPr>
            <a:r>
              <a:rPr sz="1163">
                <a:solidFill>
                  <a:srgbClr val="FFFFFF"/>
                </a:solidFill>
                <a:latin typeface="Aptos"/>
                <a:ea typeface="Aptos"/>
                <a:cs typeface="Aptos"/>
              </a:rPr>
              <a:t>• Saldo en cero antes del check-out</a:t>
            </a:r>
          </a:p>
          <a:p xmlns:a="http://schemas.openxmlformats.org/drawingml/2006/main">
            <a:pPr algn="l">
              <a:defRPr sz="1163">
                <a:solidFill>
                  <a:srgbClr val="FFFFFF"/>
                </a:solidFill>
                <a:latin typeface="Aptos"/>
                <a:ea typeface="Aptos"/>
                <a:cs typeface="Aptos"/>
              </a:defRPr>
            </a:pPr>
            <a:r>
              <a:rPr sz="1163">
                <a:solidFill>
                  <a:srgbClr val="FFFFFF"/>
                </a:solidFill>
                <a:latin typeface="Aptos"/>
                <a:ea typeface="Aptos"/>
                <a:cs typeface="Aptos"/>
              </a:rPr>
              <a:t>• AntiForgeryToken en formularios POST</a:t>
            </a:r>
          </a:p>
        </p:txBody>
      </p:sp>
    </p:spTree>
    <p:extLst>
      <p:ext uri="{BB962C8B-B14F-4D97-AF65-F5344CB8AC3E}">
        <p14:creationId xmlns:p14="http://schemas.microsoft.com/office/powerpoint/2010/main" val="578482572"/>
      </p:ext>
    </p:extLst>
  </p:cSld>
</p:sld>
</file>

<file path=ppt/slides/slide1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1915539-88A1-4663-841F-DF23914EDD22}"/>
              </a:ext>
            </a:extLst>
          </p:cNvPr>
          <p:cNvSpPr>
            <a:spLocks xmlns:a="http://schemas.openxmlformats.org/drawingml/2006/main" noGrp="1"/>
          </p:cNvSpPr>
          <p:nvPr/>
        </p:nvSpPr>
        <p:spPr>
          <a:xfrm xmlns:a="http://schemas.openxmlformats.org/drawingml/2006/main">
            <a:off x="685800" y="6477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550" b="1">
                <a:solidFill>
                  <a:srgbClr val="123B3A"/>
                </a:solidFill>
                <a:latin typeface="Aptos"/>
                <a:ea typeface="Aptos"/>
                <a:cs typeface="Aptos"/>
              </a:defRPr>
            </a:pPr>
            <a:r>
              <a:rPr sz="2550" b="1">
                <a:solidFill>
                  <a:srgbClr val="123B3A"/>
                </a:solidFill>
                <a:latin typeface="Aptos"/>
                <a:ea typeface="Aptos"/>
                <a:cs typeface="Aptos"/>
              </a:rPr>
              <a:t>La demostración recorre un caso completo y verificable</a:t>
            </a:r>
          </a:p>
        </p:txBody>
      </p:sp>
      <p:sp>
        <p:nvSpPr>
          <p:cNvPr id="2" name="">
            <a:extLst xmlns:a="http://schemas.openxmlformats.org/drawingml/2006/main">
              <a:ext uri="{FF2B5EF4-FFF2-40B4-BE49-F238E27FC236}">
                <a16:creationId xmlns:a16="http://schemas.microsoft.com/office/drawing/2014/main" id="{0521A576-3886-4509-9079-6FBBE918CC02}"/>
              </a:ext>
            </a:extLst>
          </p:cNvPr>
          <p:cNvSpPr>
            <a:spLocks xmlns:a="http://schemas.openxmlformats.org/drawingml/2006/main" noGrp="1"/>
          </p:cNvSpPr>
          <p:nvPr/>
        </p:nvSpPr>
        <p:spPr>
          <a:xfrm xmlns:a="http://schemas.openxmlformats.org/drawingml/2006/main">
            <a:off x="11106150" y="34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5A6866"/>
                </a:solidFill>
                <a:latin typeface="Aptos"/>
                <a:ea typeface="Aptos"/>
                <a:cs typeface="Aptos"/>
              </a:defRPr>
            </a:pPr>
            <a:r>
              <a:rPr sz="900" b="1">
                <a:solidFill>
                  <a:srgbClr val="5A6866"/>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3156F602-6BDC-4FE4-8FB6-56ED160B4A6A}"/>
              </a:ext>
            </a:extLst>
          </p:cNvPr>
          <p:cNvSpPr>
            <a:spLocks xmlns:a="http://schemas.openxmlformats.org/drawingml/2006/main" noGrp="1"/>
          </p:cNvSpPr>
          <p:nvPr/>
        </p:nvSpPr>
        <p:spPr>
          <a:xfrm xmlns:a="http://schemas.openxmlformats.org/drawingml/2006/main">
            <a:off x="685800" y="1809750"/>
            <a:ext cx="6572250" cy="3924300"/>
          </a:xfrm>
          <a:prstGeom xmlns:a="http://schemas.openxmlformats.org/drawingml/2006/main" prst="roundRect">
            <a:avLst>
              <a:gd name="adj" fmla="val 2913"/>
            </a:avLst>
          </a:prstGeom>
          <a:solidFill xmlns:a="http://schemas.openxmlformats.org/drawingml/2006/main">
            <a:srgbClr val="FFFFFF"/>
          </a:solidFill>
          <a:ln xmlns:a="http://schemas.openxmlformats.org/drawingml/2006/main" w="9525">
            <a:solidFill>
              <a:srgbClr val="CBD7D3"/>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68225a34b93411b"/>
          <a:stretch xmlns:a="http://schemas.openxmlformats.org/drawingml/2006/main"/>
        </p:blipFill>
        <p:spPr>
          <a:xfrm xmlns:a="http://schemas.openxmlformats.org/drawingml/2006/main">
            <a:off x="955757" y="1924050"/>
            <a:ext cx="6032336" cy="3695700"/>
          </a:xfrm>
          <a:prstGeom xmlns:a="http://schemas.openxmlformats.org/drawingml/2006/main" prst="roundRect">
            <a:avLst>
              <a:gd name="adj" fmla="val 2062"/>
            </a:avLst>
          </a:prstGeom>
        </p:spPr>
      </p:pic>
      <p:sp>
        <p:nvSpPr>
          <p:cNvPr id="5" name="">
            <a:extLst xmlns:a="http://schemas.openxmlformats.org/drawingml/2006/main">
              <a:ext uri="{FF2B5EF4-FFF2-40B4-BE49-F238E27FC236}">
                <a16:creationId xmlns:a16="http://schemas.microsoft.com/office/drawing/2014/main" id="{5551663F-E853-4D29-A00D-A388159C3C13}"/>
              </a:ext>
            </a:extLst>
          </p:cNvPr>
          <p:cNvSpPr>
            <a:spLocks xmlns:a="http://schemas.openxmlformats.org/drawingml/2006/main" noGrp="1"/>
          </p:cNvSpPr>
          <p:nvPr/>
        </p:nvSpPr>
        <p:spPr>
          <a:xfrm xmlns:a="http://schemas.openxmlformats.org/drawingml/2006/main">
            <a:off x="7734300" y="19050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C99A5B"/>
                </a:solidFill>
                <a:latin typeface="Aptos"/>
                <a:ea typeface="Aptos"/>
                <a:cs typeface="Aptos"/>
              </a:defRPr>
            </a:pPr>
            <a:r>
              <a:rPr sz="1350" b="1">
                <a:solidFill>
                  <a:srgbClr val="C99A5B"/>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E9747A22-3C14-4CB5-BC37-978A6A9EECDD}"/>
              </a:ext>
            </a:extLst>
          </p:cNvPr>
          <p:cNvSpPr>
            <a:spLocks xmlns:a="http://schemas.openxmlformats.org/drawingml/2006/main" noGrp="1"/>
          </p:cNvSpPr>
          <p:nvPr/>
        </p:nvSpPr>
        <p:spPr>
          <a:xfrm xmlns:a="http://schemas.openxmlformats.org/drawingml/2006/main">
            <a:off x="8458200" y="1876425"/>
            <a:ext cx="2543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123B3A"/>
                </a:solidFill>
                <a:latin typeface="Aptos"/>
                <a:ea typeface="Aptos"/>
                <a:cs typeface="Aptos"/>
              </a:defRPr>
            </a:pPr>
            <a:r>
              <a:rPr sz="1425" b="1">
                <a:solidFill>
                  <a:srgbClr val="123B3A"/>
                </a:solidFill>
                <a:latin typeface="Aptos"/>
                <a:ea typeface="Aptos"/>
                <a:cs typeface="Aptos"/>
              </a:rPr>
              <a:t>Iniciar sesión</a:t>
            </a:r>
          </a:p>
        </p:txBody>
      </p:sp>
      <p:sp>
        <p:nvSpPr>
          <p:cNvPr id="7" name="">
            <a:extLst xmlns:a="http://schemas.openxmlformats.org/drawingml/2006/main">
              <a:ext uri="{FF2B5EF4-FFF2-40B4-BE49-F238E27FC236}">
                <a16:creationId xmlns:a16="http://schemas.microsoft.com/office/drawing/2014/main" id="{90C348CD-1667-443A-822A-5CEACBDF3F1F}"/>
              </a:ext>
            </a:extLst>
          </p:cNvPr>
          <p:cNvSpPr>
            <a:spLocks xmlns:a="http://schemas.openxmlformats.org/drawingml/2006/main" noGrp="1"/>
          </p:cNvSpPr>
          <p:nvPr/>
        </p:nvSpPr>
        <p:spPr>
          <a:xfrm xmlns:a="http://schemas.openxmlformats.org/drawingml/2006/main">
            <a:off x="7734300" y="2333625"/>
            <a:ext cx="3333750" cy="0"/>
          </a:xfrm>
          <a:prstGeom xmlns:a="http://schemas.openxmlformats.org/drawingml/2006/main" prst="line">
            <a:avLst/>
          </a:prstGeom>
          <a:noFill xmlns:a="http://schemas.openxmlformats.org/drawingml/2006/main"/>
          <a:ln xmlns:a="http://schemas.openxmlformats.org/drawingml/2006/main" w="9525">
            <a:solidFill>
              <a:srgbClr val="CBD7D3"/>
            </a:solidFill>
            <a:prstDash val="solid"/>
          </a:ln>
        </p:spPr>
      </p:sp>
      <p:sp>
        <p:nvSpPr>
          <p:cNvPr id="8" name="">
            <a:extLst xmlns:a="http://schemas.openxmlformats.org/drawingml/2006/main">
              <a:ext uri="{FF2B5EF4-FFF2-40B4-BE49-F238E27FC236}">
                <a16:creationId xmlns:a16="http://schemas.microsoft.com/office/drawing/2014/main" id="{56F479A1-9BD7-4268-A48E-4A4A796715E0}"/>
              </a:ext>
            </a:extLst>
          </p:cNvPr>
          <p:cNvSpPr>
            <a:spLocks xmlns:a="http://schemas.openxmlformats.org/drawingml/2006/main" noGrp="1"/>
          </p:cNvSpPr>
          <p:nvPr/>
        </p:nvSpPr>
        <p:spPr>
          <a:xfrm xmlns:a="http://schemas.openxmlformats.org/drawingml/2006/main">
            <a:off x="7734300" y="25241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C99A5B"/>
                </a:solidFill>
                <a:latin typeface="Aptos"/>
                <a:ea typeface="Aptos"/>
                <a:cs typeface="Aptos"/>
              </a:defRPr>
            </a:pPr>
            <a:r>
              <a:rPr sz="1350" b="1">
                <a:solidFill>
                  <a:srgbClr val="C99A5B"/>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996C6D32-3289-4AAE-B82E-464E1031C2E0}"/>
              </a:ext>
            </a:extLst>
          </p:cNvPr>
          <p:cNvSpPr>
            <a:spLocks xmlns:a="http://schemas.openxmlformats.org/drawingml/2006/main" noGrp="1"/>
          </p:cNvSpPr>
          <p:nvPr/>
        </p:nvSpPr>
        <p:spPr>
          <a:xfrm xmlns:a="http://schemas.openxmlformats.org/drawingml/2006/main">
            <a:off x="8458200" y="2495550"/>
            <a:ext cx="2543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123B3A"/>
                </a:solidFill>
                <a:latin typeface="Aptos"/>
                <a:ea typeface="Aptos"/>
                <a:cs typeface="Aptos"/>
              </a:defRPr>
            </a:pPr>
            <a:r>
              <a:rPr sz="1425" b="1">
                <a:solidFill>
                  <a:srgbClr val="123B3A"/>
                </a:solidFill>
                <a:latin typeface="Aptos"/>
                <a:ea typeface="Aptos"/>
                <a:cs typeface="Aptos"/>
              </a:rPr>
              <a:t>Registrar huésped</a:t>
            </a:r>
          </a:p>
        </p:txBody>
      </p:sp>
      <p:sp>
        <p:nvSpPr>
          <p:cNvPr id="10" name="">
            <a:extLst xmlns:a="http://schemas.openxmlformats.org/drawingml/2006/main">
              <a:ext uri="{FF2B5EF4-FFF2-40B4-BE49-F238E27FC236}">
                <a16:creationId xmlns:a16="http://schemas.microsoft.com/office/drawing/2014/main" id="{07F5928B-B558-49E1-A238-AE847B736BBE}"/>
              </a:ext>
            </a:extLst>
          </p:cNvPr>
          <p:cNvSpPr>
            <a:spLocks xmlns:a="http://schemas.openxmlformats.org/drawingml/2006/main" noGrp="1"/>
          </p:cNvSpPr>
          <p:nvPr/>
        </p:nvSpPr>
        <p:spPr>
          <a:xfrm xmlns:a="http://schemas.openxmlformats.org/drawingml/2006/main">
            <a:off x="7734300" y="2952750"/>
            <a:ext cx="3333750" cy="0"/>
          </a:xfrm>
          <a:prstGeom xmlns:a="http://schemas.openxmlformats.org/drawingml/2006/main" prst="line">
            <a:avLst/>
          </a:prstGeom>
          <a:noFill xmlns:a="http://schemas.openxmlformats.org/drawingml/2006/main"/>
          <a:ln xmlns:a="http://schemas.openxmlformats.org/drawingml/2006/main" w="9525">
            <a:solidFill>
              <a:srgbClr val="CBD7D3"/>
            </a:solidFill>
            <a:prstDash val="solid"/>
          </a:ln>
        </p:spPr>
      </p:sp>
      <p:sp>
        <p:nvSpPr>
          <p:cNvPr id="11" name="">
            <a:extLst xmlns:a="http://schemas.openxmlformats.org/drawingml/2006/main">
              <a:ext uri="{FF2B5EF4-FFF2-40B4-BE49-F238E27FC236}">
                <a16:creationId xmlns:a16="http://schemas.microsoft.com/office/drawing/2014/main" id="{8F649355-3ED8-4363-81C0-E3696081170C}"/>
              </a:ext>
            </a:extLst>
          </p:cNvPr>
          <p:cNvSpPr>
            <a:spLocks xmlns:a="http://schemas.openxmlformats.org/drawingml/2006/main" noGrp="1"/>
          </p:cNvSpPr>
          <p:nvPr/>
        </p:nvSpPr>
        <p:spPr>
          <a:xfrm xmlns:a="http://schemas.openxmlformats.org/drawingml/2006/main">
            <a:off x="7734300" y="314325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C99A5B"/>
                </a:solidFill>
                <a:latin typeface="Aptos"/>
                <a:ea typeface="Aptos"/>
                <a:cs typeface="Aptos"/>
              </a:defRPr>
            </a:pPr>
            <a:r>
              <a:rPr sz="1350" b="1">
                <a:solidFill>
                  <a:srgbClr val="C99A5B"/>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D19A4F42-8EFB-46C8-AAF2-AC90CB296E2E}"/>
              </a:ext>
            </a:extLst>
          </p:cNvPr>
          <p:cNvSpPr>
            <a:spLocks xmlns:a="http://schemas.openxmlformats.org/drawingml/2006/main" noGrp="1"/>
          </p:cNvSpPr>
          <p:nvPr/>
        </p:nvSpPr>
        <p:spPr>
          <a:xfrm xmlns:a="http://schemas.openxmlformats.org/drawingml/2006/main">
            <a:off x="8458200" y="3114675"/>
            <a:ext cx="2543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123B3A"/>
                </a:solidFill>
                <a:latin typeface="Aptos"/>
                <a:ea typeface="Aptos"/>
                <a:cs typeface="Aptos"/>
              </a:defRPr>
            </a:pPr>
            <a:r>
              <a:rPr sz="1425" b="1">
                <a:solidFill>
                  <a:srgbClr val="123B3A"/>
                </a:solidFill>
                <a:latin typeface="Aptos"/>
                <a:ea typeface="Aptos"/>
                <a:cs typeface="Aptos"/>
              </a:rPr>
              <a:t>Consultar disponibilidad</a:t>
            </a:r>
          </a:p>
        </p:txBody>
      </p:sp>
      <p:sp>
        <p:nvSpPr>
          <p:cNvPr id="13" name="">
            <a:extLst xmlns:a="http://schemas.openxmlformats.org/drawingml/2006/main">
              <a:ext uri="{FF2B5EF4-FFF2-40B4-BE49-F238E27FC236}">
                <a16:creationId xmlns:a16="http://schemas.microsoft.com/office/drawing/2014/main" id="{9B6D1A97-8BAC-477D-A936-BAD72B7A44F9}"/>
              </a:ext>
            </a:extLst>
          </p:cNvPr>
          <p:cNvSpPr>
            <a:spLocks xmlns:a="http://schemas.openxmlformats.org/drawingml/2006/main" noGrp="1"/>
          </p:cNvSpPr>
          <p:nvPr/>
        </p:nvSpPr>
        <p:spPr>
          <a:xfrm xmlns:a="http://schemas.openxmlformats.org/drawingml/2006/main">
            <a:off x="7734300" y="3571875"/>
            <a:ext cx="3333750" cy="0"/>
          </a:xfrm>
          <a:prstGeom xmlns:a="http://schemas.openxmlformats.org/drawingml/2006/main" prst="line">
            <a:avLst/>
          </a:prstGeom>
          <a:noFill xmlns:a="http://schemas.openxmlformats.org/drawingml/2006/main"/>
          <a:ln xmlns:a="http://schemas.openxmlformats.org/drawingml/2006/main" w="9525">
            <a:solidFill>
              <a:srgbClr val="CBD7D3"/>
            </a:solidFill>
            <a:prstDash val="solid"/>
          </a:ln>
        </p:spPr>
      </p:sp>
      <p:sp>
        <p:nvSpPr>
          <p:cNvPr id="14" name="">
            <a:extLst xmlns:a="http://schemas.openxmlformats.org/drawingml/2006/main">
              <a:ext uri="{FF2B5EF4-FFF2-40B4-BE49-F238E27FC236}">
                <a16:creationId xmlns:a16="http://schemas.microsoft.com/office/drawing/2014/main" id="{49257221-F4F8-4E06-9126-25C3BCAC5A0A}"/>
              </a:ext>
            </a:extLst>
          </p:cNvPr>
          <p:cNvSpPr>
            <a:spLocks xmlns:a="http://schemas.openxmlformats.org/drawingml/2006/main" noGrp="1"/>
          </p:cNvSpPr>
          <p:nvPr/>
        </p:nvSpPr>
        <p:spPr>
          <a:xfrm xmlns:a="http://schemas.openxmlformats.org/drawingml/2006/main">
            <a:off x="7734300" y="37623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C99A5B"/>
                </a:solidFill>
                <a:latin typeface="Aptos"/>
                <a:ea typeface="Aptos"/>
                <a:cs typeface="Aptos"/>
              </a:defRPr>
            </a:pPr>
            <a:r>
              <a:rPr sz="1350" b="1">
                <a:solidFill>
                  <a:srgbClr val="C99A5B"/>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46D3187B-1490-42E3-AEF1-037C696A94FC}"/>
              </a:ext>
            </a:extLst>
          </p:cNvPr>
          <p:cNvSpPr>
            <a:spLocks xmlns:a="http://schemas.openxmlformats.org/drawingml/2006/main" noGrp="1"/>
          </p:cNvSpPr>
          <p:nvPr/>
        </p:nvSpPr>
        <p:spPr>
          <a:xfrm xmlns:a="http://schemas.openxmlformats.org/drawingml/2006/main">
            <a:off x="8458200" y="3733800"/>
            <a:ext cx="2543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123B3A"/>
                </a:solidFill>
                <a:latin typeface="Aptos"/>
                <a:ea typeface="Aptos"/>
                <a:cs typeface="Aptos"/>
              </a:defRPr>
            </a:pPr>
            <a:r>
              <a:rPr sz="1425" b="1">
                <a:solidFill>
                  <a:srgbClr val="123B3A"/>
                </a:solidFill>
                <a:latin typeface="Aptos"/>
                <a:ea typeface="Aptos"/>
                <a:cs typeface="Aptos"/>
              </a:rPr>
              <a:t>Confirmar reserva</a:t>
            </a:r>
          </a:p>
        </p:txBody>
      </p:sp>
      <p:sp>
        <p:nvSpPr>
          <p:cNvPr id="16" name="">
            <a:extLst xmlns:a="http://schemas.openxmlformats.org/drawingml/2006/main">
              <a:ext uri="{FF2B5EF4-FFF2-40B4-BE49-F238E27FC236}">
                <a16:creationId xmlns:a16="http://schemas.microsoft.com/office/drawing/2014/main" id="{A411BAB2-7362-418C-B2ED-EDB9A10FDC48}"/>
              </a:ext>
            </a:extLst>
          </p:cNvPr>
          <p:cNvSpPr>
            <a:spLocks xmlns:a="http://schemas.openxmlformats.org/drawingml/2006/main" noGrp="1"/>
          </p:cNvSpPr>
          <p:nvPr/>
        </p:nvSpPr>
        <p:spPr>
          <a:xfrm xmlns:a="http://schemas.openxmlformats.org/drawingml/2006/main">
            <a:off x="7734300" y="4191000"/>
            <a:ext cx="3333750" cy="0"/>
          </a:xfrm>
          <a:prstGeom xmlns:a="http://schemas.openxmlformats.org/drawingml/2006/main" prst="line">
            <a:avLst/>
          </a:prstGeom>
          <a:noFill xmlns:a="http://schemas.openxmlformats.org/drawingml/2006/main"/>
          <a:ln xmlns:a="http://schemas.openxmlformats.org/drawingml/2006/main" w="9525">
            <a:solidFill>
              <a:srgbClr val="CBD7D3"/>
            </a:solidFill>
            <a:prstDash val="solid"/>
          </a:ln>
        </p:spPr>
      </p:sp>
      <p:sp>
        <p:nvSpPr>
          <p:cNvPr id="17" name="">
            <a:extLst xmlns:a="http://schemas.openxmlformats.org/drawingml/2006/main">
              <a:ext uri="{FF2B5EF4-FFF2-40B4-BE49-F238E27FC236}">
                <a16:creationId xmlns:a16="http://schemas.microsoft.com/office/drawing/2014/main" id="{351E73E8-5319-4896-BD1C-1F46EFB87D24}"/>
              </a:ext>
            </a:extLst>
          </p:cNvPr>
          <p:cNvSpPr>
            <a:spLocks xmlns:a="http://schemas.openxmlformats.org/drawingml/2006/main" noGrp="1"/>
          </p:cNvSpPr>
          <p:nvPr/>
        </p:nvSpPr>
        <p:spPr>
          <a:xfrm xmlns:a="http://schemas.openxmlformats.org/drawingml/2006/main">
            <a:off x="7734300" y="43815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C99A5B"/>
                </a:solidFill>
                <a:latin typeface="Aptos"/>
                <a:ea typeface="Aptos"/>
                <a:cs typeface="Aptos"/>
              </a:defRPr>
            </a:pPr>
            <a:r>
              <a:rPr sz="1350" b="1">
                <a:solidFill>
                  <a:srgbClr val="C99A5B"/>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2AB04E89-B612-4476-A793-B0C1AD428831}"/>
              </a:ext>
            </a:extLst>
          </p:cNvPr>
          <p:cNvSpPr>
            <a:spLocks xmlns:a="http://schemas.openxmlformats.org/drawingml/2006/main" noGrp="1"/>
          </p:cNvSpPr>
          <p:nvPr/>
        </p:nvSpPr>
        <p:spPr>
          <a:xfrm xmlns:a="http://schemas.openxmlformats.org/drawingml/2006/main">
            <a:off x="8458200" y="4352925"/>
            <a:ext cx="2543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123B3A"/>
                </a:solidFill>
                <a:latin typeface="Aptos"/>
                <a:ea typeface="Aptos"/>
                <a:cs typeface="Aptos"/>
              </a:defRPr>
            </a:pPr>
            <a:r>
              <a:rPr sz="1425" b="1">
                <a:solidFill>
                  <a:srgbClr val="123B3A"/>
                </a:solidFill>
                <a:latin typeface="Aptos"/>
                <a:ea typeface="Aptos"/>
                <a:cs typeface="Aptos"/>
              </a:rPr>
              <a:t>Check-in y pago</a:t>
            </a:r>
          </a:p>
        </p:txBody>
      </p:sp>
      <p:sp>
        <p:nvSpPr>
          <p:cNvPr id="19" name="">
            <a:extLst xmlns:a="http://schemas.openxmlformats.org/drawingml/2006/main">
              <a:ext uri="{FF2B5EF4-FFF2-40B4-BE49-F238E27FC236}">
                <a16:creationId xmlns:a16="http://schemas.microsoft.com/office/drawing/2014/main" id="{2CBC54E7-6DC8-4246-B06B-FB388105615D}"/>
              </a:ext>
            </a:extLst>
          </p:cNvPr>
          <p:cNvSpPr>
            <a:spLocks xmlns:a="http://schemas.openxmlformats.org/drawingml/2006/main" noGrp="1"/>
          </p:cNvSpPr>
          <p:nvPr/>
        </p:nvSpPr>
        <p:spPr>
          <a:xfrm xmlns:a="http://schemas.openxmlformats.org/drawingml/2006/main">
            <a:off x="7734300" y="4810125"/>
            <a:ext cx="3333750" cy="0"/>
          </a:xfrm>
          <a:prstGeom xmlns:a="http://schemas.openxmlformats.org/drawingml/2006/main" prst="line">
            <a:avLst/>
          </a:prstGeom>
          <a:noFill xmlns:a="http://schemas.openxmlformats.org/drawingml/2006/main"/>
          <a:ln xmlns:a="http://schemas.openxmlformats.org/drawingml/2006/main" w="9525">
            <a:solidFill>
              <a:srgbClr val="CBD7D3"/>
            </a:solidFill>
            <a:prstDash val="solid"/>
          </a:ln>
        </p:spPr>
      </p:sp>
      <p:sp>
        <p:nvSpPr>
          <p:cNvPr id="20" name="">
            <a:extLst xmlns:a="http://schemas.openxmlformats.org/drawingml/2006/main">
              <a:ext uri="{FF2B5EF4-FFF2-40B4-BE49-F238E27FC236}">
                <a16:creationId xmlns:a16="http://schemas.microsoft.com/office/drawing/2014/main" id="{35CC031E-AE3D-436B-85E4-ADD61282D1B5}"/>
              </a:ext>
            </a:extLst>
          </p:cNvPr>
          <p:cNvSpPr>
            <a:spLocks xmlns:a="http://schemas.openxmlformats.org/drawingml/2006/main" noGrp="1"/>
          </p:cNvSpPr>
          <p:nvPr/>
        </p:nvSpPr>
        <p:spPr>
          <a:xfrm xmlns:a="http://schemas.openxmlformats.org/drawingml/2006/main">
            <a:off x="7734300" y="50006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C99A5B"/>
                </a:solidFill>
                <a:latin typeface="Aptos"/>
                <a:ea typeface="Aptos"/>
                <a:cs typeface="Aptos"/>
              </a:defRPr>
            </a:pPr>
            <a:r>
              <a:rPr sz="1350" b="1">
                <a:solidFill>
                  <a:srgbClr val="C99A5B"/>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2C20E19C-C3E5-4B30-86F9-78CA87D2A074}"/>
              </a:ext>
            </a:extLst>
          </p:cNvPr>
          <p:cNvSpPr>
            <a:spLocks xmlns:a="http://schemas.openxmlformats.org/drawingml/2006/main" noGrp="1"/>
          </p:cNvSpPr>
          <p:nvPr/>
        </p:nvSpPr>
        <p:spPr>
          <a:xfrm xmlns:a="http://schemas.openxmlformats.org/drawingml/2006/main">
            <a:off x="8458200" y="4972050"/>
            <a:ext cx="25431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123B3A"/>
                </a:solidFill>
                <a:latin typeface="Aptos"/>
                <a:ea typeface="Aptos"/>
                <a:cs typeface="Aptos"/>
              </a:defRPr>
            </a:pPr>
            <a:r>
              <a:rPr sz="1425" b="1">
                <a:solidFill>
                  <a:srgbClr val="123B3A"/>
                </a:solidFill>
                <a:latin typeface="Aptos"/>
                <a:ea typeface="Aptos"/>
                <a:cs typeface="Aptos"/>
              </a:rPr>
              <a:t>Check-out y reporte</a:t>
            </a:r>
          </a:p>
        </p:txBody>
      </p:sp>
      <p:sp>
        <p:nvSpPr>
          <p:cNvPr id="22" name="">
            <a:extLst xmlns:a="http://schemas.openxmlformats.org/drawingml/2006/main">
              <a:ext uri="{FF2B5EF4-FFF2-40B4-BE49-F238E27FC236}">
                <a16:creationId xmlns:a16="http://schemas.microsoft.com/office/drawing/2014/main" id="{92A8B4A7-0992-4798-9901-8BBB1B74F87A}"/>
              </a:ext>
            </a:extLst>
          </p:cNvPr>
          <p:cNvSpPr>
            <a:spLocks xmlns:a="http://schemas.openxmlformats.org/drawingml/2006/main" noGrp="1"/>
          </p:cNvSpPr>
          <p:nvPr/>
        </p:nvSpPr>
        <p:spPr>
          <a:xfrm xmlns:a="http://schemas.openxmlformats.org/drawingml/2006/main">
            <a:off x="7620000" y="5657850"/>
            <a:ext cx="3581400" cy="533400"/>
          </a:xfrm>
          <a:prstGeom xmlns:a="http://schemas.openxmlformats.org/drawingml/2006/main" prst="roundRect">
            <a:avLst>
              <a:gd name="adj" fmla="val 21429"/>
            </a:avLst>
          </a:prstGeom>
          <a:solidFill xmlns:a="http://schemas.openxmlformats.org/drawingml/2006/main">
            <a:srgbClr val="DDECE8"/>
          </a:solidFill>
          <a:ln xmlns:a="http://schemas.openxmlformats.org/drawingml/2006/main" w="0">
            <a:solidFill>
              <a:srgbClr val="DDECE8"/>
            </a:solidFill>
            <a:prstDash val="solid"/>
          </a:ln>
        </p:spPr>
      </p:sp>
      <p:sp>
        <p:nvSpPr>
          <p:cNvPr id="23" name="">
            <a:extLst xmlns:a="http://schemas.openxmlformats.org/drawingml/2006/main">
              <a:ext uri="{FF2B5EF4-FFF2-40B4-BE49-F238E27FC236}">
                <a16:creationId xmlns:a16="http://schemas.microsoft.com/office/drawing/2014/main" id="{13A5D5BF-B6D7-4FFE-AA22-95F0D833735E}"/>
              </a:ext>
            </a:extLst>
          </p:cNvPr>
          <p:cNvSpPr>
            <a:spLocks xmlns:a="http://schemas.openxmlformats.org/drawingml/2006/main" noGrp="1"/>
          </p:cNvSpPr>
          <p:nvPr/>
        </p:nvSpPr>
        <p:spPr>
          <a:xfrm xmlns:a="http://schemas.openxmlformats.org/drawingml/2006/main">
            <a:off x="7772400" y="5800725"/>
            <a:ext cx="3276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123B3A"/>
                </a:solidFill>
                <a:latin typeface="Aptos"/>
                <a:ea typeface="Aptos"/>
                <a:cs typeface="Aptos"/>
              </a:defRPr>
            </a:pPr>
            <a:r>
              <a:rPr sz="1275" b="1">
                <a:solidFill>
                  <a:srgbClr val="123B3A"/>
                </a:solidFill>
                <a:latin typeface="Aptos"/>
                <a:ea typeface="Aptos"/>
                <a:cs typeface="Aptos"/>
              </a:rPr>
              <a:t>13 escenarios de prueba documentados</a:t>
            </a:r>
          </a:p>
        </p:txBody>
      </p:sp>
    </p:spTree>
    <p:extLst>
      <p:ext uri="{BB962C8B-B14F-4D97-AF65-F5344CB8AC3E}">
        <p14:creationId xmlns:p14="http://schemas.microsoft.com/office/powerpoint/2010/main" val="649456164"/>
      </p:ext>
    </p:extLst>
  </p:cSld>
</p:sld>
</file>

<file path=ppt/slides/slide12.xml><?xml version="1.0" encoding="utf-8"?>
<p:sld xmlns:p="http://schemas.openxmlformats.org/presentationml/2006/main">
  <p:cSld>
    <p:bg>
      <p:bgPr>
        <a:solidFill xmlns:a="http://schemas.openxmlformats.org/drawingml/2006/main">
          <a:srgbClr val="123B3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E122C9D-7245-4B61-939F-73E531DA0D64}"/>
              </a:ext>
            </a:extLst>
          </p:cNvPr>
          <p:cNvSpPr>
            <a:spLocks xmlns:a="http://schemas.openxmlformats.org/drawingml/2006/main" noGrp="1"/>
          </p:cNvSpPr>
          <p:nvPr/>
        </p:nvSpPr>
        <p:spPr>
          <a:xfrm xmlns:a="http://schemas.openxmlformats.org/drawingml/2006/main">
            <a:off x="685800" y="647700"/>
            <a:ext cx="10820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625" b="1">
                <a:solidFill>
                  <a:srgbClr val="FFFFFF"/>
                </a:solidFill>
                <a:latin typeface="Aptos"/>
                <a:ea typeface="Aptos"/>
                <a:cs typeface="Aptos"/>
              </a:defRPr>
            </a:pPr>
            <a:r>
              <a:rPr sz="2625" b="1">
                <a:solidFill>
                  <a:srgbClr val="FFFFFF"/>
                </a:solidFill>
                <a:latin typeface="Aptos"/>
                <a:ea typeface="Aptos"/>
                <a:cs typeface="Aptos"/>
              </a:rPr>
              <a:t>El proyecto integra las tecnologías principales del curso</a:t>
            </a:r>
          </a:p>
        </p:txBody>
      </p:sp>
      <p:sp>
        <p:nvSpPr>
          <p:cNvPr id="2" name="">
            <a:extLst xmlns:a="http://schemas.openxmlformats.org/drawingml/2006/main">
              <a:ext uri="{FF2B5EF4-FFF2-40B4-BE49-F238E27FC236}">
                <a16:creationId xmlns:a16="http://schemas.microsoft.com/office/drawing/2014/main" id="{7109DE68-3349-4E25-A6F2-E21094754A78}"/>
              </a:ext>
            </a:extLst>
          </p:cNvPr>
          <p:cNvSpPr>
            <a:spLocks xmlns:a="http://schemas.openxmlformats.org/drawingml/2006/main" noGrp="1"/>
          </p:cNvSpPr>
          <p:nvPr/>
        </p:nvSpPr>
        <p:spPr>
          <a:xfrm xmlns:a="http://schemas.openxmlformats.org/drawingml/2006/main">
            <a:off x="11106150" y="3429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E9D8BC"/>
                </a:solidFill>
                <a:latin typeface="Aptos"/>
                <a:ea typeface="Aptos"/>
                <a:cs typeface="Aptos"/>
              </a:defRPr>
            </a:pPr>
            <a:r>
              <a:rPr sz="900" b="1">
                <a:solidFill>
                  <a:srgbClr val="E9D8BC"/>
                </a:solidFill>
                <a:latin typeface="Aptos"/>
                <a:ea typeface="Aptos"/>
                <a:cs typeface="Aptos"/>
              </a:rPr>
              <a:t>12</a:t>
            </a:r>
          </a:p>
        </p:txBody>
      </p:sp>
      <p:sp>
        <p:nvSpPr>
          <p:cNvPr id="3" name="">
            <a:extLst xmlns:a="http://schemas.openxmlformats.org/drawingml/2006/main">
              <a:ext uri="{FF2B5EF4-FFF2-40B4-BE49-F238E27FC236}">
                <a16:creationId xmlns:a16="http://schemas.microsoft.com/office/drawing/2014/main" id="{B81621AC-F3F5-46BF-A237-426DF1CD7065}"/>
              </a:ext>
            </a:extLst>
          </p:cNvPr>
          <p:cNvSpPr>
            <a:spLocks xmlns:a="http://schemas.openxmlformats.org/drawingml/2006/main" noGrp="1"/>
          </p:cNvSpPr>
          <p:nvPr/>
        </p:nvSpPr>
        <p:spPr>
          <a:xfrm xmlns:a="http://schemas.openxmlformats.org/drawingml/2006/main">
            <a:off x="685800" y="2047875"/>
            <a:ext cx="52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E9D8BC"/>
                </a:solidFill>
                <a:latin typeface="Aptos"/>
                <a:ea typeface="Aptos"/>
                <a:cs typeface="Aptos"/>
              </a:defRPr>
            </a:pPr>
            <a:r>
              <a:rPr sz="2025" b="1">
                <a:solidFill>
                  <a:srgbClr val="E9D8BC"/>
                </a:solidFill>
                <a:latin typeface="Aptos"/>
                <a:ea typeface="Aptos"/>
                <a:cs typeface="Aptos"/>
              </a:rPr>
              <a:t>01</a:t>
            </a:r>
          </a:p>
        </p:txBody>
      </p:sp>
      <p:sp>
        <p:nvSpPr>
          <p:cNvPr id="4" name="">
            <a:extLst xmlns:a="http://schemas.openxmlformats.org/drawingml/2006/main">
              <a:ext uri="{FF2B5EF4-FFF2-40B4-BE49-F238E27FC236}">
                <a16:creationId xmlns:a16="http://schemas.microsoft.com/office/drawing/2014/main" id="{24BB5F97-DA30-411C-B77A-FE0B782F64D3}"/>
              </a:ext>
            </a:extLst>
          </p:cNvPr>
          <p:cNvSpPr>
            <a:spLocks xmlns:a="http://schemas.openxmlformats.org/drawingml/2006/main" noGrp="1"/>
          </p:cNvSpPr>
          <p:nvPr/>
        </p:nvSpPr>
        <p:spPr>
          <a:xfrm xmlns:a="http://schemas.openxmlformats.org/drawingml/2006/main">
            <a:off x="685800" y="2619375"/>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Resuelve un flujo hotelero real</a:t>
            </a:r>
          </a:p>
        </p:txBody>
      </p:sp>
      <p:sp>
        <p:nvSpPr>
          <p:cNvPr id="5" name="">
            <a:extLst xmlns:a="http://schemas.openxmlformats.org/drawingml/2006/main">
              <a:ext uri="{FF2B5EF4-FFF2-40B4-BE49-F238E27FC236}">
                <a16:creationId xmlns:a16="http://schemas.microsoft.com/office/drawing/2014/main" id="{4BDDE36E-73AB-4579-8301-4354CF3BAA2E}"/>
              </a:ext>
            </a:extLst>
          </p:cNvPr>
          <p:cNvSpPr>
            <a:spLocks xmlns:a="http://schemas.openxmlformats.org/drawingml/2006/main" noGrp="1"/>
          </p:cNvSpPr>
          <p:nvPr/>
        </p:nvSpPr>
        <p:spPr>
          <a:xfrm xmlns:a="http://schemas.openxmlformats.org/drawingml/2006/main">
            <a:off x="685800" y="33909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DDECE8"/>
                </a:solidFill>
                <a:latin typeface="Aptos"/>
                <a:ea typeface="Aptos"/>
                <a:cs typeface="Aptos"/>
              </a:defRPr>
            </a:pPr>
            <a:r>
              <a:rPr sz="1350">
                <a:solidFill>
                  <a:srgbClr val="DDECE8"/>
                </a:solidFill>
                <a:latin typeface="Aptos"/>
                <a:ea typeface="Aptos"/>
                <a:cs typeface="Aptos"/>
              </a:rPr>
              <a:t>Desde la disponibilidad hasta la limpieza.</a:t>
            </a:r>
          </a:p>
        </p:txBody>
      </p:sp>
      <p:sp>
        <p:nvSpPr>
          <p:cNvPr id="6" name="">
            <a:extLst xmlns:a="http://schemas.openxmlformats.org/drawingml/2006/main">
              <a:ext uri="{FF2B5EF4-FFF2-40B4-BE49-F238E27FC236}">
                <a16:creationId xmlns:a16="http://schemas.microsoft.com/office/drawing/2014/main" id="{6C96FEEF-58FC-4048-BCC0-509DCF57F9F5}"/>
              </a:ext>
            </a:extLst>
          </p:cNvPr>
          <p:cNvSpPr>
            <a:spLocks xmlns:a="http://schemas.openxmlformats.org/drawingml/2006/main" noGrp="1"/>
          </p:cNvSpPr>
          <p:nvPr/>
        </p:nvSpPr>
        <p:spPr>
          <a:xfrm xmlns:a="http://schemas.openxmlformats.org/drawingml/2006/main">
            <a:off x="4305300" y="2047875"/>
            <a:ext cx="52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E9D8BC"/>
                </a:solidFill>
                <a:latin typeface="Aptos"/>
                <a:ea typeface="Aptos"/>
                <a:cs typeface="Aptos"/>
              </a:defRPr>
            </a:pPr>
            <a:r>
              <a:rPr sz="2025" b="1">
                <a:solidFill>
                  <a:srgbClr val="E9D8BC"/>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8420FC64-839C-4B38-B4A4-3667406FA32B}"/>
              </a:ext>
            </a:extLst>
          </p:cNvPr>
          <p:cNvSpPr>
            <a:spLocks xmlns:a="http://schemas.openxmlformats.org/drawingml/2006/main" noGrp="1"/>
          </p:cNvSpPr>
          <p:nvPr/>
        </p:nvSpPr>
        <p:spPr>
          <a:xfrm xmlns:a="http://schemas.openxmlformats.org/drawingml/2006/main">
            <a:off x="4305300" y="2619375"/>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Aplica MVC de forma completa</a:t>
            </a:r>
          </a:p>
        </p:txBody>
      </p:sp>
      <p:sp>
        <p:nvSpPr>
          <p:cNvPr id="8" name="">
            <a:extLst xmlns:a="http://schemas.openxmlformats.org/drawingml/2006/main">
              <a:ext uri="{FF2B5EF4-FFF2-40B4-BE49-F238E27FC236}">
                <a16:creationId xmlns:a16="http://schemas.microsoft.com/office/drawing/2014/main" id="{5BC2F9CB-2834-4573-ADF2-20CAF15C3906}"/>
              </a:ext>
            </a:extLst>
          </p:cNvPr>
          <p:cNvSpPr>
            <a:spLocks xmlns:a="http://schemas.openxmlformats.org/drawingml/2006/main" noGrp="1"/>
          </p:cNvSpPr>
          <p:nvPr/>
        </p:nvSpPr>
        <p:spPr>
          <a:xfrm xmlns:a="http://schemas.openxmlformats.org/drawingml/2006/main">
            <a:off x="4305300" y="33909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DDECE8"/>
                </a:solidFill>
                <a:latin typeface="Aptos"/>
                <a:ea typeface="Aptos"/>
                <a:cs typeface="Aptos"/>
              </a:defRPr>
            </a:pPr>
            <a:r>
              <a:rPr sz="1350">
                <a:solidFill>
                  <a:srgbClr val="DDECE8"/>
                </a:solidFill>
                <a:latin typeface="Aptos"/>
                <a:ea typeface="Aptos"/>
                <a:cs typeface="Aptos"/>
              </a:rPr>
              <a:t>Modelo, Razor, controladores y rutas.</a:t>
            </a:r>
          </a:p>
        </p:txBody>
      </p:sp>
      <p:sp>
        <p:nvSpPr>
          <p:cNvPr id="9" name="">
            <a:extLst xmlns:a="http://schemas.openxmlformats.org/drawingml/2006/main">
              <a:ext uri="{FF2B5EF4-FFF2-40B4-BE49-F238E27FC236}">
                <a16:creationId xmlns:a16="http://schemas.microsoft.com/office/drawing/2014/main" id="{47AEDA4A-A68D-4ACA-9965-DAD0FE9B1669}"/>
              </a:ext>
            </a:extLst>
          </p:cNvPr>
          <p:cNvSpPr>
            <a:spLocks xmlns:a="http://schemas.openxmlformats.org/drawingml/2006/main" noGrp="1"/>
          </p:cNvSpPr>
          <p:nvPr/>
        </p:nvSpPr>
        <p:spPr>
          <a:xfrm xmlns:a="http://schemas.openxmlformats.org/drawingml/2006/main">
            <a:off x="7924800" y="2047875"/>
            <a:ext cx="52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E9D8BC"/>
                </a:solidFill>
                <a:latin typeface="Aptos"/>
                <a:ea typeface="Aptos"/>
                <a:cs typeface="Aptos"/>
              </a:defRPr>
            </a:pPr>
            <a:r>
              <a:rPr sz="2025" b="1">
                <a:solidFill>
                  <a:srgbClr val="E9D8BC"/>
                </a:solidFill>
                <a:latin typeface="Aptos"/>
                <a:ea typeface="Aptos"/>
                <a:cs typeface="Aptos"/>
              </a:rPr>
              <a:t>03</a:t>
            </a:r>
          </a:p>
        </p:txBody>
      </p:sp>
      <p:sp>
        <p:nvSpPr>
          <p:cNvPr id="10" name="">
            <a:extLst xmlns:a="http://schemas.openxmlformats.org/drawingml/2006/main">
              <a:ext uri="{FF2B5EF4-FFF2-40B4-BE49-F238E27FC236}">
                <a16:creationId xmlns:a16="http://schemas.microsoft.com/office/drawing/2014/main" id="{A9ED3F15-6C7D-47FB-B8A6-7F190C7AB6A1}"/>
              </a:ext>
            </a:extLst>
          </p:cNvPr>
          <p:cNvSpPr>
            <a:spLocks xmlns:a="http://schemas.openxmlformats.org/drawingml/2006/main" noGrp="1"/>
          </p:cNvSpPr>
          <p:nvPr/>
        </p:nvSpPr>
        <p:spPr>
          <a:xfrm xmlns:a="http://schemas.openxmlformats.org/drawingml/2006/main">
            <a:off x="7924800" y="2619375"/>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Protege los datos de negocio</a:t>
            </a:r>
          </a:p>
        </p:txBody>
      </p:sp>
      <p:sp>
        <p:nvSpPr>
          <p:cNvPr id="11" name="">
            <a:extLst xmlns:a="http://schemas.openxmlformats.org/drawingml/2006/main">
              <a:ext uri="{FF2B5EF4-FFF2-40B4-BE49-F238E27FC236}">
                <a16:creationId xmlns:a16="http://schemas.microsoft.com/office/drawing/2014/main" id="{F2B3576F-BD79-4804-B6E4-55970482033E}"/>
              </a:ext>
            </a:extLst>
          </p:cNvPr>
          <p:cNvSpPr>
            <a:spLocks xmlns:a="http://schemas.openxmlformats.org/drawingml/2006/main" noGrp="1"/>
          </p:cNvSpPr>
          <p:nvPr/>
        </p:nvSpPr>
        <p:spPr>
          <a:xfrm xmlns:a="http://schemas.openxmlformats.org/drawingml/2006/main">
            <a:off x="7924800" y="339090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DDECE8"/>
                </a:solidFill>
                <a:latin typeface="Aptos"/>
                <a:ea typeface="Aptos"/>
                <a:cs typeface="Aptos"/>
              </a:defRPr>
            </a:pPr>
            <a:r>
              <a:rPr sz="1350">
                <a:solidFill>
                  <a:srgbClr val="DDECE8"/>
                </a:solidFill>
                <a:latin typeface="Aptos"/>
                <a:ea typeface="Aptos"/>
                <a:cs typeface="Aptos"/>
              </a:rPr>
              <a:t>Roles, validaciones, SP y transacciones.</a:t>
            </a:r>
          </a:p>
        </p:txBody>
      </p:sp>
      <p:sp>
        <p:nvSpPr>
          <p:cNvPr id="12" name="">
            <a:extLst xmlns:a="http://schemas.openxmlformats.org/drawingml/2006/main">
              <a:ext uri="{FF2B5EF4-FFF2-40B4-BE49-F238E27FC236}">
                <a16:creationId xmlns:a16="http://schemas.microsoft.com/office/drawing/2014/main" id="{46EAD056-C3DA-4C14-BD5D-CF894418F9C2}"/>
              </a:ext>
            </a:extLst>
          </p:cNvPr>
          <p:cNvSpPr>
            <a:spLocks xmlns:a="http://schemas.openxmlformats.org/drawingml/2006/main" noGrp="1"/>
          </p:cNvSpPr>
          <p:nvPr/>
        </p:nvSpPr>
        <p:spPr>
          <a:xfrm xmlns:a="http://schemas.openxmlformats.org/drawingml/2006/main">
            <a:off x="685800" y="4381500"/>
            <a:ext cx="10820400" cy="0"/>
          </a:xfrm>
          <a:prstGeom xmlns:a="http://schemas.openxmlformats.org/drawingml/2006/main" prst="line">
            <a:avLst/>
          </a:prstGeom>
          <a:noFill xmlns:a="http://schemas.openxmlformats.org/drawingml/2006/main"/>
          <a:ln xmlns:a="http://schemas.openxmlformats.org/drawingml/2006/main" w="9525">
            <a:solidFill>
              <a:srgbClr val="3B6663"/>
            </a:solidFill>
            <a:prstDash val="solid"/>
          </a:ln>
        </p:spPr>
      </p:sp>
      <p:sp>
        <p:nvSpPr>
          <p:cNvPr id="13" name="">
            <a:extLst xmlns:a="http://schemas.openxmlformats.org/drawingml/2006/main">
              <a:ext uri="{FF2B5EF4-FFF2-40B4-BE49-F238E27FC236}">
                <a16:creationId xmlns:a16="http://schemas.microsoft.com/office/drawing/2014/main" id="{ACE2DAEA-8D73-4EE7-B10C-0DBFE4FE3E4E}"/>
              </a:ext>
            </a:extLst>
          </p:cNvPr>
          <p:cNvSpPr>
            <a:spLocks xmlns:a="http://schemas.openxmlformats.org/drawingml/2006/main" noGrp="1"/>
          </p:cNvSpPr>
          <p:nvPr/>
        </p:nvSpPr>
        <p:spPr>
          <a:xfrm xmlns:a="http://schemas.openxmlformats.org/drawingml/2006/main">
            <a:off x="685800" y="4714875"/>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9D8BC"/>
                </a:solidFill>
                <a:latin typeface="Aptos"/>
                <a:ea typeface="Aptos"/>
                <a:cs typeface="Aptos"/>
              </a:defRPr>
            </a:pPr>
            <a:r>
              <a:rPr sz="975" b="1">
                <a:solidFill>
                  <a:srgbClr val="E9D8BC"/>
                </a:solidFill>
                <a:latin typeface="Aptos"/>
                <a:ea typeface="Aptos"/>
                <a:cs typeface="Aptos"/>
              </a:rPr>
              <a:t>SIGUIENTES MEJORAS</a:t>
            </a:r>
          </a:p>
        </p:txBody>
      </p:sp>
      <p:sp>
        <p:nvSpPr>
          <p:cNvPr id="14" name="">
            <a:extLst xmlns:a="http://schemas.openxmlformats.org/drawingml/2006/main">
              <a:ext uri="{FF2B5EF4-FFF2-40B4-BE49-F238E27FC236}">
                <a16:creationId xmlns:a16="http://schemas.microsoft.com/office/drawing/2014/main" id="{FFB4B5BA-46FB-493B-B5D6-57C22661DD06}"/>
              </a:ext>
            </a:extLst>
          </p:cNvPr>
          <p:cNvSpPr>
            <a:spLocks xmlns:a="http://schemas.openxmlformats.org/drawingml/2006/main" noGrp="1"/>
          </p:cNvSpPr>
          <p:nvPr/>
        </p:nvSpPr>
        <p:spPr>
          <a:xfrm xmlns:a="http://schemas.openxmlformats.org/drawingml/2006/main">
            <a:off x="685800" y="5172075"/>
            <a:ext cx="2381250" cy="438150"/>
          </a:xfrm>
          <a:prstGeom xmlns:a="http://schemas.openxmlformats.org/drawingml/2006/main" prst="roundRect">
            <a:avLst>
              <a:gd name="adj" fmla="val 50000"/>
            </a:avLst>
          </a:prstGeom>
          <a:solidFill xmlns:a="http://schemas.openxmlformats.org/drawingml/2006/main">
            <a:srgbClr val="244F4C"/>
          </a:solidFill>
          <a:ln xmlns:a="http://schemas.openxmlformats.org/drawingml/2006/main" w="0">
            <a:solidFill>
              <a:srgbClr val="244F4C"/>
            </a:solidFill>
            <a:prstDash val="solid"/>
          </a:ln>
        </p:spPr>
      </p:sp>
      <p:sp>
        <p:nvSpPr>
          <p:cNvPr id="15" name="">
            <a:extLst xmlns:a="http://schemas.openxmlformats.org/drawingml/2006/main">
              <a:ext uri="{FF2B5EF4-FFF2-40B4-BE49-F238E27FC236}">
                <a16:creationId xmlns:a16="http://schemas.microsoft.com/office/drawing/2014/main" id="{626ADBB5-C84D-4C2C-A667-D0E095231B99}"/>
              </a:ext>
            </a:extLst>
          </p:cNvPr>
          <p:cNvSpPr>
            <a:spLocks xmlns:a="http://schemas.openxmlformats.org/drawingml/2006/main" noGrp="1"/>
          </p:cNvSpPr>
          <p:nvPr/>
        </p:nvSpPr>
        <p:spPr>
          <a:xfrm xmlns:a="http://schemas.openxmlformats.org/drawingml/2006/main">
            <a:off x="685800" y="5172075"/>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28575" rIns="76200" bIns="28575"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Contraseñas con hash</a:t>
            </a:r>
          </a:p>
        </p:txBody>
      </p:sp>
      <p:sp>
        <p:nvSpPr>
          <p:cNvPr id="16" name="">
            <a:extLst xmlns:a="http://schemas.openxmlformats.org/drawingml/2006/main">
              <a:ext uri="{FF2B5EF4-FFF2-40B4-BE49-F238E27FC236}">
                <a16:creationId xmlns:a16="http://schemas.microsoft.com/office/drawing/2014/main" id="{1C6D2D45-9051-4FBC-B52E-BB26D4440742}"/>
              </a:ext>
            </a:extLst>
          </p:cNvPr>
          <p:cNvSpPr>
            <a:spLocks xmlns:a="http://schemas.openxmlformats.org/drawingml/2006/main" noGrp="1"/>
          </p:cNvSpPr>
          <p:nvPr/>
        </p:nvSpPr>
        <p:spPr>
          <a:xfrm xmlns:a="http://schemas.openxmlformats.org/drawingml/2006/main">
            <a:off x="3276600" y="5172075"/>
            <a:ext cx="2686050" cy="438150"/>
          </a:xfrm>
          <a:prstGeom xmlns:a="http://schemas.openxmlformats.org/drawingml/2006/main" prst="roundRect">
            <a:avLst>
              <a:gd name="adj" fmla="val 50000"/>
            </a:avLst>
          </a:prstGeom>
          <a:solidFill xmlns:a="http://schemas.openxmlformats.org/drawingml/2006/main">
            <a:srgbClr val="244F4C"/>
          </a:solidFill>
          <a:ln xmlns:a="http://schemas.openxmlformats.org/drawingml/2006/main" w="0">
            <a:solidFill>
              <a:srgbClr val="244F4C"/>
            </a:solidFill>
            <a:prstDash val="solid"/>
          </a:ln>
        </p:spPr>
      </p:sp>
      <p:sp>
        <p:nvSpPr>
          <p:cNvPr id="17" name="">
            <a:extLst xmlns:a="http://schemas.openxmlformats.org/drawingml/2006/main">
              <a:ext uri="{FF2B5EF4-FFF2-40B4-BE49-F238E27FC236}">
                <a16:creationId xmlns:a16="http://schemas.microsoft.com/office/drawing/2014/main" id="{33AC9C75-FEC8-4263-94F3-B439AF658B7A}"/>
              </a:ext>
            </a:extLst>
          </p:cNvPr>
          <p:cNvSpPr>
            <a:spLocks xmlns:a="http://schemas.openxmlformats.org/drawingml/2006/main" noGrp="1"/>
          </p:cNvSpPr>
          <p:nvPr/>
        </p:nvSpPr>
        <p:spPr>
          <a:xfrm xmlns:a="http://schemas.openxmlformats.org/drawingml/2006/main">
            <a:off x="3276600" y="5172075"/>
            <a:ext cx="2686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28575" rIns="76200" bIns="28575"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Separar el acceso a datos</a:t>
            </a:r>
          </a:p>
        </p:txBody>
      </p:sp>
      <p:sp>
        <p:nvSpPr>
          <p:cNvPr id="18" name="">
            <a:extLst xmlns:a="http://schemas.openxmlformats.org/drawingml/2006/main">
              <a:ext uri="{FF2B5EF4-FFF2-40B4-BE49-F238E27FC236}">
                <a16:creationId xmlns:a16="http://schemas.microsoft.com/office/drawing/2014/main" id="{9C2C6F03-5674-4EB5-9082-CEB90420A3DB}"/>
              </a:ext>
            </a:extLst>
          </p:cNvPr>
          <p:cNvSpPr>
            <a:spLocks xmlns:a="http://schemas.openxmlformats.org/drawingml/2006/main" noGrp="1"/>
          </p:cNvSpPr>
          <p:nvPr/>
        </p:nvSpPr>
        <p:spPr>
          <a:xfrm xmlns:a="http://schemas.openxmlformats.org/drawingml/2006/main">
            <a:off x="6172200" y="5172075"/>
            <a:ext cx="2476500" cy="438150"/>
          </a:xfrm>
          <a:prstGeom xmlns:a="http://schemas.openxmlformats.org/drawingml/2006/main" prst="roundRect">
            <a:avLst>
              <a:gd name="adj" fmla="val 50000"/>
            </a:avLst>
          </a:prstGeom>
          <a:solidFill xmlns:a="http://schemas.openxmlformats.org/drawingml/2006/main">
            <a:srgbClr val="244F4C"/>
          </a:solidFill>
          <a:ln xmlns:a="http://schemas.openxmlformats.org/drawingml/2006/main" w="0">
            <a:solidFill>
              <a:srgbClr val="244F4C"/>
            </a:solidFill>
            <a:prstDash val="solid"/>
          </a:ln>
        </p:spPr>
      </p:sp>
      <p:sp>
        <p:nvSpPr>
          <p:cNvPr id="19" name="">
            <a:extLst xmlns:a="http://schemas.openxmlformats.org/drawingml/2006/main">
              <a:ext uri="{FF2B5EF4-FFF2-40B4-BE49-F238E27FC236}">
                <a16:creationId xmlns:a16="http://schemas.microsoft.com/office/drawing/2014/main" id="{0A44BF1C-9BDF-4493-95C9-E047B65D0422}"/>
              </a:ext>
            </a:extLst>
          </p:cNvPr>
          <p:cNvSpPr>
            <a:spLocks xmlns:a="http://schemas.openxmlformats.org/drawingml/2006/main" noGrp="1"/>
          </p:cNvSpPr>
          <p:nvPr/>
        </p:nvSpPr>
        <p:spPr>
          <a:xfrm xmlns:a="http://schemas.openxmlformats.org/drawingml/2006/main">
            <a:off x="6172200" y="5172075"/>
            <a:ext cx="247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28575" rIns="76200" bIns="28575"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Publicación y respaldos</a:t>
            </a:r>
          </a:p>
        </p:txBody>
      </p:sp>
      <p:sp>
        <p:nvSpPr>
          <p:cNvPr id="20" name="">
            <a:extLst xmlns:a="http://schemas.openxmlformats.org/drawingml/2006/main">
              <a:ext uri="{FF2B5EF4-FFF2-40B4-BE49-F238E27FC236}">
                <a16:creationId xmlns:a16="http://schemas.microsoft.com/office/drawing/2014/main" id="{7193B89D-920C-483C-B8BE-97D3613BC145}"/>
              </a:ext>
            </a:extLst>
          </p:cNvPr>
          <p:cNvSpPr>
            <a:spLocks xmlns:a="http://schemas.openxmlformats.org/drawingml/2006/main" noGrp="1"/>
          </p:cNvSpPr>
          <p:nvPr/>
        </p:nvSpPr>
        <p:spPr>
          <a:xfrm xmlns:a="http://schemas.openxmlformats.org/drawingml/2006/main">
            <a:off x="685800" y="5953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E9D8BC"/>
                </a:solidFill>
                <a:latin typeface="Aptos"/>
                <a:ea typeface="Aptos"/>
                <a:cs typeface="Aptos"/>
              </a:defRPr>
            </a:pPr>
            <a:r>
              <a:rPr sz="1500" b="1">
                <a:solidFill>
                  <a:srgbClr val="E9D8BC"/>
                </a:solidFill>
                <a:latin typeface="Aptos"/>
                <a:ea typeface="Aptos"/>
                <a:cs typeface="Aptos"/>
              </a:rPr>
              <a:t>Funcional · sencillo de explicar · preparado para crecer</a:t>
            </a:r>
          </a:p>
        </p:txBody>
      </p:sp>
    </p:spTree>
    <p:extLst>
      <p:ext uri="{BB962C8B-B14F-4D97-AF65-F5344CB8AC3E}">
        <p14:creationId xmlns:p14="http://schemas.microsoft.com/office/powerpoint/2010/main" val="7212939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2026-08-22T01:50:13.1950000Z</dcterms:created>
  <dcterms:modified xsi:type="dcterms:W3CDTF">2026-08-22T01:50:13.1950000Z</dcterms:modified>
</coreProperties>
</file>